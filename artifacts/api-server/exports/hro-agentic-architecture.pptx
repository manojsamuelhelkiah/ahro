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eg"/><Relationship Id="rId2" Type="http://schemas.openxmlformats.org/officeDocument/2006/relationships/image" Target="../media/image-18-2.png"/><Relationship Id="rId3" Type="http://schemas.openxmlformats.org/officeDocument/2006/relationships/image" Target="../media/image-18-3.svg"/><Relationship Id="rId4" Type="http://schemas.openxmlformats.org/officeDocument/2006/relationships/image" Target="../media/image-18-4.png"/><Relationship Id="rId5" Type="http://schemas.openxmlformats.org/officeDocument/2006/relationships/image" Target="../media/image-18-5.svg"/><Relationship Id="rId6" Type="http://schemas.openxmlformats.org/officeDocument/2006/relationships/image" Target="../media/image-18-6.png"/><Relationship Id="rId7" Type="http://schemas.openxmlformats.org/officeDocument/2006/relationships/image" Target="../media/image-18-7.svg"/><Relationship Id="rId8" Type="http://schemas.openxmlformats.org/officeDocument/2006/relationships/image" Target="../media/image-18-8.png"/><Relationship Id="rId9" Type="http://schemas.openxmlformats.org/officeDocument/2006/relationships/image" Target="../media/image-18-9.svg"/><Relationship Id="rId10" Type="http://schemas.openxmlformats.org/officeDocument/2006/relationships/image" Target="../media/image-18-10.png"/><Relationship Id="rId11" Type="http://schemas.openxmlformats.org/officeDocument/2006/relationships/image" Target="../media/image-18-11.svg"/><Relationship Id="rId12" Type="http://schemas.openxmlformats.org/officeDocument/2006/relationships/image" Target="../media/image-18-12.png"/><Relationship Id="rId13" Type="http://schemas.openxmlformats.org/officeDocument/2006/relationships/image" Target="../media/image-18-13.sv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40035" y="1242343"/>
            <a:ext cx="3707472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50" b="1" spc="288" kern="0" dirty="0">
                <a:solidFill>
                  <a:srgbClr val="7AC9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AZURE &amp; MICROSOFT STACK</a:t>
            </a:r>
            <a:endParaRPr lang="en-US" sz="1150" dirty="0"/>
          </a:p>
        </p:txBody>
      </p:sp>
      <p:sp>
        <p:nvSpPr>
          <p:cNvPr id="5" name="Text 1"/>
          <p:cNvSpPr/>
          <p:nvPr/>
        </p:nvSpPr>
        <p:spPr>
          <a:xfrm>
            <a:off x="640035" y="1514177"/>
            <a:ext cx="5383753" cy="6524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1013"/>
              </a:spcBef>
              <a:buNone/>
            </a:pPr>
            <a:r>
              <a:rPr lang="en-US" sz="4030" b="1" spc="-101" kern="0" dirty="0">
                <a:solidFill>
                  <a:srgbClr val="E8F1F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Autonomous HRO</a:t>
            </a:r>
            <a:endParaRPr lang="en-US" sz="4030" dirty="0"/>
          </a:p>
        </p:txBody>
      </p:sp>
      <p:sp>
        <p:nvSpPr>
          <p:cNvPr id="6" name="Text 2"/>
          <p:cNvSpPr/>
          <p:nvPr/>
        </p:nvSpPr>
        <p:spPr>
          <a:xfrm>
            <a:off x="640035" y="2186062"/>
            <a:ext cx="6140634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607"/>
              </a:spcBef>
              <a:buNone/>
            </a:pPr>
            <a:r>
              <a:rPr lang="en-US" sz="2160" dirty="0">
                <a:solidFill>
                  <a:srgbClr val="2F81F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Agentic Hire-to-Retire Platform</a:t>
            </a:r>
            <a:endParaRPr lang="en-US" sz="2160" dirty="0"/>
          </a:p>
        </p:txBody>
      </p:sp>
      <p:sp>
        <p:nvSpPr>
          <p:cNvPr id="7" name="Text 3"/>
          <p:cNvSpPr/>
          <p:nvPr/>
        </p:nvSpPr>
        <p:spPr>
          <a:xfrm>
            <a:off x="640035" y="2767905"/>
            <a:ext cx="4950946" cy="788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23"/>
              </a:lnSpc>
              <a:buNone/>
            </a:pPr>
            <a:r>
              <a:rPr lang="en-US" sz="137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 AI-native architecture where digital personas</a:t>
            </a:r>
            <a:endParaRPr lang="en-US" sz="1370" dirty="0"/>
          </a:p>
          <a:p>
            <a:pPr algn="l" indent="0" marL="0">
              <a:lnSpc>
                <a:spcPts val="2223"/>
              </a:lnSpc>
              <a:buNone/>
            </a:pPr>
            <a:r>
              <a:rPr lang="en-US" sz="137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resolve HR work end-to-end — with humans in</a:t>
            </a:r>
            <a:endParaRPr lang="en-US" sz="1370" dirty="0"/>
          </a:p>
          <a:p>
            <a:pPr algn="l" indent="0" marL="0">
              <a:lnSpc>
                <a:spcPts val="2223"/>
              </a:lnSpc>
              <a:buNone/>
            </a:pPr>
            <a:r>
              <a:rPr lang="en-US" sz="137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loop.</a:t>
            </a:r>
            <a:endParaRPr lang="en-US" sz="1370" dirty="0"/>
          </a:p>
        </p:txBody>
      </p:sp>
      <p:sp>
        <p:nvSpPr>
          <p:cNvPr id="8" name="Shape 4"/>
          <p:cNvSpPr/>
          <p:nvPr/>
        </p:nvSpPr>
        <p:spPr>
          <a:xfrm>
            <a:off x="640482" y="3895651"/>
            <a:ext cx="547687" cy="19050"/>
          </a:xfrm>
          <a:prstGeom prst="rect">
            <a:avLst/>
          </a:prstGeom>
          <a:solidFill>
            <a:srgbClr val="2F81F7"/>
          </a:solidFill>
          <a:ln/>
        </p:spPr>
      </p:sp>
      <p:sp>
        <p:nvSpPr>
          <p:cNvPr id="9" name="Shape 5"/>
          <p:cNvSpPr/>
          <p:nvPr/>
        </p:nvSpPr>
        <p:spPr>
          <a:xfrm>
            <a:off x="1299232" y="3895651"/>
            <a:ext cx="180975" cy="19050"/>
          </a:xfrm>
          <a:prstGeom prst="rect">
            <a:avLst/>
          </a:prstGeom>
          <a:solidFill>
            <a:srgbClr val="7AC9F5"/>
          </a:solidFill>
          <a:ln/>
        </p:spPr>
      </p:sp>
      <p:sp>
        <p:nvSpPr>
          <p:cNvPr id="10" name="Shape 6"/>
          <p:cNvSpPr/>
          <p:nvPr/>
        </p:nvSpPr>
        <p:spPr>
          <a:xfrm>
            <a:off x="1591270" y="3895651"/>
            <a:ext cx="90488" cy="19050"/>
          </a:xfrm>
          <a:prstGeom prst="rect">
            <a:avLst/>
          </a:prstGeom>
          <a:solidFill>
            <a:srgbClr val="8AA3C2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52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92596" y="183579"/>
            <a:ext cx="4275133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80" b="1" spc="-40" kern="0" dirty="0">
                <a:solidFill>
                  <a:srgbClr val="E8F1F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Reference Architecture — One View</a:t>
            </a:r>
            <a:endParaRPr lang="en-US" sz="1580" dirty="0"/>
          </a:p>
        </p:txBody>
      </p:sp>
      <p:sp>
        <p:nvSpPr>
          <p:cNvPr id="5" name="Text 2"/>
          <p:cNvSpPr/>
          <p:nvPr/>
        </p:nvSpPr>
        <p:spPr>
          <a:xfrm>
            <a:off x="5678165" y="278829"/>
            <a:ext cx="4182361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Azure &amp; Microsoft stack · MCP + A2A native · numbered = request path</a:t>
            </a:r>
            <a:endParaRPr lang="en-US" sz="790" dirty="0"/>
          </a:p>
        </p:txBody>
      </p:sp>
      <p:sp>
        <p:nvSpPr>
          <p:cNvPr id="6" name="Shape 3"/>
          <p:cNvSpPr/>
          <p:nvPr/>
        </p:nvSpPr>
        <p:spPr>
          <a:xfrm>
            <a:off x="291703" y="549548"/>
            <a:ext cx="6905625" cy="404813"/>
          </a:xfrm>
          <a:prstGeom prst="roundRect">
            <a:avLst>
              <a:gd name="adj" fmla="val 11294"/>
            </a:avLst>
          </a:prstGeom>
          <a:solidFill>
            <a:srgbClr val="12233F"/>
          </a:solidFill>
          <a:ln w="4763">
            <a:solidFill>
              <a:srgbClr val="24406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80727" y="603796"/>
            <a:ext cx="2519043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E8F1F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Experience — AI personas &amp; proactive</a:t>
            </a:r>
            <a:endParaRPr lang="en-US" sz="830" dirty="0"/>
          </a:p>
        </p:txBody>
      </p:sp>
      <p:sp>
        <p:nvSpPr>
          <p:cNvPr id="8" name="Text 5"/>
          <p:cNvSpPr/>
          <p:nvPr/>
        </p:nvSpPr>
        <p:spPr>
          <a:xfrm>
            <a:off x="2946127" y="605805"/>
            <a:ext cx="3253286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Teams · web · email · voice · joiner-mover-leaver event</a:t>
            </a:r>
            <a:endParaRPr lang="en-US" sz="790" dirty="0"/>
          </a:p>
        </p:txBody>
      </p:sp>
      <p:sp>
        <p:nvSpPr>
          <p:cNvPr id="9" name="Text 6"/>
          <p:cNvSpPr/>
          <p:nvPr/>
        </p:nvSpPr>
        <p:spPr>
          <a:xfrm>
            <a:off x="435546" y="689446"/>
            <a:ext cx="113645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FFFFFF"/>
                </a:solidFill>
                <a:highlight>
                  <a:srgbClr val="2F81F7"/>
                </a:highlight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</a:t>
            </a:r>
            <a:endParaRPr lang="en-US" sz="760" dirty="0"/>
          </a:p>
        </p:txBody>
      </p:sp>
      <p:sp>
        <p:nvSpPr>
          <p:cNvPr id="10" name="Text 7"/>
          <p:cNvSpPr/>
          <p:nvPr/>
        </p:nvSpPr>
        <p:spPr>
          <a:xfrm>
            <a:off x="580727" y="761479"/>
            <a:ext cx="634678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E8F1F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journeys</a:t>
            </a:r>
            <a:endParaRPr lang="en-US" sz="830" dirty="0"/>
          </a:p>
        </p:txBody>
      </p:sp>
      <p:sp>
        <p:nvSpPr>
          <p:cNvPr id="11" name="Text 8"/>
          <p:cNvSpPr/>
          <p:nvPr/>
        </p:nvSpPr>
        <p:spPr>
          <a:xfrm>
            <a:off x="2946127" y="756717"/>
            <a:ext cx="504565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triggers</a:t>
            </a:r>
            <a:endParaRPr lang="en-US" sz="790" dirty="0"/>
          </a:p>
        </p:txBody>
      </p:sp>
      <p:sp>
        <p:nvSpPr>
          <p:cNvPr id="12" name="Text 9"/>
          <p:cNvSpPr/>
          <p:nvPr/>
        </p:nvSpPr>
        <p:spPr>
          <a:xfrm>
            <a:off x="5707931" y="605805"/>
            <a:ext cx="1469239" cy="2842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790" dirty="0">
                <a:solidFill>
                  <a:srgbClr val="7AC9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Copilot Studio · Foundry</a:t>
            </a:r>
            <a:endParaRPr lang="en-US" sz="790" dirty="0"/>
          </a:p>
          <a:p>
            <a:pPr algn="l" indent="0" marL="0">
              <a:lnSpc>
                <a:spcPts val="1188"/>
              </a:lnSpc>
              <a:buNone/>
            </a:pPr>
            <a:r>
              <a:rPr lang="en-US" sz="790" dirty="0">
                <a:solidFill>
                  <a:srgbClr val="7AC9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Agents</a:t>
            </a:r>
            <a:endParaRPr lang="en-US" sz="790" dirty="0"/>
          </a:p>
        </p:txBody>
      </p:sp>
      <p:sp>
        <p:nvSpPr>
          <p:cNvPr id="13" name="Text 10"/>
          <p:cNvSpPr/>
          <p:nvPr/>
        </p:nvSpPr>
        <p:spPr>
          <a:xfrm>
            <a:off x="3705820" y="954435"/>
            <a:ext cx="157661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dirty="0">
                <a:solidFill>
                  <a:srgbClr val="3D6DB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▼</a:t>
            </a:r>
            <a:endParaRPr lang="en-US" sz="790" dirty="0"/>
          </a:p>
        </p:txBody>
      </p:sp>
      <p:sp>
        <p:nvSpPr>
          <p:cNvPr id="14" name="Shape 11"/>
          <p:cNvSpPr/>
          <p:nvPr/>
        </p:nvSpPr>
        <p:spPr>
          <a:xfrm>
            <a:off x="291703" y="1092957"/>
            <a:ext cx="6905625" cy="247650"/>
          </a:xfrm>
          <a:prstGeom prst="roundRect">
            <a:avLst>
              <a:gd name="adj" fmla="val 18462"/>
            </a:avLst>
          </a:prstGeom>
          <a:solidFill>
            <a:srgbClr val="12233F"/>
          </a:solidFill>
          <a:ln w="4763">
            <a:solidFill>
              <a:srgbClr val="24406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28774" y="1154311"/>
            <a:ext cx="131348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FFFFFF"/>
                </a:solidFill>
                <a:highlight>
                  <a:srgbClr val="2F81F7"/>
                </a:highlight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</a:t>
            </a:r>
            <a:endParaRPr lang="en-US" sz="760" dirty="0"/>
          </a:p>
        </p:txBody>
      </p:sp>
      <p:sp>
        <p:nvSpPr>
          <p:cNvPr id="16" name="Text 13"/>
          <p:cNvSpPr/>
          <p:nvPr/>
        </p:nvSpPr>
        <p:spPr>
          <a:xfrm>
            <a:off x="580727" y="1146051"/>
            <a:ext cx="4884777" cy="1347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E8F1F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AI Gateway</a:t>
            </a:r>
            <a:pPr algn="l" indent="0" marL="0">
              <a:buNone/>
            </a:pPr>
            <a:r>
              <a:rPr lang="en-US" sz="79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authN/Z · rate limits · semantic cache · model routing · cost metering</a:t>
            </a:r>
            <a:endParaRPr lang="en-US" sz="830" dirty="0"/>
          </a:p>
        </p:txBody>
      </p:sp>
      <p:sp>
        <p:nvSpPr>
          <p:cNvPr id="17" name="Text 14"/>
          <p:cNvSpPr/>
          <p:nvPr/>
        </p:nvSpPr>
        <p:spPr>
          <a:xfrm>
            <a:off x="6125989" y="1146051"/>
            <a:ext cx="1323744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dirty="0">
                <a:solidFill>
                  <a:srgbClr val="7AC9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APIM GenAI Gateway</a:t>
            </a:r>
            <a:endParaRPr lang="en-US" sz="790" dirty="0"/>
          </a:p>
        </p:txBody>
      </p:sp>
      <p:sp>
        <p:nvSpPr>
          <p:cNvPr id="18" name="Text 15"/>
          <p:cNvSpPr/>
          <p:nvPr/>
        </p:nvSpPr>
        <p:spPr>
          <a:xfrm>
            <a:off x="3705820" y="1340421"/>
            <a:ext cx="157661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dirty="0">
                <a:solidFill>
                  <a:srgbClr val="3D6DB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▼</a:t>
            </a:r>
            <a:endParaRPr lang="en-US" sz="790" dirty="0"/>
          </a:p>
        </p:txBody>
      </p:sp>
      <p:sp>
        <p:nvSpPr>
          <p:cNvPr id="19" name="Shape 16"/>
          <p:cNvSpPr/>
          <p:nvPr/>
        </p:nvSpPr>
        <p:spPr>
          <a:xfrm>
            <a:off x="292894" y="1478235"/>
            <a:ext cx="3414713" cy="381000"/>
          </a:xfrm>
          <a:prstGeom prst="roundRect">
            <a:avLst>
              <a:gd name="adj" fmla="val 12000"/>
            </a:avLst>
          </a:prstGeom>
          <a:solidFill>
            <a:srgbClr val="12233F"/>
          </a:solidFill>
          <a:ln w="4763">
            <a:solidFill>
              <a:srgbClr val="24406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28104" y="1540297"/>
            <a:ext cx="133090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FFFFFF"/>
                </a:solidFill>
                <a:highlight>
                  <a:srgbClr val="2F81F7"/>
                </a:highlight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</a:t>
            </a:r>
            <a:endParaRPr lang="en-US" sz="760" dirty="0"/>
          </a:p>
        </p:txBody>
      </p:sp>
      <p:sp>
        <p:nvSpPr>
          <p:cNvPr id="21" name="Text 18"/>
          <p:cNvSpPr/>
          <p:nvPr/>
        </p:nvSpPr>
        <p:spPr>
          <a:xfrm>
            <a:off x="580727" y="1533451"/>
            <a:ext cx="1246257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E8F1F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Multimodal Intake</a:t>
            </a:r>
            <a:endParaRPr lang="en-US" sz="830" dirty="0"/>
          </a:p>
        </p:txBody>
      </p:sp>
      <p:sp>
        <p:nvSpPr>
          <p:cNvPr id="22" name="Text 19"/>
          <p:cNvSpPr/>
          <p:nvPr/>
        </p:nvSpPr>
        <p:spPr>
          <a:xfrm>
            <a:off x="388739" y="1681609"/>
            <a:ext cx="397234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6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docs, voice, video, images —</a:t>
            </a:r>
            <a:pPr algn="l" indent="0" marL="0">
              <a:buNone/>
            </a:pPr>
            <a:r>
              <a:rPr lang="en-US" sz="760" dirty="0">
                <a:solidFill>
                  <a:srgbClr val="7AC9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Document Intelligence · Speech · GPT-4o</a:t>
            </a:r>
            <a:endParaRPr lang="en-US" sz="760" dirty="0"/>
          </a:p>
        </p:txBody>
      </p:sp>
      <p:sp>
        <p:nvSpPr>
          <p:cNvPr id="23" name="Shape 20"/>
          <p:cNvSpPr/>
          <p:nvPr/>
        </p:nvSpPr>
        <p:spPr>
          <a:xfrm>
            <a:off x="3781388" y="1478235"/>
            <a:ext cx="3414713" cy="381000"/>
          </a:xfrm>
          <a:prstGeom prst="roundRect">
            <a:avLst>
              <a:gd name="adj" fmla="val 12000"/>
            </a:avLst>
          </a:prstGeom>
          <a:solidFill>
            <a:srgbClr val="12233F"/>
          </a:solidFill>
          <a:ln w="4763">
            <a:solidFill>
              <a:srgbClr val="24406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915221" y="1540297"/>
            <a:ext cx="136572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FFFFFF"/>
                </a:solidFill>
                <a:highlight>
                  <a:srgbClr val="2F81F7"/>
                </a:highlight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</a:t>
            </a:r>
            <a:endParaRPr lang="en-US" sz="760" dirty="0"/>
          </a:p>
        </p:txBody>
      </p:sp>
      <p:sp>
        <p:nvSpPr>
          <p:cNvPr id="25" name="Text 22"/>
          <p:cNvSpPr/>
          <p:nvPr/>
        </p:nvSpPr>
        <p:spPr>
          <a:xfrm>
            <a:off x="4069184" y="1533451"/>
            <a:ext cx="1698025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E8F1F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Intent, Priority &amp; Routing</a:t>
            </a:r>
            <a:endParaRPr lang="en-US" sz="830" dirty="0"/>
          </a:p>
        </p:txBody>
      </p:sp>
      <p:sp>
        <p:nvSpPr>
          <p:cNvPr id="26" name="Text 23"/>
          <p:cNvSpPr/>
          <p:nvPr/>
        </p:nvSpPr>
        <p:spPr>
          <a:xfrm>
            <a:off x="3877196" y="1681609"/>
            <a:ext cx="4228601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6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classify · SLA priority · route or escalate —</a:t>
            </a:r>
            <a:pPr algn="l" indent="0" marL="0">
              <a:buNone/>
            </a:pPr>
            <a:r>
              <a:rPr lang="en-US" sz="760" dirty="0">
                <a:solidFill>
                  <a:srgbClr val="7AC9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Foundry classifiers · Service Bus</a:t>
            </a:r>
            <a:endParaRPr lang="en-US" sz="760" dirty="0"/>
          </a:p>
        </p:txBody>
      </p:sp>
      <p:sp>
        <p:nvSpPr>
          <p:cNvPr id="27" name="Text 24"/>
          <p:cNvSpPr/>
          <p:nvPr/>
        </p:nvSpPr>
        <p:spPr>
          <a:xfrm>
            <a:off x="3705820" y="1858342"/>
            <a:ext cx="157661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dirty="0">
                <a:solidFill>
                  <a:srgbClr val="3D6DB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▼</a:t>
            </a:r>
            <a:endParaRPr lang="en-US" sz="790" dirty="0"/>
          </a:p>
        </p:txBody>
      </p:sp>
      <p:sp>
        <p:nvSpPr>
          <p:cNvPr id="28" name="Shape 25"/>
          <p:cNvSpPr/>
          <p:nvPr/>
        </p:nvSpPr>
        <p:spPr>
          <a:xfrm>
            <a:off x="291703" y="1996418"/>
            <a:ext cx="6905625" cy="1838325"/>
          </a:xfrm>
          <a:prstGeom prst="roundRect">
            <a:avLst>
              <a:gd name="adj" fmla="val 2487"/>
            </a:avLst>
          </a:prstGeom>
          <a:solidFill>
            <a:srgbClr val="0F2A47"/>
          </a:solidFill>
          <a:ln w="4763">
            <a:solidFill>
              <a:srgbClr val="2F5C94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28476" y="2061642"/>
            <a:ext cx="132025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FFFFFF"/>
                </a:solidFill>
                <a:highlight>
                  <a:srgbClr val="2F81F7"/>
                </a:highlight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</a:t>
            </a:r>
            <a:endParaRPr lang="en-US" sz="760" dirty="0"/>
          </a:p>
        </p:txBody>
      </p:sp>
      <p:sp>
        <p:nvSpPr>
          <p:cNvPr id="30" name="Text 27"/>
          <p:cNvSpPr/>
          <p:nvPr/>
        </p:nvSpPr>
        <p:spPr>
          <a:xfrm>
            <a:off x="580727" y="2051372"/>
            <a:ext cx="1873121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7AC9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Agent Orchestration Plane</a:t>
            </a:r>
            <a:endParaRPr lang="en-US" sz="860" dirty="0"/>
          </a:p>
        </p:txBody>
      </p:sp>
      <p:sp>
        <p:nvSpPr>
          <p:cNvPr id="31" name="Text 28"/>
          <p:cNvSpPr/>
          <p:nvPr/>
        </p:nvSpPr>
        <p:spPr>
          <a:xfrm>
            <a:off x="4476601" y="2054796"/>
            <a:ext cx="3467948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30" dirty="0">
                <a:solidFill>
                  <a:srgbClr val="7AC9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A2A protocol · Semantic Kernel / Foundry Agent Service</a:t>
            </a:r>
            <a:endParaRPr lang="en-US" sz="830" dirty="0"/>
          </a:p>
        </p:txBody>
      </p:sp>
      <p:sp>
        <p:nvSpPr>
          <p:cNvPr id="32" name="Shape 29"/>
          <p:cNvSpPr/>
          <p:nvPr/>
        </p:nvSpPr>
        <p:spPr>
          <a:xfrm>
            <a:off x="389297" y="2241947"/>
            <a:ext cx="1628775" cy="1547813"/>
          </a:xfrm>
          <a:prstGeom prst="roundRect">
            <a:avLst>
              <a:gd name="adj" fmla="val 2363"/>
            </a:avLst>
          </a:prstGeom>
          <a:solidFill>
            <a:srgbClr val="11233E">
              <a:alpha val="80000"/>
            </a:srgbClr>
          </a:solidFill>
          <a:ln w="4763">
            <a:solidFill>
              <a:srgbClr val="24406B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57498" y="2287488"/>
            <a:ext cx="1145649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b="1" dirty="0">
                <a:solidFill>
                  <a:srgbClr val="E8F1F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Supervisor Agent</a:t>
            </a:r>
            <a:endParaRPr lang="en-US" sz="790" dirty="0"/>
          </a:p>
        </p:txBody>
      </p:sp>
      <p:sp>
        <p:nvSpPr>
          <p:cNvPr id="34" name="Text 31"/>
          <p:cNvSpPr/>
          <p:nvPr/>
        </p:nvSpPr>
        <p:spPr>
          <a:xfrm>
            <a:off x="457498" y="2428875"/>
            <a:ext cx="1740299" cy="392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39"/>
              </a:lnSpc>
              <a:buNone/>
            </a:pPr>
            <a:r>
              <a:rPr lang="en-US" sz="76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plans, delegates to persona</a:t>
            </a:r>
            <a:endParaRPr lang="en-US" sz="760" dirty="0"/>
          </a:p>
          <a:p>
            <a:pPr algn="l" indent="0" marL="0">
              <a:lnSpc>
                <a:spcPts val="1039"/>
              </a:lnSpc>
              <a:buNone/>
            </a:pPr>
            <a:r>
              <a:rPr lang="en-US" sz="76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agents, enforces loop budgets</a:t>
            </a:r>
            <a:endParaRPr lang="en-US" sz="760" dirty="0"/>
          </a:p>
          <a:p>
            <a:pPr algn="l" indent="0" marL="0">
              <a:lnSpc>
                <a:spcPts val="1039"/>
              </a:lnSpc>
              <a:buNone/>
            </a:pPr>
            <a:r>
              <a:rPr lang="en-US" sz="76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(harness engineering)</a:t>
            </a:r>
            <a:endParaRPr lang="en-US" sz="760" dirty="0"/>
          </a:p>
        </p:txBody>
      </p:sp>
      <p:sp>
        <p:nvSpPr>
          <p:cNvPr id="35" name="Shape 32"/>
          <p:cNvSpPr/>
          <p:nvPr/>
        </p:nvSpPr>
        <p:spPr>
          <a:xfrm>
            <a:off x="2083184" y="2241947"/>
            <a:ext cx="1628775" cy="1547813"/>
          </a:xfrm>
          <a:prstGeom prst="roundRect">
            <a:avLst>
              <a:gd name="adj" fmla="val 2363"/>
            </a:avLst>
          </a:prstGeom>
          <a:solidFill>
            <a:srgbClr val="11233E">
              <a:alpha val="80000"/>
            </a:srgbClr>
          </a:solidFill>
          <a:ln w="4763">
            <a:solidFill>
              <a:srgbClr val="24406B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2151385" y="2287488"/>
            <a:ext cx="51917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b="1" dirty="0">
                <a:solidFill>
                  <a:srgbClr val="E8F1F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Reason</a:t>
            </a:r>
            <a:endParaRPr lang="en-US" sz="790" dirty="0"/>
          </a:p>
        </p:txBody>
      </p:sp>
      <p:sp>
        <p:nvSpPr>
          <p:cNvPr id="37" name="Text 34"/>
          <p:cNvSpPr/>
          <p:nvPr/>
        </p:nvSpPr>
        <p:spPr>
          <a:xfrm>
            <a:off x="2151385" y="2428875"/>
            <a:ext cx="1848163" cy="392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39"/>
              </a:lnSpc>
              <a:buNone/>
            </a:pPr>
            <a:r>
              <a:rPr lang="en-US" sz="76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fast SLM path for repeat issues ·</a:t>
            </a:r>
            <a:endParaRPr lang="en-US" sz="760" dirty="0"/>
          </a:p>
          <a:p>
            <a:pPr algn="l" indent="0" marL="0">
              <a:lnSpc>
                <a:spcPts val="1039"/>
              </a:lnSpc>
              <a:buNone/>
            </a:pPr>
            <a:r>
              <a:rPr lang="en-US" sz="76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CoT + mixture-of-experts for</a:t>
            </a:r>
            <a:endParaRPr lang="en-US" sz="760" dirty="0"/>
          </a:p>
          <a:p>
            <a:pPr algn="l" indent="0" marL="0">
              <a:lnSpc>
                <a:spcPts val="1039"/>
              </a:lnSpc>
              <a:buNone/>
            </a:pPr>
            <a:r>
              <a:rPr lang="en-US" sz="76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complex cases</a:t>
            </a:r>
            <a:endParaRPr lang="en-US" sz="760" dirty="0"/>
          </a:p>
        </p:txBody>
      </p:sp>
      <p:sp>
        <p:nvSpPr>
          <p:cNvPr id="38" name="Shape 35"/>
          <p:cNvSpPr/>
          <p:nvPr/>
        </p:nvSpPr>
        <p:spPr>
          <a:xfrm>
            <a:off x="3777072" y="2241947"/>
            <a:ext cx="1628775" cy="1547813"/>
          </a:xfrm>
          <a:prstGeom prst="roundRect">
            <a:avLst>
              <a:gd name="adj" fmla="val 2363"/>
            </a:avLst>
          </a:prstGeom>
          <a:solidFill>
            <a:srgbClr val="11233E">
              <a:alpha val="80000"/>
            </a:srgbClr>
          </a:solidFill>
          <a:ln w="4763">
            <a:solidFill>
              <a:srgbClr val="24406B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3845272" y="2287488"/>
            <a:ext cx="571701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b="1" dirty="0">
                <a:solidFill>
                  <a:srgbClr val="E8F1F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Memory</a:t>
            </a:r>
            <a:endParaRPr lang="en-US" sz="790" dirty="0"/>
          </a:p>
        </p:txBody>
      </p:sp>
      <p:sp>
        <p:nvSpPr>
          <p:cNvPr id="40" name="Text 37"/>
          <p:cNvSpPr/>
          <p:nvPr/>
        </p:nvSpPr>
        <p:spPr>
          <a:xfrm>
            <a:off x="3845272" y="2428875"/>
            <a:ext cx="1910462" cy="392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39"/>
              </a:lnSpc>
              <a:buNone/>
            </a:pPr>
            <a:r>
              <a:rPr lang="en-US" sz="76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thread (short-term) · employee &amp;</a:t>
            </a:r>
            <a:endParaRPr lang="en-US" sz="760" dirty="0"/>
          </a:p>
          <a:p>
            <a:pPr algn="l" indent="0" marL="0">
              <a:lnSpc>
                <a:spcPts val="1039"/>
              </a:lnSpc>
              <a:buNone/>
            </a:pPr>
            <a:r>
              <a:rPr lang="en-US" sz="76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case memory in Cosmos DB ·</a:t>
            </a:r>
            <a:endParaRPr lang="en-US" sz="760" dirty="0"/>
          </a:p>
          <a:p>
            <a:pPr algn="l" indent="0" marL="0">
              <a:lnSpc>
                <a:spcPts val="1039"/>
              </a:lnSpc>
              <a:buNone/>
            </a:pPr>
            <a:r>
              <a:rPr lang="en-US" sz="76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vectors in AI Search</a:t>
            </a:r>
            <a:endParaRPr lang="en-US" sz="760" dirty="0"/>
          </a:p>
        </p:txBody>
      </p:sp>
      <p:sp>
        <p:nvSpPr>
          <p:cNvPr id="41" name="Shape 38"/>
          <p:cNvSpPr/>
          <p:nvPr/>
        </p:nvSpPr>
        <p:spPr>
          <a:xfrm>
            <a:off x="5470959" y="2241947"/>
            <a:ext cx="1628775" cy="1547813"/>
          </a:xfrm>
          <a:prstGeom prst="roundRect">
            <a:avLst>
              <a:gd name="adj" fmla="val 2363"/>
            </a:avLst>
          </a:prstGeom>
          <a:solidFill>
            <a:srgbClr val="11233E">
              <a:alpha val="80000"/>
            </a:srgbClr>
          </a:solidFill>
          <a:ln w="4763">
            <a:solidFill>
              <a:srgbClr val="24406B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539160" y="2287488"/>
            <a:ext cx="1302559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b="1" dirty="0">
                <a:solidFill>
                  <a:srgbClr val="E8F1F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Human-in-the-Loop</a:t>
            </a:r>
            <a:endParaRPr lang="en-US" sz="790" dirty="0"/>
          </a:p>
        </p:txBody>
      </p:sp>
      <p:sp>
        <p:nvSpPr>
          <p:cNvPr id="43" name="Text 40"/>
          <p:cNvSpPr/>
          <p:nvPr/>
        </p:nvSpPr>
        <p:spPr>
          <a:xfrm>
            <a:off x="5539160" y="2428875"/>
            <a:ext cx="1910462" cy="392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39"/>
              </a:lnSpc>
              <a:buNone/>
            </a:pPr>
            <a:r>
              <a:rPr lang="en-US" sz="76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approval workbench · confidence</a:t>
            </a:r>
            <a:endParaRPr lang="en-US" sz="760" dirty="0"/>
          </a:p>
          <a:p>
            <a:pPr algn="l" indent="0" marL="0">
              <a:lnSpc>
                <a:spcPts val="1039"/>
              </a:lnSpc>
              <a:buNone/>
            </a:pPr>
            <a:r>
              <a:rPr lang="en-US" sz="76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thresholds · escalate to HR ops</a:t>
            </a:r>
            <a:endParaRPr lang="en-US" sz="760" dirty="0"/>
          </a:p>
          <a:p>
            <a:pPr algn="l" indent="0" marL="0">
              <a:lnSpc>
                <a:spcPts val="1039"/>
              </a:lnSpc>
              <a:buNone/>
            </a:pPr>
            <a:r>
              <a:rPr lang="en-US" sz="76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with full context</a:t>
            </a:r>
            <a:endParaRPr lang="en-US" sz="760" dirty="0"/>
          </a:p>
        </p:txBody>
      </p:sp>
      <p:sp>
        <p:nvSpPr>
          <p:cNvPr id="44" name="Text 41"/>
          <p:cNvSpPr/>
          <p:nvPr/>
        </p:nvSpPr>
        <p:spPr>
          <a:xfrm>
            <a:off x="3705820" y="3834110"/>
            <a:ext cx="157661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dirty="0">
                <a:solidFill>
                  <a:srgbClr val="3D6DB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▼</a:t>
            </a:r>
            <a:endParaRPr lang="en-US" sz="790" dirty="0"/>
          </a:p>
        </p:txBody>
      </p:sp>
      <p:sp>
        <p:nvSpPr>
          <p:cNvPr id="45" name="Shape 42"/>
          <p:cNvSpPr/>
          <p:nvPr/>
        </p:nvSpPr>
        <p:spPr>
          <a:xfrm>
            <a:off x="292522" y="3972818"/>
            <a:ext cx="2252663" cy="619125"/>
          </a:xfrm>
          <a:prstGeom prst="roundRect">
            <a:avLst>
              <a:gd name="adj" fmla="val 7385"/>
            </a:avLst>
          </a:prstGeom>
          <a:solidFill>
            <a:srgbClr val="0F2A47"/>
          </a:solidFill>
          <a:ln w="4763">
            <a:solidFill>
              <a:srgbClr val="2F5C94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418430" y="4022006"/>
            <a:ext cx="134347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FFFFFF"/>
                </a:solidFill>
                <a:highlight>
                  <a:srgbClr val="2F81F7"/>
                </a:highlight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6</a:t>
            </a:r>
            <a:endParaRPr lang="en-US" sz="760" dirty="0"/>
          </a:p>
        </p:txBody>
      </p:sp>
      <p:sp>
        <p:nvSpPr>
          <p:cNvPr id="47" name="Text 44"/>
          <p:cNvSpPr/>
          <p:nvPr/>
        </p:nvSpPr>
        <p:spPr>
          <a:xfrm>
            <a:off x="571574" y="4022006"/>
            <a:ext cx="1515673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7AC9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MCP Services + Registry</a:t>
            </a:r>
            <a:endParaRPr lang="en-US" sz="760" dirty="0"/>
          </a:p>
        </p:txBody>
      </p:sp>
      <p:sp>
        <p:nvSpPr>
          <p:cNvPr id="48" name="Text 45"/>
          <p:cNvSpPr/>
          <p:nvPr/>
        </p:nvSpPr>
        <p:spPr>
          <a:xfrm>
            <a:off x="379586" y="4156472"/>
            <a:ext cx="2487506" cy="392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39"/>
              </a:lnSpc>
              <a:buNone/>
            </a:pPr>
            <a:r>
              <a:rPr lang="en-US" sz="760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tool &amp; agent registry (discovery, versioning,</a:t>
            </a:r>
            <a:endParaRPr lang="en-US" sz="760" dirty="0"/>
          </a:p>
          <a:p>
            <a:pPr algn="l" indent="0" marL="0">
              <a:lnSpc>
                <a:spcPts val="1039"/>
              </a:lnSpc>
              <a:buNone/>
            </a:pPr>
            <a:r>
              <a:rPr lang="en-US" sz="760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RBAC) · policy RAG · curated HR knowledge</a:t>
            </a:r>
            <a:endParaRPr lang="en-US" sz="760" dirty="0"/>
          </a:p>
          <a:p>
            <a:pPr algn="l" indent="0" marL="0">
              <a:lnSpc>
                <a:spcPts val="1039"/>
              </a:lnSpc>
              <a:buNone/>
            </a:pPr>
            <a:r>
              <a:rPr lang="en-US" sz="760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base</a:t>
            </a:r>
            <a:endParaRPr lang="en-US" sz="760" dirty="0"/>
          </a:p>
        </p:txBody>
      </p:sp>
      <p:sp>
        <p:nvSpPr>
          <p:cNvPr id="49" name="Shape 46"/>
          <p:cNvSpPr/>
          <p:nvPr/>
        </p:nvSpPr>
        <p:spPr>
          <a:xfrm>
            <a:off x="2618184" y="3972818"/>
            <a:ext cx="2252663" cy="619125"/>
          </a:xfrm>
          <a:prstGeom prst="roundRect">
            <a:avLst>
              <a:gd name="adj" fmla="val 7385"/>
            </a:avLst>
          </a:prstGeom>
          <a:solidFill>
            <a:srgbClr val="0F2A47"/>
          </a:solidFill>
          <a:ln w="4763">
            <a:solidFill>
              <a:srgbClr val="2F5C94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2744093" y="4028852"/>
            <a:ext cx="134347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FFFFFF"/>
                </a:solidFill>
                <a:highlight>
                  <a:srgbClr val="2F81F7"/>
                </a:highlight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6</a:t>
            </a:r>
            <a:endParaRPr lang="en-US" sz="760" dirty="0"/>
          </a:p>
        </p:txBody>
      </p:sp>
      <p:sp>
        <p:nvSpPr>
          <p:cNvPr id="51" name="Text 48"/>
          <p:cNvSpPr/>
          <p:nvPr/>
        </p:nvSpPr>
        <p:spPr>
          <a:xfrm>
            <a:off x="2897237" y="4022006"/>
            <a:ext cx="1670454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7AC9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Case Management &amp; SLA</a:t>
            </a:r>
            <a:endParaRPr lang="en-US" sz="830" dirty="0"/>
          </a:p>
        </p:txBody>
      </p:sp>
      <p:sp>
        <p:nvSpPr>
          <p:cNvPr id="52" name="Text 49"/>
          <p:cNvSpPr/>
          <p:nvPr/>
        </p:nvSpPr>
        <p:spPr>
          <a:xfrm>
            <a:off x="2705249" y="4170164"/>
            <a:ext cx="2538584" cy="260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39"/>
              </a:lnSpc>
              <a:buNone/>
            </a:pPr>
            <a:r>
              <a:rPr lang="en-US" sz="760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 request = auditable case · status, SLA</a:t>
            </a:r>
            <a:endParaRPr lang="en-US" sz="760" dirty="0"/>
          </a:p>
          <a:p>
            <a:pPr algn="l" indent="0" marL="0">
              <a:lnSpc>
                <a:spcPts val="1039"/>
              </a:lnSpc>
              <a:buNone/>
            </a:pPr>
            <a:r>
              <a:rPr lang="en-US" sz="760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timers, hand-offs between agents &amp; humans</a:t>
            </a:r>
            <a:endParaRPr lang="en-US" sz="760" dirty="0"/>
          </a:p>
        </p:txBody>
      </p:sp>
      <p:sp>
        <p:nvSpPr>
          <p:cNvPr id="53" name="Shape 50"/>
          <p:cNvSpPr/>
          <p:nvPr/>
        </p:nvSpPr>
        <p:spPr>
          <a:xfrm>
            <a:off x="4943847" y="3972818"/>
            <a:ext cx="2252663" cy="619125"/>
          </a:xfrm>
          <a:prstGeom prst="roundRect">
            <a:avLst>
              <a:gd name="adj" fmla="val 7385"/>
            </a:avLst>
          </a:prstGeom>
          <a:solidFill>
            <a:srgbClr val="0F2A47"/>
          </a:solidFill>
          <a:ln w="4763">
            <a:solidFill>
              <a:srgbClr val="2F5C94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5069756" y="4028852"/>
            <a:ext cx="134347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FFFFFF"/>
                </a:solidFill>
                <a:highlight>
                  <a:srgbClr val="2F81F7"/>
                </a:highlight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6</a:t>
            </a:r>
            <a:endParaRPr lang="en-US" sz="760" dirty="0"/>
          </a:p>
        </p:txBody>
      </p:sp>
      <p:sp>
        <p:nvSpPr>
          <p:cNvPr id="55" name="Text 52"/>
          <p:cNvSpPr/>
          <p:nvPr/>
        </p:nvSpPr>
        <p:spPr>
          <a:xfrm>
            <a:off x="5222900" y="4022006"/>
            <a:ext cx="1608348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7AC9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Act — Integration Layer</a:t>
            </a:r>
            <a:endParaRPr lang="en-US" sz="830" dirty="0"/>
          </a:p>
        </p:txBody>
      </p:sp>
      <p:sp>
        <p:nvSpPr>
          <p:cNvPr id="56" name="Text 53"/>
          <p:cNvSpPr/>
          <p:nvPr/>
        </p:nvSpPr>
        <p:spPr>
          <a:xfrm>
            <a:off x="5030912" y="4170164"/>
            <a:ext cx="2627196" cy="260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39"/>
              </a:lnSpc>
              <a:buNone/>
            </a:pPr>
            <a:r>
              <a:rPr lang="en-US" sz="760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GET / PUT via APIM &amp; Logic Apps connectors ·</a:t>
            </a:r>
            <a:endParaRPr lang="en-US" sz="760" dirty="0"/>
          </a:p>
          <a:p>
            <a:pPr algn="l" indent="0" marL="0">
              <a:lnSpc>
                <a:spcPts val="1039"/>
              </a:lnSpc>
              <a:buNone/>
            </a:pPr>
            <a:r>
              <a:rPr lang="en-US" sz="760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approval-gated writes · idempotent retries</a:t>
            </a:r>
            <a:endParaRPr lang="en-US" sz="760" dirty="0"/>
          </a:p>
        </p:txBody>
      </p:sp>
      <p:sp>
        <p:nvSpPr>
          <p:cNvPr id="57" name="Text 54"/>
          <p:cNvSpPr/>
          <p:nvPr/>
        </p:nvSpPr>
        <p:spPr>
          <a:xfrm>
            <a:off x="3705820" y="4591943"/>
            <a:ext cx="157661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dirty="0">
                <a:solidFill>
                  <a:srgbClr val="3D6DB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▼</a:t>
            </a:r>
            <a:endParaRPr lang="en-US" sz="790" dirty="0"/>
          </a:p>
        </p:txBody>
      </p:sp>
      <p:sp>
        <p:nvSpPr>
          <p:cNvPr id="58" name="Shape 55"/>
          <p:cNvSpPr/>
          <p:nvPr/>
        </p:nvSpPr>
        <p:spPr>
          <a:xfrm>
            <a:off x="291703" y="4730465"/>
            <a:ext cx="6905625" cy="247650"/>
          </a:xfrm>
          <a:prstGeom prst="roundRect">
            <a:avLst>
              <a:gd name="adj" fmla="val 18462"/>
            </a:avLst>
          </a:prstGeom>
          <a:solidFill>
            <a:srgbClr val="12233F"/>
          </a:solidFill>
          <a:ln w="4763">
            <a:solidFill>
              <a:srgbClr val="24406B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430709" y="4791819"/>
            <a:ext cx="126318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FFFFFF"/>
                </a:solidFill>
                <a:highlight>
                  <a:srgbClr val="2F81F7"/>
                </a:highlight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7</a:t>
            </a:r>
            <a:endParaRPr lang="en-US" sz="760" dirty="0"/>
          </a:p>
        </p:txBody>
      </p:sp>
      <p:sp>
        <p:nvSpPr>
          <p:cNvPr id="60" name="Text 57"/>
          <p:cNvSpPr/>
          <p:nvPr/>
        </p:nvSpPr>
        <p:spPr>
          <a:xfrm>
            <a:off x="580727" y="4784973"/>
            <a:ext cx="1299947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E8F1F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Systems of Record</a:t>
            </a:r>
            <a:endParaRPr lang="en-US" sz="830" dirty="0"/>
          </a:p>
        </p:txBody>
      </p:sp>
      <p:sp>
        <p:nvSpPr>
          <p:cNvPr id="61" name="Text 58"/>
          <p:cNvSpPr/>
          <p:nvPr/>
        </p:nvSpPr>
        <p:spPr>
          <a:xfrm>
            <a:off x="3668390" y="4783559"/>
            <a:ext cx="4518623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dirty="0">
                <a:solidFill>
                  <a:srgbClr val="7AC9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Workday · SAP SuccessFactors · payroll · benefits · ticketing · HR data stores</a:t>
            </a:r>
            <a:endParaRPr lang="en-US" sz="790" dirty="0"/>
          </a:p>
        </p:txBody>
      </p:sp>
      <p:sp>
        <p:nvSpPr>
          <p:cNvPr id="62" name="Text 59"/>
          <p:cNvSpPr/>
          <p:nvPr/>
        </p:nvSpPr>
        <p:spPr>
          <a:xfrm>
            <a:off x="7413099" y="553194"/>
            <a:ext cx="1322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60" spc="136" kern="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CROSS-CUTTING</a:t>
            </a:r>
            <a:endParaRPr lang="en-US" sz="760" dirty="0"/>
          </a:p>
        </p:txBody>
      </p:sp>
      <p:sp>
        <p:nvSpPr>
          <p:cNvPr id="63" name="Shape 60"/>
          <p:cNvSpPr/>
          <p:nvPr/>
        </p:nvSpPr>
        <p:spPr>
          <a:xfrm>
            <a:off x="7297899" y="729481"/>
            <a:ext cx="1552575" cy="819150"/>
          </a:xfrm>
          <a:prstGeom prst="roundRect">
            <a:avLst>
              <a:gd name="adj" fmla="val 5581"/>
            </a:avLst>
          </a:prstGeom>
          <a:solidFill>
            <a:srgbClr val="16273F"/>
          </a:solidFill>
          <a:ln w="4763">
            <a:solidFill>
              <a:srgbClr val="2A4568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7374880" y="778594"/>
            <a:ext cx="1405004" cy="291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42"/>
              </a:lnSpc>
              <a:buNone/>
            </a:pPr>
            <a:r>
              <a:rPr lang="en-US" sz="830" b="1" dirty="0">
                <a:solidFill>
                  <a:srgbClr val="E8F1F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Identity — humans &amp;</a:t>
            </a:r>
            <a:endParaRPr lang="en-US" sz="830" dirty="0"/>
          </a:p>
          <a:p>
            <a:pPr algn="l" indent="0" marL="0">
              <a:lnSpc>
                <a:spcPts val="1242"/>
              </a:lnSpc>
              <a:buNone/>
            </a:pPr>
            <a:r>
              <a:rPr lang="en-US" sz="830" b="1" dirty="0">
                <a:solidFill>
                  <a:srgbClr val="E8F1F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agents</a:t>
            </a:r>
            <a:endParaRPr lang="en-US" sz="830" dirty="0"/>
          </a:p>
        </p:txBody>
      </p:sp>
      <p:sp>
        <p:nvSpPr>
          <p:cNvPr id="65" name="Text 62"/>
          <p:cNvSpPr/>
          <p:nvPr/>
        </p:nvSpPr>
        <p:spPr>
          <a:xfrm>
            <a:off x="7374880" y="1084436"/>
            <a:ext cx="1690382" cy="392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39"/>
              </a:lnSpc>
              <a:buNone/>
            </a:pPr>
            <a:r>
              <a:rPr lang="en-US" sz="76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Entra ID + Entra Agent ID ·</a:t>
            </a:r>
            <a:endParaRPr lang="en-US" sz="760" dirty="0"/>
          </a:p>
          <a:p>
            <a:pPr algn="l" indent="0" marL="0">
              <a:lnSpc>
                <a:spcPts val="1039"/>
              </a:lnSpc>
              <a:buNone/>
            </a:pPr>
            <a:r>
              <a:rPr lang="en-US" sz="76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least-privilege, on-behalf-of ·</a:t>
            </a:r>
            <a:endParaRPr lang="en-US" sz="760" dirty="0"/>
          </a:p>
          <a:p>
            <a:pPr algn="l" indent="0" marL="0">
              <a:lnSpc>
                <a:spcPts val="1039"/>
              </a:lnSpc>
              <a:buNone/>
            </a:pPr>
            <a:r>
              <a:rPr lang="en-US" sz="76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Key Vault</a:t>
            </a:r>
            <a:endParaRPr lang="en-US" sz="760" dirty="0"/>
          </a:p>
        </p:txBody>
      </p:sp>
      <p:sp>
        <p:nvSpPr>
          <p:cNvPr id="66" name="Shape 63"/>
          <p:cNvSpPr/>
          <p:nvPr/>
        </p:nvSpPr>
        <p:spPr>
          <a:xfrm>
            <a:off x="7297899" y="1586805"/>
            <a:ext cx="1552575" cy="819150"/>
          </a:xfrm>
          <a:prstGeom prst="roundRect">
            <a:avLst>
              <a:gd name="adj" fmla="val 5581"/>
            </a:avLst>
          </a:prstGeom>
          <a:solidFill>
            <a:srgbClr val="16273F"/>
          </a:solidFill>
          <a:ln w="4763">
            <a:solidFill>
              <a:srgbClr val="2A4568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7374880" y="1635919"/>
            <a:ext cx="725612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E8F1F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Guardrails</a:t>
            </a:r>
            <a:endParaRPr lang="en-US" sz="830" dirty="0"/>
          </a:p>
        </p:txBody>
      </p:sp>
      <p:sp>
        <p:nvSpPr>
          <p:cNvPr id="68" name="Text 65"/>
          <p:cNvSpPr/>
          <p:nvPr/>
        </p:nvSpPr>
        <p:spPr>
          <a:xfrm>
            <a:off x="7374880" y="1784077"/>
            <a:ext cx="1824365" cy="392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39"/>
              </a:lnSpc>
              <a:buNone/>
            </a:pPr>
            <a:r>
              <a:rPr lang="en-US" sz="76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Content Safety · prompt shields</a:t>
            </a:r>
            <a:endParaRPr lang="en-US" sz="760" dirty="0"/>
          </a:p>
          <a:p>
            <a:pPr algn="l" indent="0" marL="0">
              <a:lnSpc>
                <a:spcPts val="1039"/>
              </a:lnSpc>
              <a:buNone/>
            </a:pPr>
            <a:r>
              <a:rPr lang="en-US" sz="76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· PII redaction · grounding</a:t>
            </a:r>
            <a:endParaRPr lang="en-US" sz="760" dirty="0"/>
          </a:p>
          <a:p>
            <a:pPr algn="l" indent="0" marL="0">
              <a:lnSpc>
                <a:spcPts val="1039"/>
              </a:lnSpc>
              <a:buNone/>
            </a:pPr>
            <a:r>
              <a:rPr lang="en-US" sz="76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checks</a:t>
            </a:r>
            <a:endParaRPr lang="en-US" sz="760" dirty="0"/>
          </a:p>
        </p:txBody>
      </p:sp>
      <p:sp>
        <p:nvSpPr>
          <p:cNvPr id="69" name="Shape 66"/>
          <p:cNvSpPr/>
          <p:nvPr/>
        </p:nvSpPr>
        <p:spPr>
          <a:xfrm>
            <a:off x="7297899" y="2444130"/>
            <a:ext cx="1552575" cy="819150"/>
          </a:xfrm>
          <a:prstGeom prst="roundRect">
            <a:avLst>
              <a:gd name="adj" fmla="val 5581"/>
            </a:avLst>
          </a:prstGeom>
          <a:solidFill>
            <a:srgbClr val="16273F"/>
          </a:solidFill>
          <a:ln w="4763">
            <a:solidFill>
              <a:srgbClr val="2A4568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7374880" y="2493243"/>
            <a:ext cx="1422708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E8F1F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Observability &amp; Evals</a:t>
            </a:r>
            <a:endParaRPr lang="en-US" sz="830" dirty="0"/>
          </a:p>
        </p:txBody>
      </p:sp>
      <p:sp>
        <p:nvSpPr>
          <p:cNvPr id="71" name="Text 68"/>
          <p:cNvSpPr/>
          <p:nvPr/>
        </p:nvSpPr>
        <p:spPr>
          <a:xfrm>
            <a:off x="7374880" y="2641402"/>
            <a:ext cx="1620924" cy="392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39"/>
              </a:lnSpc>
              <a:buNone/>
            </a:pPr>
            <a:r>
              <a:rPr lang="en-US" sz="76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agent tracing (AgentOps) ·</a:t>
            </a:r>
            <a:endParaRPr lang="en-US" sz="760" dirty="0"/>
          </a:p>
          <a:p>
            <a:pPr algn="l" indent="0" marL="0">
              <a:lnSpc>
                <a:spcPts val="1039"/>
              </a:lnSpc>
              <a:buNone/>
            </a:pPr>
            <a:r>
              <a:rPr lang="en-US" sz="76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continuous evaluation &amp; red</a:t>
            </a:r>
            <a:endParaRPr lang="en-US" sz="760" dirty="0"/>
          </a:p>
          <a:p>
            <a:pPr algn="l" indent="0" marL="0">
              <a:lnSpc>
                <a:spcPts val="1039"/>
              </a:lnSpc>
              <a:buNone/>
            </a:pPr>
            <a:r>
              <a:rPr lang="en-US" sz="76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teaming · Azure Monitor</a:t>
            </a:r>
            <a:endParaRPr lang="en-US" sz="760" dirty="0"/>
          </a:p>
        </p:txBody>
      </p:sp>
      <p:sp>
        <p:nvSpPr>
          <p:cNvPr id="72" name="Shape 69"/>
          <p:cNvSpPr/>
          <p:nvPr/>
        </p:nvSpPr>
        <p:spPr>
          <a:xfrm>
            <a:off x="7297899" y="3301454"/>
            <a:ext cx="1552575" cy="819150"/>
          </a:xfrm>
          <a:prstGeom prst="roundRect">
            <a:avLst>
              <a:gd name="adj" fmla="val 5581"/>
            </a:avLst>
          </a:prstGeom>
          <a:solidFill>
            <a:srgbClr val="16273F"/>
          </a:solidFill>
          <a:ln w="4763">
            <a:solidFill>
              <a:srgbClr val="2A4568"/>
            </a:solidFill>
            <a:prstDash val="solid"/>
          </a:ln>
        </p:spPr>
      </p:sp>
      <p:sp>
        <p:nvSpPr>
          <p:cNvPr id="73" name="Text 70"/>
          <p:cNvSpPr/>
          <p:nvPr/>
        </p:nvSpPr>
        <p:spPr>
          <a:xfrm>
            <a:off x="7374880" y="3350568"/>
            <a:ext cx="1296271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E8F1F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Governance &amp; Cost</a:t>
            </a:r>
            <a:endParaRPr lang="en-US" sz="830" dirty="0"/>
          </a:p>
        </p:txBody>
      </p:sp>
      <p:sp>
        <p:nvSpPr>
          <p:cNvPr id="74" name="Text 71"/>
          <p:cNvSpPr/>
          <p:nvPr/>
        </p:nvSpPr>
        <p:spPr>
          <a:xfrm>
            <a:off x="7374880" y="3498726"/>
            <a:ext cx="1661651" cy="392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39"/>
              </a:lnSpc>
              <a:buNone/>
            </a:pPr>
            <a:r>
              <a:rPr lang="en-US" sz="76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Purview data governance ·</a:t>
            </a:r>
            <a:endParaRPr lang="en-US" sz="760" dirty="0"/>
          </a:p>
          <a:p>
            <a:pPr algn="l" indent="0" marL="0">
              <a:lnSpc>
                <a:spcPts val="1039"/>
              </a:lnSpc>
              <a:buNone/>
            </a:pPr>
            <a:r>
              <a:rPr lang="en-US" sz="76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model lifecycle · token cost /</a:t>
            </a:r>
            <a:endParaRPr lang="en-US" sz="760" dirty="0"/>
          </a:p>
          <a:p>
            <a:pPr algn="l" indent="0" marL="0">
              <a:lnSpc>
                <a:spcPts val="1039"/>
              </a:lnSpc>
              <a:buNone/>
            </a:pPr>
            <a:r>
              <a:rPr lang="en-US" sz="76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FinOps</a:t>
            </a:r>
            <a:endParaRPr lang="en-US" sz="760" dirty="0"/>
          </a:p>
        </p:txBody>
      </p:sp>
      <p:sp>
        <p:nvSpPr>
          <p:cNvPr id="75" name="Shape 72"/>
          <p:cNvSpPr/>
          <p:nvPr/>
        </p:nvSpPr>
        <p:spPr>
          <a:xfrm>
            <a:off x="7297899" y="4158779"/>
            <a:ext cx="1552575" cy="819150"/>
          </a:xfrm>
          <a:prstGeom prst="roundRect">
            <a:avLst>
              <a:gd name="adj" fmla="val 5581"/>
            </a:avLst>
          </a:prstGeom>
          <a:solidFill>
            <a:srgbClr val="16273F"/>
          </a:solidFill>
          <a:ln w="4763">
            <a:solidFill>
              <a:srgbClr val="2A4568"/>
            </a:solidFill>
            <a:prstDash val="solid"/>
          </a:ln>
        </p:spPr>
      </p:sp>
      <p:sp>
        <p:nvSpPr>
          <p:cNvPr id="76" name="Text 73"/>
          <p:cNvSpPr/>
          <p:nvPr/>
        </p:nvSpPr>
        <p:spPr>
          <a:xfrm>
            <a:off x="7374880" y="4207892"/>
            <a:ext cx="717582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E8F1F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Reporting</a:t>
            </a:r>
            <a:endParaRPr lang="en-US" sz="830" dirty="0"/>
          </a:p>
        </p:txBody>
      </p:sp>
      <p:sp>
        <p:nvSpPr>
          <p:cNvPr id="77" name="Text 74"/>
          <p:cNvSpPr/>
          <p:nvPr/>
        </p:nvSpPr>
        <p:spPr>
          <a:xfrm>
            <a:off x="7374880" y="4356050"/>
            <a:ext cx="1693865" cy="260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39"/>
              </a:lnSpc>
              <a:buNone/>
            </a:pPr>
            <a:r>
              <a:rPr lang="en-US" sz="76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Microsoft Fabric · Power BI —</a:t>
            </a:r>
            <a:endParaRPr lang="en-US" sz="760" dirty="0"/>
          </a:p>
          <a:p>
            <a:pPr algn="l" indent="0" marL="0">
              <a:lnSpc>
                <a:spcPts val="1039"/>
              </a:lnSpc>
              <a:buNone/>
            </a:pPr>
            <a:r>
              <a:rPr lang="en-US" sz="76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deflection, SLA, quality, cost</a:t>
            </a:r>
            <a:endParaRPr lang="en-US" sz="76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52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92596" y="183579"/>
            <a:ext cx="4771497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80" b="1" spc="-40" kern="0" dirty="0">
                <a:solidFill>
                  <a:srgbClr val="E8F1F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Functional View — What Each Part Does</a:t>
            </a:r>
            <a:endParaRPr lang="en-US" sz="1580" dirty="0"/>
          </a:p>
        </p:txBody>
      </p:sp>
      <p:sp>
        <p:nvSpPr>
          <p:cNvPr id="5" name="Text 2"/>
          <p:cNvSpPr/>
          <p:nvPr/>
        </p:nvSpPr>
        <p:spPr>
          <a:xfrm>
            <a:off x="6289849" y="278829"/>
            <a:ext cx="3387172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Same numbers as the technical view — ① here is ① there</a:t>
            </a:r>
            <a:endParaRPr lang="en-US" sz="790" dirty="0"/>
          </a:p>
        </p:txBody>
      </p:sp>
      <p:sp>
        <p:nvSpPr>
          <p:cNvPr id="6" name="Shape 3"/>
          <p:cNvSpPr/>
          <p:nvPr/>
        </p:nvSpPr>
        <p:spPr>
          <a:xfrm>
            <a:off x="291703" y="549548"/>
            <a:ext cx="6905625" cy="404813"/>
          </a:xfrm>
          <a:prstGeom prst="roundRect">
            <a:avLst>
              <a:gd name="adj" fmla="val 11294"/>
            </a:avLst>
          </a:prstGeom>
          <a:solidFill>
            <a:srgbClr val="12233F"/>
          </a:solidFill>
          <a:ln w="4763">
            <a:solidFill>
              <a:srgbClr val="24406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80727" y="603796"/>
            <a:ext cx="1818367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E8F1F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Employee &amp; Manager Front</a:t>
            </a:r>
            <a:endParaRPr lang="en-US" sz="830" dirty="0"/>
          </a:p>
        </p:txBody>
      </p:sp>
      <p:sp>
        <p:nvSpPr>
          <p:cNvPr id="8" name="Text 5"/>
          <p:cNvSpPr/>
          <p:nvPr/>
        </p:nvSpPr>
        <p:spPr>
          <a:xfrm>
            <a:off x="2115071" y="605805"/>
            <a:ext cx="3637821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HR assistant wherever people work — chat, portal, email,</a:t>
            </a:r>
            <a:endParaRPr lang="en-US" sz="790" dirty="0"/>
          </a:p>
        </p:txBody>
      </p:sp>
      <p:sp>
        <p:nvSpPr>
          <p:cNvPr id="9" name="Text 6"/>
          <p:cNvSpPr/>
          <p:nvPr/>
        </p:nvSpPr>
        <p:spPr>
          <a:xfrm>
            <a:off x="435546" y="689446"/>
            <a:ext cx="113645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FFFFFF"/>
                </a:solidFill>
                <a:highlight>
                  <a:srgbClr val="2F81F7"/>
                </a:highlight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</a:t>
            </a:r>
            <a:endParaRPr lang="en-US" sz="760" dirty="0"/>
          </a:p>
        </p:txBody>
      </p:sp>
      <p:sp>
        <p:nvSpPr>
          <p:cNvPr id="10" name="Text 7"/>
          <p:cNvSpPr/>
          <p:nvPr/>
        </p:nvSpPr>
        <p:spPr>
          <a:xfrm>
            <a:off x="580727" y="761479"/>
            <a:ext cx="369711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E8F1F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Door</a:t>
            </a:r>
            <a:endParaRPr lang="en-US" sz="830" dirty="0"/>
          </a:p>
        </p:txBody>
      </p:sp>
      <p:sp>
        <p:nvSpPr>
          <p:cNvPr id="11" name="Text 8"/>
          <p:cNvSpPr/>
          <p:nvPr/>
        </p:nvSpPr>
        <p:spPr>
          <a:xfrm>
            <a:off x="2115071" y="756717"/>
            <a:ext cx="426400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phone</a:t>
            </a:r>
            <a:endParaRPr lang="en-US" sz="790" dirty="0"/>
          </a:p>
        </p:txBody>
      </p:sp>
      <p:sp>
        <p:nvSpPr>
          <p:cNvPr id="12" name="Text 9"/>
          <p:cNvSpPr/>
          <p:nvPr/>
        </p:nvSpPr>
        <p:spPr>
          <a:xfrm>
            <a:off x="4981501" y="681261"/>
            <a:ext cx="2811579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dirty="0">
                <a:solidFill>
                  <a:srgbClr val="7AC9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also reaches out first: onboarding, moves, exits</a:t>
            </a:r>
            <a:endParaRPr lang="en-US" sz="790" dirty="0"/>
          </a:p>
        </p:txBody>
      </p:sp>
      <p:sp>
        <p:nvSpPr>
          <p:cNvPr id="13" name="Text 10"/>
          <p:cNvSpPr/>
          <p:nvPr/>
        </p:nvSpPr>
        <p:spPr>
          <a:xfrm>
            <a:off x="3705820" y="954435"/>
            <a:ext cx="157661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dirty="0">
                <a:solidFill>
                  <a:srgbClr val="3D6DB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▼</a:t>
            </a:r>
            <a:endParaRPr lang="en-US" sz="790" dirty="0"/>
          </a:p>
        </p:txBody>
      </p:sp>
      <p:sp>
        <p:nvSpPr>
          <p:cNvPr id="14" name="Shape 11"/>
          <p:cNvSpPr/>
          <p:nvPr/>
        </p:nvSpPr>
        <p:spPr>
          <a:xfrm>
            <a:off x="291703" y="1092957"/>
            <a:ext cx="6905625" cy="247650"/>
          </a:xfrm>
          <a:prstGeom prst="roundRect">
            <a:avLst>
              <a:gd name="adj" fmla="val 18462"/>
            </a:avLst>
          </a:prstGeom>
          <a:solidFill>
            <a:srgbClr val="12233F"/>
          </a:solidFill>
          <a:ln w="4763">
            <a:solidFill>
              <a:srgbClr val="24406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28774" y="1154311"/>
            <a:ext cx="131348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FFFFFF"/>
                </a:solidFill>
                <a:highlight>
                  <a:srgbClr val="2F81F7"/>
                </a:highlight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</a:t>
            </a:r>
            <a:endParaRPr lang="en-US" sz="760" dirty="0"/>
          </a:p>
        </p:txBody>
      </p:sp>
      <p:sp>
        <p:nvSpPr>
          <p:cNvPr id="16" name="Text 13"/>
          <p:cNvSpPr/>
          <p:nvPr/>
        </p:nvSpPr>
        <p:spPr>
          <a:xfrm>
            <a:off x="580727" y="1146051"/>
            <a:ext cx="5862511" cy="1347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E8F1F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Reception &amp; Traffic Control</a:t>
            </a:r>
            <a:pPr algn="l" indent="0" marL="0">
              <a:buNone/>
            </a:pPr>
            <a:r>
              <a:rPr lang="en-US" sz="79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checks who is asking · keeps usage fair · tracks cost of every answer</a:t>
            </a:r>
            <a:endParaRPr lang="en-US" sz="830" dirty="0"/>
          </a:p>
        </p:txBody>
      </p:sp>
      <p:sp>
        <p:nvSpPr>
          <p:cNvPr id="17" name="Text 14"/>
          <p:cNvSpPr/>
          <p:nvPr/>
        </p:nvSpPr>
        <p:spPr>
          <a:xfrm>
            <a:off x="3705820" y="1340421"/>
            <a:ext cx="157661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dirty="0">
                <a:solidFill>
                  <a:srgbClr val="3D6DB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▼</a:t>
            </a:r>
            <a:endParaRPr lang="en-US" sz="790" dirty="0"/>
          </a:p>
        </p:txBody>
      </p:sp>
      <p:sp>
        <p:nvSpPr>
          <p:cNvPr id="18" name="Shape 15"/>
          <p:cNvSpPr/>
          <p:nvPr/>
        </p:nvSpPr>
        <p:spPr>
          <a:xfrm>
            <a:off x="292894" y="1477528"/>
            <a:ext cx="3414713" cy="514350"/>
          </a:xfrm>
          <a:prstGeom prst="roundRect">
            <a:avLst>
              <a:gd name="adj" fmla="val 8889"/>
            </a:avLst>
          </a:prstGeom>
          <a:solidFill>
            <a:srgbClr val="12233F"/>
          </a:solidFill>
          <a:ln w="4763">
            <a:solidFill>
              <a:srgbClr val="24406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28104" y="1540297"/>
            <a:ext cx="133090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FFFFFF"/>
                </a:solidFill>
                <a:highlight>
                  <a:srgbClr val="2F81F7"/>
                </a:highlight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</a:t>
            </a:r>
            <a:endParaRPr lang="en-US" sz="760" dirty="0"/>
          </a:p>
        </p:txBody>
      </p:sp>
      <p:sp>
        <p:nvSpPr>
          <p:cNvPr id="20" name="Text 17"/>
          <p:cNvSpPr/>
          <p:nvPr/>
        </p:nvSpPr>
        <p:spPr>
          <a:xfrm>
            <a:off x="580727" y="1533451"/>
            <a:ext cx="1691640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E8F1F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Understands Any Format</a:t>
            </a:r>
            <a:endParaRPr lang="en-US" sz="830" dirty="0"/>
          </a:p>
        </p:txBody>
      </p:sp>
      <p:sp>
        <p:nvSpPr>
          <p:cNvPr id="21" name="Text 18"/>
          <p:cNvSpPr/>
          <p:nvPr/>
        </p:nvSpPr>
        <p:spPr>
          <a:xfrm>
            <a:off x="388739" y="1681609"/>
            <a:ext cx="4184682" cy="260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39"/>
              </a:lnSpc>
              <a:buNone/>
            </a:pPr>
            <a:r>
              <a:rPr lang="en-US" sz="76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reads payslips, contracts, forms, ID scans · listens to voicemails · watches</a:t>
            </a:r>
            <a:endParaRPr lang="en-US" sz="760" dirty="0"/>
          </a:p>
          <a:p>
            <a:pPr algn="l" indent="0" marL="0">
              <a:lnSpc>
                <a:spcPts val="1039"/>
              </a:lnSpc>
              <a:buNone/>
            </a:pPr>
            <a:r>
              <a:rPr lang="en-US" sz="76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screen recordings</a:t>
            </a:r>
            <a:endParaRPr lang="en-US" sz="760" dirty="0"/>
          </a:p>
        </p:txBody>
      </p:sp>
      <p:sp>
        <p:nvSpPr>
          <p:cNvPr id="22" name="Shape 19"/>
          <p:cNvSpPr/>
          <p:nvPr/>
        </p:nvSpPr>
        <p:spPr>
          <a:xfrm>
            <a:off x="3781388" y="1477528"/>
            <a:ext cx="3414713" cy="514350"/>
          </a:xfrm>
          <a:prstGeom prst="roundRect">
            <a:avLst>
              <a:gd name="adj" fmla="val 8889"/>
            </a:avLst>
          </a:prstGeom>
          <a:solidFill>
            <a:srgbClr val="12233F"/>
          </a:solidFill>
          <a:ln w="4763">
            <a:solidFill>
              <a:srgbClr val="24406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915221" y="1540297"/>
            <a:ext cx="136572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FFFFFF"/>
                </a:solidFill>
                <a:highlight>
                  <a:srgbClr val="2F81F7"/>
                </a:highlight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</a:t>
            </a:r>
            <a:endParaRPr lang="en-US" sz="760" dirty="0"/>
          </a:p>
        </p:txBody>
      </p:sp>
      <p:sp>
        <p:nvSpPr>
          <p:cNvPr id="24" name="Text 21"/>
          <p:cNvSpPr/>
          <p:nvPr/>
        </p:nvSpPr>
        <p:spPr>
          <a:xfrm>
            <a:off x="4069184" y="1533451"/>
            <a:ext cx="815868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E8F1F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Triage Desk</a:t>
            </a:r>
            <a:endParaRPr lang="en-US" sz="830" dirty="0"/>
          </a:p>
        </p:txBody>
      </p:sp>
      <p:sp>
        <p:nvSpPr>
          <p:cNvPr id="25" name="Text 22"/>
          <p:cNvSpPr/>
          <p:nvPr/>
        </p:nvSpPr>
        <p:spPr>
          <a:xfrm>
            <a:off x="3877196" y="1681609"/>
            <a:ext cx="3967892" cy="260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39"/>
              </a:lnSpc>
              <a:buNone/>
            </a:pPr>
            <a:r>
              <a:rPr lang="en-US" sz="76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works out what is being asked · how urgent it is · who (or what) should</a:t>
            </a:r>
            <a:endParaRPr lang="en-US" sz="760" dirty="0"/>
          </a:p>
          <a:p>
            <a:pPr algn="l" indent="0" marL="0">
              <a:lnSpc>
                <a:spcPts val="1039"/>
              </a:lnSpc>
              <a:buNone/>
            </a:pPr>
            <a:r>
              <a:rPr lang="en-US" sz="76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handle it</a:t>
            </a:r>
            <a:endParaRPr lang="en-US" sz="760" dirty="0"/>
          </a:p>
        </p:txBody>
      </p:sp>
      <p:sp>
        <p:nvSpPr>
          <p:cNvPr id="26" name="Text 23"/>
          <p:cNvSpPr/>
          <p:nvPr/>
        </p:nvSpPr>
        <p:spPr>
          <a:xfrm>
            <a:off x="3705820" y="1990279"/>
            <a:ext cx="157661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dirty="0">
                <a:solidFill>
                  <a:srgbClr val="3D6DB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▼</a:t>
            </a:r>
            <a:endParaRPr lang="en-US" sz="790" dirty="0"/>
          </a:p>
        </p:txBody>
      </p:sp>
      <p:sp>
        <p:nvSpPr>
          <p:cNvPr id="27" name="Shape 24"/>
          <p:cNvSpPr/>
          <p:nvPr/>
        </p:nvSpPr>
        <p:spPr>
          <a:xfrm>
            <a:off x="291703" y="2126977"/>
            <a:ext cx="6905625" cy="1695450"/>
          </a:xfrm>
          <a:prstGeom prst="roundRect">
            <a:avLst>
              <a:gd name="adj" fmla="val 2697"/>
            </a:avLst>
          </a:prstGeom>
          <a:solidFill>
            <a:srgbClr val="0F2A47"/>
          </a:solidFill>
          <a:ln w="4763">
            <a:solidFill>
              <a:srgbClr val="2F5C94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28476" y="2193578"/>
            <a:ext cx="132025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FFFFFF"/>
                </a:solidFill>
                <a:highlight>
                  <a:srgbClr val="2F81F7"/>
                </a:highlight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</a:t>
            </a:r>
            <a:endParaRPr lang="en-US" sz="760" dirty="0"/>
          </a:p>
        </p:txBody>
      </p:sp>
      <p:sp>
        <p:nvSpPr>
          <p:cNvPr id="29" name="Text 26"/>
          <p:cNvSpPr/>
          <p:nvPr/>
        </p:nvSpPr>
        <p:spPr>
          <a:xfrm>
            <a:off x="580727" y="2183309"/>
            <a:ext cx="1479977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7AC9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Digital HR Case Team</a:t>
            </a:r>
            <a:endParaRPr lang="en-US" sz="860" dirty="0"/>
          </a:p>
        </p:txBody>
      </p:sp>
      <p:sp>
        <p:nvSpPr>
          <p:cNvPr id="30" name="Text 27"/>
          <p:cNvSpPr/>
          <p:nvPr/>
        </p:nvSpPr>
        <p:spPr>
          <a:xfrm>
            <a:off x="4105275" y="2188815"/>
            <a:ext cx="395067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60" dirty="0">
                <a:solidFill>
                  <a:srgbClr val="7AC9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works like a real HR team — a lead, specialists, and an escalation path</a:t>
            </a:r>
            <a:endParaRPr lang="en-US" sz="760" dirty="0"/>
          </a:p>
        </p:txBody>
      </p:sp>
      <p:sp>
        <p:nvSpPr>
          <p:cNvPr id="31" name="Shape 28"/>
          <p:cNvSpPr/>
          <p:nvPr/>
        </p:nvSpPr>
        <p:spPr>
          <a:xfrm>
            <a:off x="389297" y="2374888"/>
            <a:ext cx="1628775" cy="1400175"/>
          </a:xfrm>
          <a:prstGeom prst="roundRect">
            <a:avLst>
              <a:gd name="adj" fmla="val 2612"/>
            </a:avLst>
          </a:prstGeom>
          <a:solidFill>
            <a:srgbClr val="11233E">
              <a:alpha val="80000"/>
            </a:srgbClr>
          </a:solidFill>
          <a:ln w="4763">
            <a:solidFill>
              <a:srgbClr val="24406B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57498" y="2419424"/>
            <a:ext cx="697364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b="1" dirty="0">
                <a:solidFill>
                  <a:srgbClr val="E8F1F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Case Lead</a:t>
            </a:r>
            <a:endParaRPr lang="en-US" sz="790" dirty="0"/>
          </a:p>
        </p:txBody>
      </p:sp>
      <p:sp>
        <p:nvSpPr>
          <p:cNvPr id="33" name="Text 30"/>
          <p:cNvSpPr/>
          <p:nvPr/>
        </p:nvSpPr>
        <p:spPr>
          <a:xfrm>
            <a:off x="457498" y="2560811"/>
            <a:ext cx="1791087" cy="392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39"/>
              </a:lnSpc>
              <a:buNone/>
            </a:pPr>
            <a:r>
              <a:rPr lang="en-US" sz="76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owns the request end-to-end ·</a:t>
            </a:r>
            <a:endParaRPr lang="en-US" sz="760" dirty="0"/>
          </a:p>
          <a:p>
            <a:pPr algn="l" indent="0" marL="0">
              <a:lnSpc>
                <a:spcPts val="1039"/>
              </a:lnSpc>
              <a:buNone/>
            </a:pPr>
            <a:r>
              <a:rPr lang="en-US" sz="76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splits work across specialist</a:t>
            </a:r>
            <a:endParaRPr lang="en-US" sz="760" dirty="0"/>
          </a:p>
          <a:p>
            <a:pPr algn="l" indent="0" marL="0">
              <a:lnSpc>
                <a:spcPts val="1039"/>
              </a:lnSpc>
              <a:buNone/>
            </a:pPr>
            <a:r>
              <a:rPr lang="en-US" sz="76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personas · stops runaway work</a:t>
            </a:r>
            <a:endParaRPr lang="en-US" sz="760" dirty="0"/>
          </a:p>
        </p:txBody>
      </p:sp>
      <p:sp>
        <p:nvSpPr>
          <p:cNvPr id="34" name="Shape 31"/>
          <p:cNvSpPr/>
          <p:nvPr/>
        </p:nvSpPr>
        <p:spPr>
          <a:xfrm>
            <a:off x="2083184" y="2374888"/>
            <a:ext cx="1628775" cy="1400175"/>
          </a:xfrm>
          <a:prstGeom prst="roundRect">
            <a:avLst>
              <a:gd name="adj" fmla="val 2612"/>
            </a:avLst>
          </a:prstGeom>
          <a:solidFill>
            <a:srgbClr val="11233E">
              <a:alpha val="80000"/>
            </a:srgbClr>
          </a:solidFill>
          <a:ln w="4763">
            <a:solidFill>
              <a:srgbClr val="24406B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2151385" y="2419424"/>
            <a:ext cx="705006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b="1" dirty="0">
                <a:solidFill>
                  <a:srgbClr val="E8F1F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Judgment</a:t>
            </a:r>
            <a:endParaRPr lang="en-US" sz="790" dirty="0"/>
          </a:p>
        </p:txBody>
      </p:sp>
      <p:sp>
        <p:nvSpPr>
          <p:cNvPr id="36" name="Text 33"/>
          <p:cNvSpPr/>
          <p:nvPr/>
        </p:nvSpPr>
        <p:spPr>
          <a:xfrm>
            <a:off x="2151385" y="2560811"/>
            <a:ext cx="1971891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6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routine requests: instant playbook</a:t>
            </a:r>
            <a:endParaRPr lang="en-US" sz="760" dirty="0"/>
          </a:p>
        </p:txBody>
      </p:sp>
      <p:sp>
        <p:nvSpPr>
          <p:cNvPr id="37" name="Text 34"/>
          <p:cNvSpPr/>
          <p:nvPr/>
        </p:nvSpPr>
        <p:spPr>
          <a:xfrm>
            <a:off x="2151385" y="2692747"/>
            <a:ext cx="191510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6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· complex cases: careful step-by-step</a:t>
            </a:r>
            <a:endParaRPr lang="en-US" sz="760" dirty="0"/>
          </a:p>
        </p:txBody>
      </p:sp>
      <p:sp>
        <p:nvSpPr>
          <p:cNvPr id="38" name="Text 35"/>
          <p:cNvSpPr/>
          <p:nvPr/>
        </p:nvSpPr>
        <p:spPr>
          <a:xfrm>
            <a:off x="2361754" y="2824683"/>
            <a:ext cx="607107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6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reasoning</a:t>
            </a:r>
            <a:endParaRPr lang="en-US" sz="760" dirty="0"/>
          </a:p>
        </p:txBody>
      </p:sp>
      <p:sp>
        <p:nvSpPr>
          <p:cNvPr id="39" name="Shape 36"/>
          <p:cNvSpPr/>
          <p:nvPr/>
        </p:nvSpPr>
        <p:spPr>
          <a:xfrm>
            <a:off x="3777072" y="2374888"/>
            <a:ext cx="1628775" cy="1400175"/>
          </a:xfrm>
          <a:prstGeom prst="roundRect">
            <a:avLst>
              <a:gd name="adj" fmla="val 2612"/>
            </a:avLst>
          </a:prstGeom>
          <a:solidFill>
            <a:srgbClr val="11233E">
              <a:alpha val="80000"/>
            </a:srgbClr>
          </a:solidFill>
          <a:ln w="4763">
            <a:solidFill>
              <a:srgbClr val="24406B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3845272" y="2419424"/>
            <a:ext cx="105374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b="1" dirty="0">
                <a:solidFill>
                  <a:srgbClr val="E8F1F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Remembers You</a:t>
            </a:r>
            <a:endParaRPr lang="en-US" sz="790" dirty="0"/>
          </a:p>
        </p:txBody>
      </p:sp>
      <p:sp>
        <p:nvSpPr>
          <p:cNvPr id="41" name="Text 38"/>
          <p:cNvSpPr/>
          <p:nvPr/>
        </p:nvSpPr>
        <p:spPr>
          <a:xfrm>
            <a:off x="3845272" y="2560811"/>
            <a:ext cx="1920426" cy="392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39"/>
              </a:lnSpc>
              <a:buNone/>
            </a:pPr>
            <a:r>
              <a:rPr lang="en-US" sz="76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knows the conversation so far ·</a:t>
            </a:r>
            <a:endParaRPr lang="en-US" sz="760" dirty="0"/>
          </a:p>
          <a:p>
            <a:pPr algn="l" indent="0" marL="0">
              <a:lnSpc>
                <a:spcPts val="1039"/>
              </a:lnSpc>
              <a:buNone/>
            </a:pPr>
            <a:r>
              <a:rPr lang="en-US" sz="76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your history, country, grade, open</a:t>
            </a:r>
            <a:endParaRPr lang="en-US" sz="760" dirty="0"/>
          </a:p>
          <a:p>
            <a:pPr algn="l" indent="0" marL="0">
              <a:lnSpc>
                <a:spcPts val="1039"/>
              </a:lnSpc>
              <a:buNone/>
            </a:pPr>
            <a:r>
              <a:rPr lang="en-US" sz="76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cases</a:t>
            </a:r>
            <a:endParaRPr lang="en-US" sz="760" dirty="0"/>
          </a:p>
        </p:txBody>
      </p:sp>
      <p:sp>
        <p:nvSpPr>
          <p:cNvPr id="42" name="Shape 39"/>
          <p:cNvSpPr/>
          <p:nvPr/>
        </p:nvSpPr>
        <p:spPr>
          <a:xfrm>
            <a:off x="5470959" y="2374888"/>
            <a:ext cx="1628775" cy="1400175"/>
          </a:xfrm>
          <a:prstGeom prst="roundRect">
            <a:avLst>
              <a:gd name="adj" fmla="val 2612"/>
            </a:avLst>
          </a:prstGeom>
          <a:solidFill>
            <a:srgbClr val="11233E">
              <a:alpha val="80000"/>
            </a:srgbClr>
          </a:solidFill>
          <a:ln w="4763">
            <a:solidFill>
              <a:srgbClr val="24406B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5539160" y="2419424"/>
            <a:ext cx="924699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b="1" dirty="0">
                <a:solidFill>
                  <a:srgbClr val="E8F1F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Asks a Human</a:t>
            </a:r>
            <a:endParaRPr lang="en-US" sz="790" dirty="0"/>
          </a:p>
        </p:txBody>
      </p:sp>
      <p:sp>
        <p:nvSpPr>
          <p:cNvPr id="44" name="Text 41"/>
          <p:cNvSpPr/>
          <p:nvPr/>
        </p:nvSpPr>
        <p:spPr>
          <a:xfrm>
            <a:off x="5539160" y="2560811"/>
            <a:ext cx="1892275" cy="392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39"/>
              </a:lnSpc>
              <a:buNone/>
            </a:pPr>
            <a:r>
              <a:rPr lang="en-US" sz="76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unsure or sensitive? hands the</a:t>
            </a:r>
            <a:endParaRPr lang="en-US" sz="760" dirty="0"/>
          </a:p>
          <a:p>
            <a:pPr algn="l" indent="0" marL="0">
              <a:lnSpc>
                <a:spcPts val="1039"/>
              </a:lnSpc>
              <a:buNone/>
            </a:pPr>
            <a:r>
              <a:rPr lang="en-US" sz="76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case to HR ops with the full story</a:t>
            </a:r>
            <a:endParaRPr lang="en-US" sz="760" dirty="0"/>
          </a:p>
          <a:p>
            <a:pPr algn="l" indent="0" marL="0">
              <a:lnSpc>
                <a:spcPts val="1039"/>
              </a:lnSpc>
              <a:buNone/>
            </a:pPr>
            <a:r>
              <a:rPr lang="en-US" sz="76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attached</a:t>
            </a:r>
            <a:endParaRPr lang="en-US" sz="760" dirty="0"/>
          </a:p>
        </p:txBody>
      </p:sp>
      <p:sp>
        <p:nvSpPr>
          <p:cNvPr id="45" name="Text 42"/>
          <p:cNvSpPr/>
          <p:nvPr/>
        </p:nvSpPr>
        <p:spPr>
          <a:xfrm>
            <a:off x="3705820" y="3820418"/>
            <a:ext cx="157661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dirty="0">
                <a:solidFill>
                  <a:srgbClr val="3D6DB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▼</a:t>
            </a:r>
            <a:endParaRPr lang="en-US" sz="790" dirty="0"/>
          </a:p>
        </p:txBody>
      </p:sp>
      <p:sp>
        <p:nvSpPr>
          <p:cNvPr id="46" name="Shape 43"/>
          <p:cNvSpPr/>
          <p:nvPr/>
        </p:nvSpPr>
        <p:spPr>
          <a:xfrm>
            <a:off x="292522" y="3958828"/>
            <a:ext cx="2252663" cy="633412"/>
          </a:xfrm>
          <a:prstGeom prst="roundRect">
            <a:avLst>
              <a:gd name="adj" fmla="val 7218"/>
            </a:avLst>
          </a:prstGeom>
          <a:solidFill>
            <a:srgbClr val="0F2A47"/>
          </a:solidFill>
          <a:ln w="4763">
            <a:solidFill>
              <a:srgbClr val="2F5C94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418430" y="4015160"/>
            <a:ext cx="134347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FFFFFF"/>
                </a:solidFill>
                <a:highlight>
                  <a:srgbClr val="2F81F7"/>
                </a:highlight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6</a:t>
            </a:r>
            <a:endParaRPr lang="en-US" sz="760" dirty="0"/>
          </a:p>
        </p:txBody>
      </p:sp>
      <p:sp>
        <p:nvSpPr>
          <p:cNvPr id="48" name="Text 45"/>
          <p:cNvSpPr/>
          <p:nvPr/>
        </p:nvSpPr>
        <p:spPr>
          <a:xfrm>
            <a:off x="571574" y="4008313"/>
            <a:ext cx="1836457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7AC9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HR Policy Library &amp; Toolbox</a:t>
            </a:r>
            <a:endParaRPr lang="en-US" sz="830" dirty="0"/>
          </a:p>
        </p:txBody>
      </p:sp>
      <p:sp>
        <p:nvSpPr>
          <p:cNvPr id="49" name="Text 46"/>
          <p:cNvSpPr/>
          <p:nvPr/>
        </p:nvSpPr>
        <p:spPr>
          <a:xfrm>
            <a:off x="379586" y="4156472"/>
            <a:ext cx="2647898" cy="392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39"/>
              </a:lnSpc>
              <a:buNone/>
            </a:pPr>
            <a:r>
              <a:rPr lang="en-US" sz="760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HR policy database (per country, always</a:t>
            </a:r>
            <a:endParaRPr lang="en-US" sz="760" dirty="0"/>
          </a:p>
          <a:p>
            <a:pPr algn="l" indent="0" marL="0">
              <a:lnSpc>
                <a:spcPts val="1039"/>
              </a:lnSpc>
              <a:buNone/>
            </a:pPr>
            <a:r>
              <a:rPr lang="en-US" sz="760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current) · a catalog of approved actions agents</a:t>
            </a:r>
            <a:endParaRPr lang="en-US" sz="760" dirty="0"/>
          </a:p>
          <a:p>
            <a:pPr algn="l" indent="0" marL="0">
              <a:lnSpc>
                <a:spcPts val="1039"/>
              </a:lnSpc>
              <a:buNone/>
            </a:pPr>
            <a:r>
              <a:rPr lang="en-US" sz="760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may take</a:t>
            </a:r>
            <a:endParaRPr lang="en-US" sz="760" dirty="0"/>
          </a:p>
        </p:txBody>
      </p:sp>
      <p:sp>
        <p:nvSpPr>
          <p:cNvPr id="50" name="Shape 47"/>
          <p:cNvSpPr/>
          <p:nvPr/>
        </p:nvSpPr>
        <p:spPr>
          <a:xfrm>
            <a:off x="2618184" y="3958828"/>
            <a:ext cx="2252663" cy="633412"/>
          </a:xfrm>
          <a:prstGeom prst="roundRect">
            <a:avLst>
              <a:gd name="adj" fmla="val 7218"/>
            </a:avLst>
          </a:prstGeom>
          <a:solidFill>
            <a:srgbClr val="0F2A47"/>
          </a:solidFill>
          <a:ln w="4763">
            <a:solidFill>
              <a:srgbClr val="2F5C94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2744093" y="4015160"/>
            <a:ext cx="134347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FFFFFF"/>
                </a:solidFill>
                <a:highlight>
                  <a:srgbClr val="2F81F7"/>
                </a:highlight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6</a:t>
            </a:r>
            <a:endParaRPr lang="en-US" sz="760" dirty="0"/>
          </a:p>
        </p:txBody>
      </p:sp>
      <p:sp>
        <p:nvSpPr>
          <p:cNvPr id="52" name="Text 49"/>
          <p:cNvSpPr/>
          <p:nvPr/>
        </p:nvSpPr>
        <p:spPr>
          <a:xfrm>
            <a:off x="2897237" y="4008313"/>
            <a:ext cx="1425610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7AC9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Case File &amp; SLA Clock</a:t>
            </a:r>
            <a:endParaRPr lang="en-US" sz="830" dirty="0"/>
          </a:p>
        </p:txBody>
      </p:sp>
      <p:sp>
        <p:nvSpPr>
          <p:cNvPr id="53" name="Text 50"/>
          <p:cNvSpPr/>
          <p:nvPr/>
        </p:nvSpPr>
        <p:spPr>
          <a:xfrm>
            <a:off x="2705249" y="4156472"/>
            <a:ext cx="2591596" cy="260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39"/>
              </a:lnSpc>
              <a:buNone/>
            </a:pPr>
            <a:r>
              <a:rPr lang="en-US" sz="760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 request becomes a tracked case — who</a:t>
            </a:r>
            <a:endParaRPr lang="en-US" sz="760" dirty="0"/>
          </a:p>
          <a:p>
            <a:pPr algn="l" indent="0" marL="0">
              <a:lnSpc>
                <a:spcPts val="1039"/>
              </a:lnSpc>
              <a:buNone/>
            </a:pPr>
            <a:r>
              <a:rPr lang="en-US" sz="760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did what, when, and is it still on time</a:t>
            </a:r>
            <a:endParaRPr lang="en-US" sz="760" dirty="0"/>
          </a:p>
        </p:txBody>
      </p:sp>
      <p:sp>
        <p:nvSpPr>
          <p:cNvPr id="54" name="Shape 51"/>
          <p:cNvSpPr/>
          <p:nvPr/>
        </p:nvSpPr>
        <p:spPr>
          <a:xfrm>
            <a:off x="4943847" y="3958828"/>
            <a:ext cx="2252663" cy="633412"/>
          </a:xfrm>
          <a:prstGeom prst="roundRect">
            <a:avLst>
              <a:gd name="adj" fmla="val 7218"/>
            </a:avLst>
          </a:prstGeom>
          <a:solidFill>
            <a:srgbClr val="0F2A47"/>
          </a:solidFill>
          <a:ln w="4763">
            <a:solidFill>
              <a:srgbClr val="2F5C94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5069756" y="4015160"/>
            <a:ext cx="134347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FFFFFF"/>
                </a:solidFill>
                <a:highlight>
                  <a:srgbClr val="2F81F7"/>
                </a:highlight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6</a:t>
            </a:r>
            <a:endParaRPr lang="en-US" sz="760" dirty="0"/>
          </a:p>
        </p:txBody>
      </p:sp>
      <p:sp>
        <p:nvSpPr>
          <p:cNvPr id="56" name="Text 53"/>
          <p:cNvSpPr/>
          <p:nvPr/>
        </p:nvSpPr>
        <p:spPr>
          <a:xfrm>
            <a:off x="5222900" y="4008313"/>
            <a:ext cx="1072515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7AC9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Execution Desk</a:t>
            </a:r>
            <a:endParaRPr lang="en-US" sz="830" dirty="0"/>
          </a:p>
        </p:txBody>
      </p:sp>
      <p:sp>
        <p:nvSpPr>
          <p:cNvPr id="57" name="Text 54"/>
          <p:cNvSpPr/>
          <p:nvPr/>
        </p:nvSpPr>
        <p:spPr>
          <a:xfrm>
            <a:off x="5030912" y="4156472"/>
            <a:ext cx="2692591" cy="260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39"/>
              </a:lnSpc>
              <a:buNone/>
            </a:pPr>
            <a:r>
              <a:rPr lang="en-US" sz="760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actually makes the change — updates records,</a:t>
            </a:r>
            <a:endParaRPr lang="en-US" sz="760" dirty="0"/>
          </a:p>
          <a:p>
            <a:pPr algn="l" indent="0" marL="0">
              <a:lnSpc>
                <a:spcPts val="1039"/>
              </a:lnSpc>
              <a:buNone/>
            </a:pPr>
            <a:r>
              <a:rPr lang="en-US" sz="760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triggers payroll — with approval where required</a:t>
            </a:r>
            <a:endParaRPr lang="en-US" sz="760" dirty="0"/>
          </a:p>
        </p:txBody>
      </p:sp>
      <p:sp>
        <p:nvSpPr>
          <p:cNvPr id="58" name="Text 55"/>
          <p:cNvSpPr/>
          <p:nvPr/>
        </p:nvSpPr>
        <p:spPr>
          <a:xfrm>
            <a:off x="3705820" y="4591943"/>
            <a:ext cx="157661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dirty="0">
                <a:solidFill>
                  <a:srgbClr val="3D6DB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▼</a:t>
            </a:r>
            <a:endParaRPr lang="en-US" sz="790" dirty="0"/>
          </a:p>
        </p:txBody>
      </p:sp>
      <p:sp>
        <p:nvSpPr>
          <p:cNvPr id="59" name="Shape 56"/>
          <p:cNvSpPr/>
          <p:nvPr/>
        </p:nvSpPr>
        <p:spPr>
          <a:xfrm>
            <a:off x="291703" y="4730465"/>
            <a:ext cx="6905625" cy="247650"/>
          </a:xfrm>
          <a:prstGeom prst="roundRect">
            <a:avLst>
              <a:gd name="adj" fmla="val 18462"/>
            </a:avLst>
          </a:prstGeom>
          <a:solidFill>
            <a:srgbClr val="12233F"/>
          </a:solidFill>
          <a:ln w="4763">
            <a:solidFill>
              <a:srgbClr val="24406B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430709" y="4791819"/>
            <a:ext cx="126318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FFFFFF"/>
                </a:solidFill>
                <a:highlight>
                  <a:srgbClr val="2F81F7"/>
                </a:highlight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7</a:t>
            </a:r>
            <a:endParaRPr lang="en-US" sz="760" dirty="0"/>
          </a:p>
        </p:txBody>
      </p:sp>
      <p:sp>
        <p:nvSpPr>
          <p:cNvPr id="61" name="Text 58"/>
          <p:cNvSpPr/>
          <p:nvPr/>
        </p:nvSpPr>
        <p:spPr>
          <a:xfrm>
            <a:off x="580727" y="4784973"/>
            <a:ext cx="1394170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E8F1F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Where HR Data Lives</a:t>
            </a:r>
            <a:endParaRPr lang="en-US" sz="830" dirty="0"/>
          </a:p>
        </p:txBody>
      </p:sp>
      <p:sp>
        <p:nvSpPr>
          <p:cNvPr id="62" name="Text 59"/>
          <p:cNvSpPr/>
          <p:nvPr/>
        </p:nvSpPr>
        <p:spPr>
          <a:xfrm>
            <a:off x="3657898" y="4783559"/>
            <a:ext cx="4532263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dirty="0">
                <a:solidFill>
                  <a:srgbClr val="7AC9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HR record system · payroll · benefits · ticketing — unchanged, just connected</a:t>
            </a:r>
            <a:endParaRPr lang="en-US" sz="790" dirty="0"/>
          </a:p>
        </p:txBody>
      </p:sp>
      <p:sp>
        <p:nvSpPr>
          <p:cNvPr id="63" name="Text 60"/>
          <p:cNvSpPr/>
          <p:nvPr/>
        </p:nvSpPr>
        <p:spPr>
          <a:xfrm>
            <a:off x="7608027" y="553194"/>
            <a:ext cx="932244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60" spc="136" kern="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ALWAYS ON</a:t>
            </a:r>
            <a:endParaRPr lang="en-US" sz="760" dirty="0"/>
          </a:p>
        </p:txBody>
      </p:sp>
      <p:sp>
        <p:nvSpPr>
          <p:cNvPr id="64" name="Shape 61"/>
          <p:cNvSpPr/>
          <p:nvPr/>
        </p:nvSpPr>
        <p:spPr>
          <a:xfrm>
            <a:off x="7297899" y="729481"/>
            <a:ext cx="1552575" cy="819150"/>
          </a:xfrm>
          <a:prstGeom prst="roundRect">
            <a:avLst>
              <a:gd name="adj" fmla="val 5581"/>
            </a:avLst>
          </a:prstGeom>
          <a:solidFill>
            <a:srgbClr val="16273F"/>
          </a:solidFill>
          <a:ln w="4763">
            <a:solidFill>
              <a:srgbClr val="2A4568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7374880" y="778594"/>
            <a:ext cx="1054231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E8F1F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Access Badges</a:t>
            </a:r>
            <a:endParaRPr lang="en-US" sz="830" dirty="0"/>
          </a:p>
        </p:txBody>
      </p:sp>
      <p:sp>
        <p:nvSpPr>
          <p:cNvPr id="66" name="Text 63"/>
          <p:cNvSpPr/>
          <p:nvPr/>
        </p:nvSpPr>
        <p:spPr>
          <a:xfrm>
            <a:off x="7374880" y="926753"/>
            <a:ext cx="1579811" cy="260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39"/>
              </a:lnSpc>
              <a:buNone/>
            </a:pPr>
            <a:r>
              <a:rPr lang="en-US" sz="76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people and agents only see</a:t>
            </a:r>
            <a:endParaRPr lang="en-US" sz="760" dirty="0"/>
          </a:p>
          <a:p>
            <a:pPr algn="l" indent="0" marL="0">
              <a:lnSpc>
                <a:spcPts val="1039"/>
              </a:lnSpc>
              <a:buNone/>
            </a:pPr>
            <a:r>
              <a:rPr lang="en-US" sz="76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their role allows</a:t>
            </a:r>
            <a:endParaRPr lang="en-US" sz="760" dirty="0"/>
          </a:p>
        </p:txBody>
      </p:sp>
      <p:sp>
        <p:nvSpPr>
          <p:cNvPr id="67" name="Shape 64"/>
          <p:cNvSpPr/>
          <p:nvPr/>
        </p:nvSpPr>
        <p:spPr>
          <a:xfrm>
            <a:off x="7297899" y="1586805"/>
            <a:ext cx="1552575" cy="819150"/>
          </a:xfrm>
          <a:prstGeom prst="roundRect">
            <a:avLst>
              <a:gd name="adj" fmla="val 5581"/>
            </a:avLst>
          </a:prstGeom>
          <a:solidFill>
            <a:srgbClr val="16273F"/>
          </a:solidFill>
          <a:ln w="4763">
            <a:solidFill>
              <a:srgbClr val="2A4568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7374880" y="1635919"/>
            <a:ext cx="760050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E8F1F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Safety Net</a:t>
            </a:r>
            <a:endParaRPr lang="en-US" sz="830" dirty="0"/>
          </a:p>
        </p:txBody>
      </p:sp>
      <p:sp>
        <p:nvSpPr>
          <p:cNvPr id="69" name="Text 66"/>
          <p:cNvSpPr/>
          <p:nvPr/>
        </p:nvSpPr>
        <p:spPr>
          <a:xfrm>
            <a:off x="7374880" y="1784077"/>
            <a:ext cx="1755197" cy="392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39"/>
              </a:lnSpc>
              <a:buNone/>
            </a:pPr>
            <a:r>
              <a:rPr lang="en-US" sz="76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blocks unsafe content · hides</a:t>
            </a:r>
            <a:endParaRPr lang="en-US" sz="760" dirty="0"/>
          </a:p>
          <a:p>
            <a:pPr algn="l" indent="0" marL="0">
              <a:lnSpc>
                <a:spcPts val="1039"/>
              </a:lnSpc>
              <a:buNone/>
            </a:pPr>
            <a:r>
              <a:rPr lang="en-US" sz="76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personal data · keeps answers</a:t>
            </a:r>
            <a:endParaRPr lang="en-US" sz="760" dirty="0"/>
          </a:p>
          <a:p>
            <a:pPr algn="l" indent="0" marL="0">
              <a:lnSpc>
                <a:spcPts val="1039"/>
              </a:lnSpc>
              <a:buNone/>
            </a:pPr>
            <a:r>
              <a:rPr lang="en-US" sz="76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policy</a:t>
            </a:r>
            <a:endParaRPr lang="en-US" sz="760" dirty="0"/>
          </a:p>
        </p:txBody>
      </p:sp>
      <p:sp>
        <p:nvSpPr>
          <p:cNvPr id="70" name="Shape 67"/>
          <p:cNvSpPr/>
          <p:nvPr/>
        </p:nvSpPr>
        <p:spPr>
          <a:xfrm>
            <a:off x="7297899" y="2444130"/>
            <a:ext cx="1552575" cy="819150"/>
          </a:xfrm>
          <a:prstGeom prst="roundRect">
            <a:avLst>
              <a:gd name="adj" fmla="val 5581"/>
            </a:avLst>
          </a:prstGeom>
          <a:solidFill>
            <a:srgbClr val="16273F"/>
          </a:solidFill>
          <a:ln w="4763">
            <a:solidFill>
              <a:srgbClr val="2A4568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7374880" y="2493243"/>
            <a:ext cx="1054812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E8F1F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Quality Control</a:t>
            </a:r>
            <a:endParaRPr lang="en-US" sz="830" dirty="0"/>
          </a:p>
        </p:txBody>
      </p:sp>
      <p:sp>
        <p:nvSpPr>
          <p:cNvPr id="72" name="Text 69"/>
          <p:cNvSpPr/>
          <p:nvPr/>
        </p:nvSpPr>
        <p:spPr>
          <a:xfrm>
            <a:off x="7374880" y="2641402"/>
            <a:ext cx="1767967" cy="392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39"/>
              </a:lnSpc>
              <a:buNone/>
            </a:pPr>
            <a:r>
              <a:rPr lang="en-US" sz="76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 agent answer is logged,</a:t>
            </a:r>
            <a:endParaRPr lang="en-US" sz="760" dirty="0"/>
          </a:p>
          <a:p>
            <a:pPr algn="l" indent="0" marL="0">
              <a:lnSpc>
                <a:spcPts val="1039"/>
              </a:lnSpc>
              <a:buNone/>
            </a:pPr>
            <a:r>
              <a:rPr lang="en-US" sz="76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sampled and scored — like call</a:t>
            </a:r>
            <a:endParaRPr lang="en-US" sz="760" dirty="0"/>
          </a:p>
          <a:p>
            <a:pPr algn="l" indent="0" marL="0">
              <a:lnSpc>
                <a:spcPts val="1039"/>
              </a:lnSpc>
              <a:buNone/>
            </a:pPr>
            <a:r>
              <a:rPr lang="en-US" sz="76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QA</a:t>
            </a:r>
            <a:endParaRPr lang="en-US" sz="760" dirty="0"/>
          </a:p>
        </p:txBody>
      </p:sp>
      <p:sp>
        <p:nvSpPr>
          <p:cNvPr id="73" name="Shape 70"/>
          <p:cNvSpPr/>
          <p:nvPr/>
        </p:nvSpPr>
        <p:spPr>
          <a:xfrm>
            <a:off x="7297899" y="3301454"/>
            <a:ext cx="1552575" cy="819150"/>
          </a:xfrm>
          <a:prstGeom prst="roundRect">
            <a:avLst>
              <a:gd name="adj" fmla="val 5581"/>
            </a:avLst>
          </a:prstGeom>
          <a:solidFill>
            <a:srgbClr val="16273F"/>
          </a:solidFill>
          <a:ln w="4763">
            <a:solidFill>
              <a:srgbClr val="2A4568"/>
            </a:solidFill>
            <a:prstDash val="solid"/>
          </a:ln>
        </p:spPr>
      </p:sp>
      <p:sp>
        <p:nvSpPr>
          <p:cNvPr id="74" name="Text 71"/>
          <p:cNvSpPr/>
          <p:nvPr/>
        </p:nvSpPr>
        <p:spPr>
          <a:xfrm>
            <a:off x="7374880" y="3350568"/>
            <a:ext cx="693785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E8F1F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Oversight</a:t>
            </a:r>
            <a:endParaRPr lang="en-US" sz="830" dirty="0"/>
          </a:p>
        </p:txBody>
      </p:sp>
      <p:sp>
        <p:nvSpPr>
          <p:cNvPr id="75" name="Text 72"/>
          <p:cNvSpPr/>
          <p:nvPr/>
        </p:nvSpPr>
        <p:spPr>
          <a:xfrm>
            <a:off x="7374880" y="3498726"/>
            <a:ext cx="1819335" cy="260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39"/>
              </a:lnSpc>
              <a:buNone/>
            </a:pPr>
            <a:r>
              <a:rPr lang="en-US" sz="76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 handling rules, audit trail,</a:t>
            </a:r>
            <a:endParaRPr lang="en-US" sz="760" dirty="0"/>
          </a:p>
          <a:p>
            <a:pPr algn="l" indent="0" marL="0">
              <a:lnSpc>
                <a:spcPts val="1039"/>
              </a:lnSpc>
              <a:buNone/>
            </a:pPr>
            <a:r>
              <a:rPr lang="en-US" sz="76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and cost per case under control</a:t>
            </a:r>
            <a:endParaRPr lang="en-US" sz="760" dirty="0"/>
          </a:p>
        </p:txBody>
      </p:sp>
      <p:sp>
        <p:nvSpPr>
          <p:cNvPr id="76" name="Shape 73"/>
          <p:cNvSpPr/>
          <p:nvPr/>
        </p:nvSpPr>
        <p:spPr>
          <a:xfrm>
            <a:off x="7297899" y="4158779"/>
            <a:ext cx="1552575" cy="819150"/>
          </a:xfrm>
          <a:prstGeom prst="roundRect">
            <a:avLst>
              <a:gd name="adj" fmla="val 5581"/>
            </a:avLst>
          </a:prstGeom>
          <a:solidFill>
            <a:srgbClr val="16273F"/>
          </a:solidFill>
          <a:ln w="4763">
            <a:solidFill>
              <a:srgbClr val="2A4568"/>
            </a:solidFill>
            <a:prstDash val="solid"/>
          </a:ln>
        </p:spPr>
      </p:sp>
      <p:sp>
        <p:nvSpPr>
          <p:cNvPr id="77" name="Text 74"/>
          <p:cNvSpPr/>
          <p:nvPr/>
        </p:nvSpPr>
        <p:spPr>
          <a:xfrm>
            <a:off x="7374880" y="4207892"/>
            <a:ext cx="842858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E8F1F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Dashboards</a:t>
            </a:r>
            <a:endParaRPr lang="en-US" sz="830" dirty="0"/>
          </a:p>
        </p:txBody>
      </p:sp>
      <p:sp>
        <p:nvSpPr>
          <p:cNvPr id="78" name="Text 75"/>
          <p:cNvSpPr/>
          <p:nvPr/>
        </p:nvSpPr>
        <p:spPr>
          <a:xfrm>
            <a:off x="7374880" y="4356050"/>
            <a:ext cx="1737300" cy="392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39"/>
              </a:lnSpc>
              <a:buNone/>
            </a:pPr>
            <a:r>
              <a:rPr lang="en-US" sz="76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self-service rate, speed,</a:t>
            </a:r>
            <a:endParaRPr lang="en-US" sz="760" dirty="0"/>
          </a:p>
          <a:p>
            <a:pPr algn="l" indent="0" marL="0">
              <a:lnSpc>
                <a:spcPts val="1039"/>
              </a:lnSpc>
              <a:buNone/>
            </a:pPr>
            <a:r>
              <a:rPr lang="en-US" sz="76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satisfaction, cost — live for HR</a:t>
            </a:r>
            <a:endParaRPr lang="en-US" sz="760" dirty="0"/>
          </a:p>
          <a:p>
            <a:pPr algn="l" indent="0" marL="0">
              <a:lnSpc>
                <a:spcPts val="1039"/>
              </a:lnSpc>
              <a:buNone/>
            </a:pPr>
            <a:r>
              <a:rPr lang="en-US" sz="76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leadership</a:t>
            </a:r>
            <a:endParaRPr lang="en-US" sz="7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52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-967" y="-484"/>
            <a:ext cx="3476625" cy="52388"/>
          </a:xfrm>
          <a:prstGeom prst="rect">
            <a:avLst/>
          </a:prstGeom>
          <a:solidFill>
            <a:srgbClr val="2F81F7"/>
          </a:solidFill>
          <a:ln/>
        </p:spPr>
      </p:sp>
      <p:sp>
        <p:nvSpPr>
          <p:cNvPr id="5" name="Text 2"/>
          <p:cNvSpPr/>
          <p:nvPr/>
        </p:nvSpPr>
        <p:spPr>
          <a:xfrm>
            <a:off x="640035" y="420960"/>
            <a:ext cx="3738622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spc="238" kern="0" dirty="0">
                <a:solidFill>
                  <a:srgbClr val="7AC9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LAYER 1 · MEET THE EMPLOYEE</a:t>
            </a:r>
            <a:endParaRPr lang="en-US" sz="1080" dirty="0"/>
          </a:p>
        </p:txBody>
      </p:sp>
      <p:sp>
        <p:nvSpPr>
          <p:cNvPr id="6" name="Text 3"/>
          <p:cNvSpPr/>
          <p:nvPr/>
        </p:nvSpPr>
        <p:spPr>
          <a:xfrm>
            <a:off x="640035" y="706636"/>
            <a:ext cx="8295672" cy="4429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405"/>
              </a:spcBef>
              <a:buNone/>
            </a:pPr>
            <a:r>
              <a:rPr lang="en-US" sz="2740" b="1" spc="-68" kern="0" dirty="0">
                <a:solidFill>
                  <a:srgbClr val="E8F1F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Agentic Experience &amp; Multimodal Intake</a:t>
            </a:r>
            <a:endParaRPr lang="en-US" sz="2740" dirty="0"/>
          </a:p>
        </p:txBody>
      </p:sp>
      <p:sp>
        <p:nvSpPr>
          <p:cNvPr id="7" name="Shape 4"/>
          <p:cNvSpPr/>
          <p:nvPr/>
        </p:nvSpPr>
        <p:spPr>
          <a:xfrm>
            <a:off x="639589" y="1446014"/>
            <a:ext cx="3795712" cy="2452688"/>
          </a:xfrm>
          <a:prstGeom prst="roundRect">
            <a:avLst>
              <a:gd name="adj" fmla="val 3728"/>
            </a:avLst>
          </a:prstGeom>
          <a:solidFill>
            <a:srgbClr val="111F38"/>
          </a:solidFill>
          <a:ln/>
        </p:spPr>
      </p:sp>
      <p:sp>
        <p:nvSpPr>
          <p:cNvPr id="8" name="Text 5"/>
          <p:cNvSpPr/>
          <p:nvPr/>
        </p:nvSpPr>
        <p:spPr>
          <a:xfrm>
            <a:off x="841177" y="1667024"/>
            <a:ext cx="2139442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10" dirty="0">
                <a:solidFill>
                  <a:srgbClr val="2F81F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Experience Layer</a:t>
            </a:r>
            <a:endParaRPr lang="en-US" sz="1510" dirty="0"/>
          </a:p>
        </p:txBody>
      </p:sp>
      <p:sp>
        <p:nvSpPr>
          <p:cNvPr id="9" name="Text 6"/>
          <p:cNvSpPr/>
          <p:nvPr/>
        </p:nvSpPr>
        <p:spPr>
          <a:xfrm>
            <a:off x="841177" y="2062609"/>
            <a:ext cx="3997107" cy="9845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47"/>
              </a:lnSpc>
              <a:buNone/>
            </a:pPr>
            <a:r>
              <a:rPr lang="en-US" sz="1260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Named AI personas — "Mia" for payroll,</a:t>
            </a:r>
            <a:endParaRPr lang="en-US" sz="1260" dirty="0"/>
          </a:p>
          <a:p>
            <a:pPr algn="l" indent="0" marL="0">
              <a:lnSpc>
                <a:spcPts val="2047"/>
              </a:lnSpc>
              <a:buNone/>
            </a:pPr>
            <a:r>
              <a:rPr lang="en-US" sz="1260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"Leo" for onboarding — meet employees</a:t>
            </a:r>
            <a:endParaRPr lang="en-US" sz="1260" dirty="0"/>
          </a:p>
          <a:p>
            <a:pPr algn="l" indent="0" marL="0">
              <a:lnSpc>
                <a:spcPts val="2047"/>
              </a:lnSpc>
              <a:buNone/>
            </a:pPr>
            <a:r>
              <a:rPr lang="en-US" sz="1260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 Teams, web, email and voice for instant,</a:t>
            </a:r>
            <a:endParaRPr lang="en-US" sz="1260" dirty="0"/>
          </a:p>
          <a:p>
            <a:pPr algn="l" indent="0" marL="0">
              <a:lnSpc>
                <a:spcPts val="2047"/>
              </a:lnSpc>
              <a:buNone/>
            </a:pPr>
            <a:r>
              <a:rPr lang="en-US" sz="1260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autonomous resolution.</a:t>
            </a:r>
            <a:endParaRPr lang="en-US" sz="1260" dirty="0"/>
          </a:p>
        </p:txBody>
      </p:sp>
      <p:sp>
        <p:nvSpPr>
          <p:cNvPr id="10" name="Text 7"/>
          <p:cNvSpPr/>
          <p:nvPr/>
        </p:nvSpPr>
        <p:spPr>
          <a:xfrm>
            <a:off x="841177" y="3255169"/>
            <a:ext cx="4032610" cy="416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13"/>
              </a:lnSpc>
              <a:buNone/>
            </a:pPr>
            <a:r>
              <a:rPr lang="en-US" sz="112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Azure AI Foundry Agent Service + Copilot Studio</a:t>
            </a:r>
            <a:endParaRPr lang="en-US" sz="1120" dirty="0"/>
          </a:p>
          <a:p>
            <a:pPr algn="l" indent="0" marL="0">
              <a:lnSpc>
                <a:spcPts val="1813"/>
              </a:lnSpc>
              <a:buNone/>
            </a:pPr>
            <a:r>
              <a:rPr lang="en-US" sz="112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orchestrate the personas.</a:t>
            </a:r>
            <a:endParaRPr lang="en-US" sz="1120" dirty="0"/>
          </a:p>
        </p:txBody>
      </p:sp>
      <p:sp>
        <p:nvSpPr>
          <p:cNvPr id="11" name="Shape 8"/>
          <p:cNvSpPr/>
          <p:nvPr/>
        </p:nvSpPr>
        <p:spPr>
          <a:xfrm>
            <a:off x="4708699" y="1446014"/>
            <a:ext cx="3795712" cy="2452688"/>
          </a:xfrm>
          <a:prstGeom prst="roundRect">
            <a:avLst>
              <a:gd name="adj" fmla="val 3728"/>
            </a:avLst>
          </a:prstGeom>
          <a:solidFill>
            <a:srgbClr val="111F38"/>
          </a:solidFill>
          <a:ln/>
        </p:spPr>
      </p:sp>
      <p:sp>
        <p:nvSpPr>
          <p:cNvPr id="12" name="Text 9"/>
          <p:cNvSpPr/>
          <p:nvPr/>
        </p:nvSpPr>
        <p:spPr>
          <a:xfrm>
            <a:off x="4910286" y="1667024"/>
            <a:ext cx="2141666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10" dirty="0">
                <a:solidFill>
                  <a:srgbClr val="2F81F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Multimodal Layer</a:t>
            </a:r>
            <a:endParaRPr lang="en-US" sz="1510" dirty="0"/>
          </a:p>
        </p:txBody>
      </p:sp>
      <p:sp>
        <p:nvSpPr>
          <p:cNvPr id="13" name="Text 10"/>
          <p:cNvSpPr/>
          <p:nvPr/>
        </p:nvSpPr>
        <p:spPr>
          <a:xfrm>
            <a:off x="4910286" y="2062609"/>
            <a:ext cx="4428946" cy="2047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810"/>
              </a:spcBef>
              <a:buNone/>
            </a:pPr>
            <a:r>
              <a:rPr lang="en-US" sz="1260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Documents, voice files, videos and images flow</a:t>
            </a:r>
            <a:endParaRPr lang="en-US" sz="1260" dirty="0"/>
          </a:p>
        </p:txBody>
      </p:sp>
      <p:sp>
        <p:nvSpPr>
          <p:cNvPr id="14" name="Text 11"/>
          <p:cNvSpPr/>
          <p:nvPr/>
        </p:nvSpPr>
        <p:spPr>
          <a:xfrm>
            <a:off x="4910286" y="2322537"/>
            <a:ext cx="4084268" cy="2047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810"/>
              </a:spcBef>
              <a:buNone/>
            </a:pPr>
            <a:r>
              <a:rPr lang="en-US" sz="1260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 through Azure AI Document Intelligence,</a:t>
            </a:r>
            <a:endParaRPr lang="en-US" sz="1260" dirty="0"/>
          </a:p>
        </p:txBody>
      </p:sp>
      <p:sp>
        <p:nvSpPr>
          <p:cNvPr id="15" name="Text 12"/>
          <p:cNvSpPr/>
          <p:nvPr/>
        </p:nvSpPr>
        <p:spPr>
          <a:xfrm>
            <a:off x="4910286" y="2582466"/>
            <a:ext cx="3811853" cy="2047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810"/>
              </a:spcBef>
              <a:buNone/>
            </a:pPr>
            <a:r>
              <a:rPr lang="en-US" sz="1260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Speech-to-Text, Video Indexer and GPT-4o</a:t>
            </a:r>
            <a:endParaRPr lang="en-US" sz="1260" dirty="0"/>
          </a:p>
        </p:txBody>
      </p:sp>
      <p:sp>
        <p:nvSpPr>
          <p:cNvPr id="16" name="Text 13"/>
          <p:cNvSpPr/>
          <p:nvPr/>
        </p:nvSpPr>
        <p:spPr>
          <a:xfrm>
            <a:off x="5133529" y="2842394"/>
            <a:ext cx="655670" cy="2047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810"/>
              </a:spcBef>
              <a:buNone/>
            </a:pPr>
            <a:r>
              <a:rPr lang="en-US" sz="1260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vision.</a:t>
            </a:r>
            <a:endParaRPr lang="en-US" sz="1260" dirty="0"/>
          </a:p>
        </p:txBody>
      </p:sp>
      <p:sp>
        <p:nvSpPr>
          <p:cNvPr id="17" name="Text 14"/>
          <p:cNvSpPr/>
          <p:nvPr/>
        </p:nvSpPr>
        <p:spPr>
          <a:xfrm>
            <a:off x="4910286" y="3485480"/>
            <a:ext cx="4295931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2245"/>
              </a:spcBef>
              <a:buNone/>
            </a:pPr>
            <a:r>
              <a:rPr lang="en-US" sz="112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 format becomes structured, actionable input.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640556" y="4103489"/>
            <a:ext cx="7862887" cy="628650"/>
          </a:xfrm>
          <a:prstGeom prst="roundRect">
            <a:avLst>
              <a:gd name="adj" fmla="val 11636"/>
            </a:avLst>
          </a:prstGeom>
          <a:solidFill>
            <a:srgbClr val="0E2440"/>
          </a:solidFill>
          <a:ln/>
        </p:spPr>
      </p:sp>
      <p:sp>
        <p:nvSpPr>
          <p:cNvPr id="19" name="Text 16"/>
          <p:cNvSpPr/>
          <p:nvPr/>
        </p:nvSpPr>
        <p:spPr>
          <a:xfrm>
            <a:off x="822871" y="4322341"/>
            <a:ext cx="827670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7AC9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Example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1552724" y="4221435"/>
            <a:ext cx="8727318" cy="386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84"/>
              </a:lnSpc>
              <a:buNone/>
            </a:pPr>
            <a:r>
              <a:rPr lang="en-US" sz="1150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 employee uploads a photographed marriage certificate plus a voice note — the platform reads both</a:t>
            </a:r>
            <a:endParaRPr lang="en-US" sz="1150" dirty="0"/>
          </a:p>
          <a:p>
            <a:pPr algn="l" indent="0" marL="0">
              <a:lnSpc>
                <a:spcPts val="1584"/>
              </a:lnSpc>
              <a:buNone/>
            </a:pPr>
            <a:r>
              <a:rPr lang="en-US" sz="1150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and triggers a life-event benefits change.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52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30" y="-484"/>
            <a:ext cx="4752975" cy="52388"/>
          </a:xfrm>
          <a:prstGeom prst="rect">
            <a:avLst/>
          </a:prstGeom>
          <a:solidFill>
            <a:srgbClr val="2F81F7"/>
          </a:solidFill>
          <a:ln/>
        </p:spPr>
      </p:sp>
      <p:sp>
        <p:nvSpPr>
          <p:cNvPr id="5" name="Text 2"/>
          <p:cNvSpPr/>
          <p:nvPr/>
        </p:nvSpPr>
        <p:spPr>
          <a:xfrm>
            <a:off x="640035" y="420960"/>
            <a:ext cx="4411630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spc="238" kern="0" dirty="0">
                <a:solidFill>
                  <a:srgbClr val="7AC9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LAYER 2 · UNDERSTAND &amp; CONVERSE</a:t>
            </a:r>
            <a:endParaRPr lang="en-US" sz="1080" dirty="0"/>
          </a:p>
        </p:txBody>
      </p:sp>
      <p:sp>
        <p:nvSpPr>
          <p:cNvPr id="6" name="Text 3"/>
          <p:cNvSpPr/>
          <p:nvPr/>
        </p:nvSpPr>
        <p:spPr>
          <a:xfrm>
            <a:off x="640035" y="706636"/>
            <a:ext cx="8838954" cy="964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103"/>
              </a:lnSpc>
              <a:buNone/>
            </a:pPr>
            <a:r>
              <a:rPr lang="en-US" sz="2740" b="1" spc="-68" kern="0" dirty="0">
                <a:solidFill>
                  <a:srgbClr val="E8F1F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Intent Classification, Routing &amp; Multi-Loop</a:t>
            </a:r>
            <a:endParaRPr lang="en-US" sz="2740" dirty="0"/>
          </a:p>
          <a:p>
            <a:pPr algn="l" indent="0" marL="0">
              <a:lnSpc>
                <a:spcPts val="4103"/>
              </a:lnSpc>
              <a:buNone/>
            </a:pPr>
            <a:r>
              <a:rPr lang="en-US" sz="2740" b="1" spc="-68" kern="0" dirty="0">
                <a:solidFill>
                  <a:srgbClr val="E8F1F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Conversations</a:t>
            </a:r>
            <a:endParaRPr lang="en-US" sz="2740" dirty="0"/>
          </a:p>
        </p:txBody>
      </p:sp>
      <p:sp>
        <p:nvSpPr>
          <p:cNvPr id="7" name="Text 4"/>
          <p:cNvSpPr/>
          <p:nvPr/>
        </p:nvSpPr>
        <p:spPr>
          <a:xfrm>
            <a:off x="640035" y="1982242"/>
            <a:ext cx="1386141" cy="2238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70" dirty="0">
                <a:solidFill>
                  <a:srgbClr val="2F81F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Intent Layer</a:t>
            </a:r>
            <a:endParaRPr lang="en-US" sz="1370" dirty="0"/>
          </a:p>
        </p:txBody>
      </p:sp>
      <p:sp>
        <p:nvSpPr>
          <p:cNvPr id="8" name="Text 5"/>
          <p:cNvSpPr/>
          <p:nvPr/>
        </p:nvSpPr>
        <p:spPr>
          <a:xfrm>
            <a:off x="640035" y="2303785"/>
            <a:ext cx="4853337" cy="9308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31"/>
              </a:lnSpc>
              <a:buNone/>
            </a:pPr>
            <a:r>
              <a:rPr lang="en-US" sz="1190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Classifies every request against the HRO intent catalog</a:t>
            </a:r>
            <a:endParaRPr lang="en-US" sz="1190" dirty="0"/>
          </a:p>
          <a:p>
            <a:pPr algn="l" indent="0" marL="0">
              <a:lnSpc>
                <a:spcPts val="1931"/>
              </a:lnSpc>
              <a:buNone/>
            </a:pPr>
            <a:r>
              <a:rPr lang="en-US" sz="1190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— payroll, leave, benefits, letters, exits — then</a:t>
            </a:r>
            <a:endParaRPr lang="en-US" sz="1190" dirty="0"/>
          </a:p>
          <a:p>
            <a:pPr algn="l" indent="0" marL="0">
              <a:lnSpc>
                <a:spcPts val="1931"/>
              </a:lnSpc>
              <a:buNone/>
            </a:pPr>
            <a:r>
              <a:rPr lang="en-US" sz="1190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prioritizes and routes via Azure AI Foundry classifiers</a:t>
            </a:r>
            <a:endParaRPr lang="en-US" sz="1190" dirty="0"/>
          </a:p>
          <a:p>
            <a:pPr algn="l" indent="0" marL="0">
              <a:lnSpc>
                <a:spcPts val="1931"/>
              </a:lnSpc>
              <a:buNone/>
            </a:pPr>
            <a:r>
              <a:rPr lang="en-US" sz="1190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and Service Bus.</a:t>
            </a:r>
            <a:endParaRPr lang="en-US" sz="1190" dirty="0"/>
          </a:p>
        </p:txBody>
      </p:sp>
      <p:sp>
        <p:nvSpPr>
          <p:cNvPr id="9" name="Text 6"/>
          <p:cNvSpPr/>
          <p:nvPr/>
        </p:nvSpPr>
        <p:spPr>
          <a:xfrm>
            <a:off x="4709145" y="1982242"/>
            <a:ext cx="2422498" cy="2238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70" dirty="0">
                <a:solidFill>
                  <a:srgbClr val="2F81F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Communication Layer</a:t>
            </a:r>
            <a:endParaRPr lang="en-US" sz="1370" dirty="0"/>
          </a:p>
        </p:txBody>
      </p:sp>
      <p:sp>
        <p:nvSpPr>
          <p:cNvPr id="10" name="Text 7"/>
          <p:cNvSpPr/>
          <p:nvPr/>
        </p:nvSpPr>
        <p:spPr>
          <a:xfrm>
            <a:off x="4709145" y="2303785"/>
            <a:ext cx="4539615" cy="685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31"/>
              </a:lnSpc>
              <a:buNone/>
            </a:pPr>
            <a:r>
              <a:rPr lang="en-US" sz="1190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Multi-agent, multi-loop conversations over the A2A</a:t>
            </a:r>
            <a:endParaRPr lang="en-US" sz="1190" dirty="0"/>
          </a:p>
          <a:p>
            <a:pPr algn="l" indent="0" marL="0">
              <a:lnSpc>
                <a:spcPts val="1931"/>
              </a:lnSpc>
              <a:buNone/>
            </a:pPr>
            <a:r>
              <a:rPr lang="en-US" sz="1190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(agent-to-agent) protocol, with human-in-the-loop</a:t>
            </a:r>
            <a:endParaRPr lang="en-US" sz="1190" dirty="0"/>
          </a:p>
          <a:p>
            <a:pPr algn="l" indent="0" marL="0">
              <a:lnSpc>
                <a:spcPts val="1931"/>
              </a:lnSpc>
              <a:buNone/>
            </a:pPr>
            <a:r>
              <a:rPr lang="en-US" sz="1190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checkpoints for approvals and escalations.</a:t>
            </a:r>
            <a:endParaRPr lang="en-US" sz="1190" dirty="0"/>
          </a:p>
        </p:txBody>
      </p:sp>
      <p:sp>
        <p:nvSpPr>
          <p:cNvPr id="11" name="Text 8"/>
          <p:cNvSpPr/>
          <p:nvPr/>
        </p:nvSpPr>
        <p:spPr>
          <a:xfrm>
            <a:off x="640035" y="3429298"/>
            <a:ext cx="3081866" cy="2238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70" dirty="0">
                <a:solidFill>
                  <a:srgbClr val="2F81F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Loop &amp; Harness Engineering</a:t>
            </a:r>
            <a:endParaRPr lang="en-US" sz="1370" dirty="0"/>
          </a:p>
        </p:txBody>
      </p:sp>
      <p:sp>
        <p:nvSpPr>
          <p:cNvPr id="12" name="Text 9"/>
          <p:cNvSpPr/>
          <p:nvPr/>
        </p:nvSpPr>
        <p:spPr>
          <a:xfrm>
            <a:off x="640035" y="3750841"/>
            <a:ext cx="9829651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405"/>
              </a:spcBef>
              <a:buNone/>
            </a:pPr>
            <a:r>
              <a:rPr lang="en-US" sz="1190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Bounded agent loops, retry budgets and evaluation harnesses keep conversations convergent — never runaway.</a:t>
            </a:r>
            <a:endParaRPr lang="en-US" sz="1190" dirty="0"/>
          </a:p>
        </p:txBody>
      </p:sp>
      <p:sp>
        <p:nvSpPr>
          <p:cNvPr id="13" name="Shape 10"/>
          <p:cNvSpPr/>
          <p:nvPr/>
        </p:nvSpPr>
        <p:spPr>
          <a:xfrm>
            <a:off x="640556" y="4103489"/>
            <a:ext cx="7862887" cy="628650"/>
          </a:xfrm>
          <a:prstGeom prst="roundRect">
            <a:avLst>
              <a:gd name="adj" fmla="val 11636"/>
            </a:avLst>
          </a:prstGeom>
          <a:solidFill>
            <a:srgbClr val="0E2440"/>
          </a:solidFill>
          <a:ln/>
        </p:spPr>
      </p:sp>
      <p:sp>
        <p:nvSpPr>
          <p:cNvPr id="14" name="Text 11"/>
          <p:cNvSpPr/>
          <p:nvPr/>
        </p:nvSpPr>
        <p:spPr>
          <a:xfrm>
            <a:off x="822871" y="4322341"/>
            <a:ext cx="827670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7AC9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Example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1552724" y="4221435"/>
            <a:ext cx="8701973" cy="386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84"/>
              </a:lnSpc>
              <a:buNone/>
            </a:pPr>
            <a:r>
              <a:rPr lang="en-US" sz="1150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"My bonus looks wrong" → payroll dispute, priority high → Payroll Agent loops with Compliance Agent,</a:t>
            </a:r>
            <a:endParaRPr lang="en-US" sz="1150" dirty="0"/>
          </a:p>
          <a:p>
            <a:pPr algn="l" indent="0" marL="0">
              <a:lnSpc>
                <a:spcPts val="1584"/>
              </a:lnSpc>
              <a:buNone/>
            </a:pPr>
            <a:r>
              <a:rPr lang="en-US" sz="1150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then asks the HR manager to approve the correction.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52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46" y="-484"/>
            <a:ext cx="6034088" cy="52388"/>
          </a:xfrm>
          <a:prstGeom prst="rect">
            <a:avLst/>
          </a:prstGeom>
          <a:solidFill>
            <a:srgbClr val="2F81F7"/>
          </a:solidFill>
          <a:ln/>
        </p:spPr>
      </p:sp>
      <p:sp>
        <p:nvSpPr>
          <p:cNvPr id="5" name="Text 2"/>
          <p:cNvSpPr/>
          <p:nvPr/>
        </p:nvSpPr>
        <p:spPr>
          <a:xfrm>
            <a:off x="640035" y="420960"/>
            <a:ext cx="5130686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spc="238" kern="0" dirty="0">
                <a:solidFill>
                  <a:srgbClr val="7AC9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LAYER 3 · THE AGENT'S BRAIN AND HANDS</a:t>
            </a:r>
            <a:endParaRPr lang="en-US" sz="1080" dirty="0"/>
          </a:p>
        </p:txBody>
      </p:sp>
      <p:sp>
        <p:nvSpPr>
          <p:cNvPr id="6" name="Text 3"/>
          <p:cNvSpPr/>
          <p:nvPr/>
        </p:nvSpPr>
        <p:spPr>
          <a:xfrm>
            <a:off x="640035" y="706636"/>
            <a:ext cx="6016518" cy="4429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405"/>
              </a:spcBef>
              <a:buNone/>
            </a:pPr>
            <a:r>
              <a:rPr lang="en-US" sz="2740" b="1" spc="-68" kern="0" dirty="0">
                <a:solidFill>
                  <a:srgbClr val="E8F1F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Services, Reasoning &amp; Action</a:t>
            </a:r>
            <a:endParaRPr lang="en-US" sz="2740" dirty="0"/>
          </a:p>
        </p:txBody>
      </p:sp>
      <p:sp>
        <p:nvSpPr>
          <p:cNvPr id="7" name="Shape 4"/>
          <p:cNvSpPr/>
          <p:nvPr/>
        </p:nvSpPr>
        <p:spPr>
          <a:xfrm>
            <a:off x="639589" y="1447502"/>
            <a:ext cx="2500313" cy="2462212"/>
          </a:xfrm>
          <a:prstGeom prst="roundRect">
            <a:avLst>
              <a:gd name="adj" fmla="val 3714"/>
            </a:avLst>
          </a:prstGeom>
          <a:solidFill>
            <a:srgbClr val="111F38"/>
          </a:solidFill>
          <a:ln/>
        </p:spPr>
      </p:sp>
      <p:sp>
        <p:nvSpPr>
          <p:cNvPr id="8" name="Text 5"/>
          <p:cNvSpPr/>
          <p:nvPr/>
        </p:nvSpPr>
        <p:spPr>
          <a:xfrm>
            <a:off x="804565" y="1625650"/>
            <a:ext cx="1624987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10" b="1" spc="151" kern="0" dirty="0">
                <a:solidFill>
                  <a:srgbClr val="7AC9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SERVICES · MCP</a:t>
            </a:r>
            <a:endParaRPr lang="en-US" sz="1010" dirty="0"/>
          </a:p>
        </p:txBody>
      </p:sp>
      <p:sp>
        <p:nvSpPr>
          <p:cNvPr id="9" name="Text 6"/>
          <p:cNvSpPr/>
          <p:nvPr/>
        </p:nvSpPr>
        <p:spPr>
          <a:xfrm>
            <a:off x="804565" y="1904256"/>
            <a:ext cx="2865656" cy="1374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71"/>
              </a:lnSpc>
              <a:buNone/>
            </a:pPr>
            <a:r>
              <a:rPr lang="en-US" sz="1150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Tools, resources and prompts</a:t>
            </a:r>
            <a:endParaRPr lang="en-US" sz="1150" dirty="0"/>
          </a:p>
          <a:p>
            <a:pPr algn="l" indent="0" marL="0">
              <a:lnSpc>
                <a:spcPts val="1871"/>
              </a:lnSpc>
              <a:buNone/>
            </a:pPr>
            <a:r>
              <a:rPr lang="en-US" sz="1150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managed via Model Context</a:t>
            </a:r>
            <a:endParaRPr lang="en-US" sz="1150" dirty="0"/>
          </a:p>
          <a:p>
            <a:pPr algn="l" indent="0" marL="0">
              <a:lnSpc>
                <a:spcPts val="1871"/>
              </a:lnSpc>
              <a:buNone/>
            </a:pPr>
            <a:r>
              <a:rPr lang="en-US" sz="1150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Protocol servers — policy RAG on</a:t>
            </a:r>
            <a:endParaRPr lang="en-US" sz="1150" dirty="0"/>
          </a:p>
          <a:p>
            <a:pPr algn="l" indent="0" marL="0">
              <a:lnSpc>
                <a:spcPts val="1871"/>
              </a:lnSpc>
              <a:buNone/>
            </a:pPr>
            <a:r>
              <a:rPr lang="en-US" sz="1150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Azure AI Search, read-only</a:t>
            </a:r>
            <a:endParaRPr lang="en-US" sz="1150" dirty="0"/>
          </a:p>
          <a:p>
            <a:pPr algn="l" indent="0" marL="0">
              <a:lnSpc>
                <a:spcPts val="1871"/>
              </a:lnSpc>
              <a:buNone/>
            </a:pPr>
            <a:r>
              <a:rPr lang="en-US" sz="1150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access to HR knowledge and</a:t>
            </a:r>
            <a:endParaRPr lang="en-US" sz="1150" dirty="0"/>
          </a:p>
          <a:p>
            <a:pPr algn="l" indent="0" marL="0">
              <a:lnSpc>
                <a:spcPts val="1871"/>
              </a:lnSpc>
              <a:buNone/>
            </a:pPr>
            <a:r>
              <a:rPr lang="en-US" sz="1150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storage databases.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21844" y="1447502"/>
            <a:ext cx="2500313" cy="2462212"/>
          </a:xfrm>
          <a:prstGeom prst="roundRect">
            <a:avLst>
              <a:gd name="adj" fmla="val 3714"/>
            </a:avLst>
          </a:prstGeom>
          <a:solidFill>
            <a:srgbClr val="111F38"/>
          </a:solidFill>
          <a:ln/>
        </p:spPr>
      </p:sp>
      <p:sp>
        <p:nvSpPr>
          <p:cNvPr id="11" name="Text 8"/>
          <p:cNvSpPr/>
          <p:nvPr/>
        </p:nvSpPr>
        <p:spPr>
          <a:xfrm>
            <a:off x="3486820" y="1625650"/>
            <a:ext cx="834636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10" b="1" spc="151" kern="0" dirty="0">
                <a:solidFill>
                  <a:srgbClr val="7AC9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REASON</a:t>
            </a:r>
            <a:endParaRPr lang="en-US" sz="1010" dirty="0"/>
          </a:p>
        </p:txBody>
      </p:sp>
      <p:sp>
        <p:nvSpPr>
          <p:cNvPr id="12" name="Text 9"/>
          <p:cNvSpPr/>
          <p:nvPr/>
        </p:nvSpPr>
        <p:spPr>
          <a:xfrm>
            <a:off x="3486820" y="1904256"/>
            <a:ext cx="2640352" cy="11364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71"/>
              </a:lnSpc>
              <a:buNone/>
            </a:pPr>
            <a:r>
              <a:rPr lang="en-US" sz="1150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Fast-path reasoning for repeat</a:t>
            </a:r>
            <a:endParaRPr lang="en-US" sz="1150" dirty="0"/>
          </a:p>
          <a:p>
            <a:pPr algn="l" indent="0" marL="0">
              <a:lnSpc>
                <a:spcPts val="1871"/>
              </a:lnSpc>
              <a:buNone/>
            </a:pPr>
            <a:r>
              <a:rPr lang="en-US" sz="1150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issues; deep chain-of-thought</a:t>
            </a:r>
            <a:endParaRPr lang="en-US" sz="1150" dirty="0"/>
          </a:p>
          <a:p>
            <a:pPr algn="l" indent="0" marL="0">
              <a:lnSpc>
                <a:spcPts val="1871"/>
              </a:lnSpc>
              <a:buNone/>
            </a:pPr>
            <a:r>
              <a:rPr lang="en-US" sz="1150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and mixture-of-experts</a:t>
            </a:r>
            <a:endParaRPr lang="en-US" sz="1150" dirty="0"/>
          </a:p>
          <a:p>
            <a:pPr algn="l" indent="0" marL="0">
              <a:lnSpc>
                <a:spcPts val="1871"/>
              </a:lnSpc>
              <a:buNone/>
            </a:pPr>
            <a:r>
              <a:rPr lang="en-US" sz="1150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(o-series models) for novel,</a:t>
            </a:r>
            <a:endParaRPr lang="en-US" sz="1150" dirty="0"/>
          </a:p>
          <a:p>
            <a:pPr algn="l" indent="0" marL="0">
              <a:lnSpc>
                <a:spcPts val="1871"/>
              </a:lnSpc>
              <a:buNone/>
            </a:pPr>
            <a:r>
              <a:rPr lang="en-US" sz="1150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complex cases.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004099" y="1447502"/>
            <a:ext cx="2500313" cy="2462212"/>
          </a:xfrm>
          <a:prstGeom prst="roundRect">
            <a:avLst>
              <a:gd name="adj" fmla="val 3714"/>
            </a:avLst>
          </a:prstGeom>
          <a:solidFill>
            <a:srgbClr val="111F38"/>
          </a:solidFill>
          <a:ln/>
        </p:spPr>
      </p:sp>
      <p:sp>
        <p:nvSpPr>
          <p:cNvPr id="14" name="Text 11"/>
          <p:cNvSpPr/>
          <p:nvPr/>
        </p:nvSpPr>
        <p:spPr>
          <a:xfrm>
            <a:off x="6169075" y="1625650"/>
            <a:ext cx="439266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10" b="1" spc="151" kern="0" dirty="0">
                <a:solidFill>
                  <a:srgbClr val="7AC9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ACT</a:t>
            </a:r>
            <a:endParaRPr lang="en-US" sz="1010" dirty="0"/>
          </a:p>
        </p:txBody>
      </p:sp>
      <p:sp>
        <p:nvSpPr>
          <p:cNvPr id="15" name="Text 12"/>
          <p:cNvSpPr/>
          <p:nvPr/>
        </p:nvSpPr>
        <p:spPr>
          <a:xfrm>
            <a:off x="6169075" y="1904256"/>
            <a:ext cx="2596433" cy="1374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71"/>
              </a:lnSpc>
              <a:buNone/>
            </a:pPr>
            <a:r>
              <a:rPr lang="en-US" sz="1150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GET / PUT connectors into</a:t>
            </a:r>
            <a:endParaRPr lang="en-US" sz="1150" dirty="0"/>
          </a:p>
          <a:p>
            <a:pPr algn="l" indent="0" marL="0">
              <a:lnSpc>
                <a:spcPts val="1871"/>
              </a:lnSpc>
              <a:buNone/>
            </a:pPr>
            <a:r>
              <a:rPr lang="en-US" sz="1150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systems of record — Workday,</a:t>
            </a:r>
            <a:endParaRPr lang="en-US" sz="1150" dirty="0"/>
          </a:p>
          <a:p>
            <a:pPr algn="l" indent="0" marL="0">
              <a:lnSpc>
                <a:spcPts val="1871"/>
              </a:lnSpc>
              <a:buNone/>
            </a:pPr>
            <a:r>
              <a:rPr lang="en-US" sz="1150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SAP SuccessFactors, payroll</a:t>
            </a:r>
            <a:endParaRPr lang="en-US" sz="1150" dirty="0"/>
          </a:p>
          <a:p>
            <a:pPr algn="l" indent="0" marL="0">
              <a:lnSpc>
                <a:spcPts val="1871"/>
              </a:lnSpc>
              <a:buNone/>
            </a:pPr>
            <a:r>
              <a:rPr lang="en-US" sz="1150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engines, ticketing — via Azure</a:t>
            </a:r>
            <a:endParaRPr lang="en-US" sz="1150" dirty="0"/>
          </a:p>
          <a:p>
            <a:pPr algn="l" indent="0" marL="0">
              <a:lnSpc>
                <a:spcPts val="1871"/>
              </a:lnSpc>
              <a:buNone/>
            </a:pPr>
            <a:r>
              <a:rPr lang="en-US" sz="1150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API Management, Logic Apps</a:t>
            </a:r>
            <a:endParaRPr lang="en-US" sz="1150" dirty="0"/>
          </a:p>
          <a:p>
            <a:pPr algn="l" indent="0" marL="0">
              <a:lnSpc>
                <a:spcPts val="1871"/>
              </a:lnSpc>
              <a:buNone/>
            </a:pPr>
            <a:r>
              <a:rPr lang="en-US" sz="1150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and MCP tool calls.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40556" y="4116884"/>
            <a:ext cx="7862887" cy="614363"/>
          </a:xfrm>
          <a:prstGeom prst="roundRect">
            <a:avLst>
              <a:gd name="adj" fmla="val 11907"/>
            </a:avLst>
          </a:prstGeom>
          <a:solidFill>
            <a:srgbClr val="0E2440"/>
          </a:solidFill>
          <a:ln/>
        </p:spPr>
      </p:sp>
      <p:sp>
        <p:nvSpPr>
          <p:cNvPr id="17" name="Text 14"/>
          <p:cNvSpPr/>
          <p:nvPr/>
        </p:nvSpPr>
        <p:spPr>
          <a:xfrm>
            <a:off x="822871" y="4328592"/>
            <a:ext cx="827670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7AC9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Example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1552724" y="4229174"/>
            <a:ext cx="8377803" cy="3806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35"/>
              </a:lnSpc>
              <a:buNone/>
            </a:pPr>
            <a:r>
              <a:rPr lang="en-US" sz="1120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"How many leave days do I have?" → instant RAG answer. "Relocation + tax + visa" → deep-reasoning</a:t>
            </a:r>
            <a:endParaRPr lang="en-US" sz="1120" dirty="0"/>
          </a:p>
          <a:p>
            <a:pPr algn="l" indent="0" marL="0">
              <a:lnSpc>
                <a:spcPts val="1535"/>
              </a:lnSpc>
              <a:buNone/>
            </a:pPr>
            <a:r>
              <a:rPr lang="en-US" sz="1120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agent drafts a full case and writes it back to the HCM.</a:t>
            </a:r>
            <a:endParaRPr lang="en-US" sz="11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52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-484"/>
            <a:ext cx="7315200" cy="52388"/>
          </a:xfrm>
          <a:prstGeom prst="rect">
            <a:avLst/>
          </a:prstGeom>
          <a:solidFill>
            <a:srgbClr val="2F81F7"/>
          </a:solidFill>
          <a:ln/>
        </p:spPr>
      </p:sp>
      <p:sp>
        <p:nvSpPr>
          <p:cNvPr id="5" name="Text 2"/>
          <p:cNvSpPr/>
          <p:nvPr/>
        </p:nvSpPr>
        <p:spPr>
          <a:xfrm>
            <a:off x="640035" y="420960"/>
            <a:ext cx="2986772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spc="238" kern="0" dirty="0">
                <a:solidFill>
                  <a:srgbClr val="7AC9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LAYER 4 · TRUST FABRIC</a:t>
            </a:r>
            <a:endParaRPr lang="en-US" sz="1080" dirty="0"/>
          </a:p>
        </p:txBody>
      </p:sp>
      <p:sp>
        <p:nvSpPr>
          <p:cNvPr id="6" name="Text 3"/>
          <p:cNvSpPr/>
          <p:nvPr/>
        </p:nvSpPr>
        <p:spPr>
          <a:xfrm>
            <a:off x="640035" y="706636"/>
            <a:ext cx="7355763" cy="4429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405"/>
              </a:spcBef>
              <a:buNone/>
            </a:pPr>
            <a:r>
              <a:rPr lang="en-US" sz="2740" b="1" spc="-68" kern="0" dirty="0">
                <a:solidFill>
                  <a:srgbClr val="E8F1F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Security, Guardrails &amp; Observability</a:t>
            </a:r>
            <a:endParaRPr lang="en-US" sz="2740" dirty="0"/>
          </a:p>
        </p:txBody>
      </p:sp>
      <p:sp>
        <p:nvSpPr>
          <p:cNvPr id="7" name="Shape 4"/>
          <p:cNvSpPr/>
          <p:nvPr/>
        </p:nvSpPr>
        <p:spPr>
          <a:xfrm>
            <a:off x="639589" y="1446014"/>
            <a:ext cx="2500313" cy="2452688"/>
          </a:xfrm>
          <a:prstGeom prst="roundRect">
            <a:avLst>
              <a:gd name="adj" fmla="val 3728"/>
            </a:avLst>
          </a:prstGeom>
          <a:solidFill>
            <a:srgbClr val="111F38"/>
          </a:solidFill>
          <a:ln/>
        </p:spPr>
      </p:sp>
      <p:sp>
        <p:nvSpPr>
          <p:cNvPr id="8" name="Text 5"/>
          <p:cNvSpPr/>
          <p:nvPr/>
        </p:nvSpPr>
        <p:spPr>
          <a:xfrm>
            <a:off x="804565" y="1625650"/>
            <a:ext cx="1019599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10" b="1" spc="151" kern="0" dirty="0">
                <a:solidFill>
                  <a:srgbClr val="7AC9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SECURITY</a:t>
            </a:r>
            <a:endParaRPr lang="en-US" sz="1010" dirty="0"/>
          </a:p>
        </p:txBody>
      </p:sp>
      <p:sp>
        <p:nvSpPr>
          <p:cNvPr id="9" name="Text 6"/>
          <p:cNvSpPr/>
          <p:nvPr/>
        </p:nvSpPr>
        <p:spPr>
          <a:xfrm>
            <a:off x="804565" y="1904256"/>
            <a:ext cx="2766209" cy="11364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71"/>
              </a:lnSpc>
              <a:buNone/>
            </a:pPr>
            <a:r>
              <a:rPr lang="en-US" sz="1150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Microsoft Entra ID agent</a:t>
            </a:r>
            <a:endParaRPr lang="en-US" sz="1150" dirty="0"/>
          </a:p>
          <a:p>
            <a:pPr algn="l" indent="0" marL="0">
              <a:lnSpc>
                <a:spcPts val="1871"/>
              </a:lnSpc>
              <a:buNone/>
            </a:pPr>
            <a:r>
              <a:rPr lang="en-US" sz="1150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identities and RBAC, Key Vault,</a:t>
            </a:r>
            <a:endParaRPr lang="en-US" sz="1150" dirty="0"/>
          </a:p>
          <a:p>
            <a:pPr algn="l" indent="0" marL="0">
              <a:lnSpc>
                <a:spcPts val="1871"/>
              </a:lnSpc>
              <a:buNone/>
            </a:pPr>
            <a:r>
              <a:rPr lang="en-US" sz="1150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Purview data governance,</a:t>
            </a:r>
            <a:endParaRPr lang="en-US" sz="1150" dirty="0"/>
          </a:p>
          <a:p>
            <a:pPr algn="l" indent="0" marL="0">
              <a:lnSpc>
                <a:spcPts val="1871"/>
              </a:lnSpc>
              <a:buNone/>
            </a:pPr>
            <a:r>
              <a:rPr lang="en-US" sz="1150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private networking — every</a:t>
            </a:r>
            <a:endParaRPr lang="en-US" sz="1150" dirty="0"/>
          </a:p>
          <a:p>
            <a:pPr algn="l" indent="0" marL="0">
              <a:lnSpc>
                <a:spcPts val="1871"/>
              </a:lnSpc>
              <a:buNone/>
            </a:pPr>
            <a:r>
              <a:rPr lang="en-US" sz="1150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agent acts under least privilege.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21844" y="1446014"/>
            <a:ext cx="2500313" cy="2452688"/>
          </a:xfrm>
          <a:prstGeom prst="roundRect">
            <a:avLst>
              <a:gd name="adj" fmla="val 3728"/>
            </a:avLst>
          </a:prstGeom>
          <a:solidFill>
            <a:srgbClr val="111F38"/>
          </a:solidFill>
          <a:ln/>
        </p:spPr>
      </p:sp>
      <p:sp>
        <p:nvSpPr>
          <p:cNvPr id="11" name="Text 8"/>
          <p:cNvSpPr/>
          <p:nvPr/>
        </p:nvSpPr>
        <p:spPr>
          <a:xfrm>
            <a:off x="3486820" y="1625650"/>
            <a:ext cx="1294142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10" b="1" spc="151" kern="0" dirty="0">
                <a:solidFill>
                  <a:srgbClr val="7AC9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GUARDRAILS</a:t>
            </a:r>
            <a:endParaRPr lang="en-US" sz="1010" dirty="0"/>
          </a:p>
        </p:txBody>
      </p:sp>
      <p:sp>
        <p:nvSpPr>
          <p:cNvPr id="12" name="Text 9"/>
          <p:cNvSpPr/>
          <p:nvPr/>
        </p:nvSpPr>
        <p:spPr>
          <a:xfrm>
            <a:off x="3486820" y="1904256"/>
            <a:ext cx="2840020" cy="11364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71"/>
              </a:lnSpc>
              <a:buNone/>
            </a:pPr>
            <a:r>
              <a:rPr lang="en-US" sz="1150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Azure AI Content Safety, prompt</a:t>
            </a:r>
            <a:endParaRPr lang="en-US" sz="1150" dirty="0"/>
          </a:p>
          <a:p>
            <a:pPr algn="l" indent="0" marL="0">
              <a:lnSpc>
                <a:spcPts val="1871"/>
              </a:lnSpc>
              <a:buNone/>
            </a:pPr>
            <a:r>
              <a:rPr lang="en-US" sz="1150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shields, PII redaction and</a:t>
            </a:r>
            <a:endParaRPr lang="en-US" sz="1150" dirty="0"/>
          </a:p>
          <a:p>
            <a:pPr algn="l" indent="0" marL="0">
              <a:lnSpc>
                <a:spcPts val="1871"/>
              </a:lnSpc>
              <a:buNone/>
            </a:pPr>
            <a:r>
              <a:rPr lang="en-US" sz="1150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policy-bound actions — writes</a:t>
            </a:r>
            <a:endParaRPr lang="en-US" sz="1150" dirty="0"/>
          </a:p>
          <a:p>
            <a:pPr algn="l" indent="0" marL="0">
              <a:lnSpc>
                <a:spcPts val="1871"/>
              </a:lnSpc>
              <a:buNone/>
            </a:pPr>
            <a:r>
              <a:rPr lang="en-US" sz="1150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always gated by human approval</a:t>
            </a:r>
            <a:endParaRPr lang="en-US" sz="1150" dirty="0"/>
          </a:p>
          <a:p>
            <a:pPr algn="l" indent="0" marL="0">
              <a:lnSpc>
                <a:spcPts val="1871"/>
              </a:lnSpc>
              <a:buNone/>
            </a:pPr>
            <a:r>
              <a:rPr lang="en-US" sz="1150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where required.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004099" y="1446014"/>
            <a:ext cx="2500313" cy="2452688"/>
          </a:xfrm>
          <a:prstGeom prst="roundRect">
            <a:avLst>
              <a:gd name="adj" fmla="val 3728"/>
            </a:avLst>
          </a:prstGeom>
          <a:solidFill>
            <a:srgbClr val="111F38"/>
          </a:solidFill>
          <a:ln/>
        </p:spPr>
      </p:sp>
      <p:sp>
        <p:nvSpPr>
          <p:cNvPr id="14" name="Text 11"/>
          <p:cNvSpPr/>
          <p:nvPr/>
        </p:nvSpPr>
        <p:spPr>
          <a:xfrm>
            <a:off x="6169075" y="1625650"/>
            <a:ext cx="1588033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10" b="1" spc="151" kern="0" dirty="0">
                <a:solidFill>
                  <a:srgbClr val="7AC9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OBSERVABILITY</a:t>
            </a:r>
            <a:endParaRPr lang="en-US" sz="1010" dirty="0"/>
          </a:p>
        </p:txBody>
      </p:sp>
      <p:sp>
        <p:nvSpPr>
          <p:cNvPr id="15" name="Text 12"/>
          <p:cNvSpPr/>
          <p:nvPr/>
        </p:nvSpPr>
        <p:spPr>
          <a:xfrm>
            <a:off x="6169075" y="1904256"/>
            <a:ext cx="2764371" cy="11364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71"/>
              </a:lnSpc>
              <a:buNone/>
            </a:pPr>
            <a:r>
              <a:rPr lang="en-US" sz="1150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End-to-end tracing of every</a:t>
            </a:r>
            <a:endParaRPr lang="en-US" sz="1150" dirty="0"/>
          </a:p>
          <a:p>
            <a:pPr algn="l" indent="0" marL="0">
              <a:lnSpc>
                <a:spcPts val="1871"/>
              </a:lnSpc>
              <a:buNone/>
            </a:pPr>
            <a:r>
              <a:rPr lang="en-US" sz="1150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agent step in Azure Monitor and</a:t>
            </a:r>
            <a:endParaRPr lang="en-US" sz="1150" dirty="0"/>
          </a:p>
          <a:p>
            <a:pPr algn="l" indent="0" marL="0">
              <a:lnSpc>
                <a:spcPts val="1871"/>
              </a:lnSpc>
              <a:buNone/>
            </a:pPr>
            <a:r>
              <a:rPr lang="en-US" sz="1150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Application Insights; AgentOps</a:t>
            </a:r>
            <a:endParaRPr lang="en-US" sz="1150" dirty="0"/>
          </a:p>
          <a:p>
            <a:pPr algn="l" indent="0" marL="0">
              <a:lnSpc>
                <a:spcPts val="1871"/>
              </a:lnSpc>
              <a:buNone/>
            </a:pPr>
            <a:r>
              <a:rPr lang="en-US" sz="1150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evaluation and drift detection in</a:t>
            </a:r>
            <a:endParaRPr lang="en-US" sz="1150" dirty="0"/>
          </a:p>
          <a:p>
            <a:pPr algn="l" indent="0" marL="0">
              <a:lnSpc>
                <a:spcPts val="1871"/>
              </a:lnSpc>
              <a:buNone/>
            </a:pPr>
            <a:r>
              <a:rPr lang="en-US" sz="1150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AI Foundry.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40556" y="4103489"/>
            <a:ext cx="7862887" cy="628650"/>
          </a:xfrm>
          <a:prstGeom prst="roundRect">
            <a:avLst>
              <a:gd name="adj" fmla="val 11636"/>
            </a:avLst>
          </a:prstGeom>
          <a:solidFill>
            <a:srgbClr val="0E2440"/>
          </a:solidFill>
          <a:ln/>
        </p:spPr>
      </p:sp>
      <p:sp>
        <p:nvSpPr>
          <p:cNvPr id="17" name="Text 14"/>
          <p:cNvSpPr/>
          <p:nvPr/>
        </p:nvSpPr>
        <p:spPr>
          <a:xfrm>
            <a:off x="822871" y="4322341"/>
            <a:ext cx="827670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7AC9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Example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1552724" y="4221435"/>
            <a:ext cx="8842147" cy="386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84"/>
              </a:lnSpc>
              <a:buNone/>
            </a:pPr>
            <a:r>
              <a:rPr lang="en-US" sz="1150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 agent attempting to read salary data outside its scope is blocked, logged, and flagged to the security</a:t>
            </a:r>
            <a:endParaRPr lang="en-US" sz="1150" dirty="0"/>
          </a:p>
          <a:p>
            <a:pPr algn="l" indent="0" marL="0">
              <a:lnSpc>
                <a:spcPts val="1584"/>
              </a:lnSpc>
              <a:buNone/>
            </a:pPr>
            <a:r>
              <a:rPr lang="en-US" sz="1150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dashboard in real time.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52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-484"/>
            <a:ext cx="8229600" cy="52388"/>
          </a:xfrm>
          <a:prstGeom prst="rect">
            <a:avLst/>
          </a:prstGeom>
          <a:solidFill>
            <a:srgbClr val="2F81F7"/>
          </a:solidFill>
          <a:ln/>
        </p:spPr>
      </p:sp>
      <p:sp>
        <p:nvSpPr>
          <p:cNvPr id="5" name="Text 2"/>
          <p:cNvSpPr/>
          <p:nvPr/>
        </p:nvSpPr>
        <p:spPr>
          <a:xfrm>
            <a:off x="411435" y="266700"/>
            <a:ext cx="334189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b="1" spc="190" kern="0" dirty="0">
                <a:solidFill>
                  <a:srgbClr val="7AC9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LIFECYCLE FLOW 1 · HIGH VOLUME</a:t>
            </a:r>
            <a:endParaRPr lang="en-US" sz="860" dirty="0"/>
          </a:p>
        </p:txBody>
      </p:sp>
      <p:sp>
        <p:nvSpPr>
          <p:cNvPr id="6" name="Text 3"/>
          <p:cNvSpPr/>
          <p:nvPr/>
        </p:nvSpPr>
        <p:spPr>
          <a:xfrm>
            <a:off x="411435" y="466130"/>
            <a:ext cx="423769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162"/>
              </a:spcBef>
              <a:buNone/>
            </a:pPr>
            <a:r>
              <a:rPr lang="en-US" sz="1870" b="1" spc="-47" kern="0" dirty="0">
                <a:solidFill>
                  <a:srgbClr val="E8F1F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Payslip Copy &amp; Leave Balance</a:t>
            </a:r>
            <a:endParaRPr lang="en-US" sz="1870" dirty="0"/>
          </a:p>
        </p:txBody>
      </p:sp>
      <p:sp>
        <p:nvSpPr>
          <p:cNvPr id="7" name="Text 4"/>
          <p:cNvSpPr/>
          <p:nvPr/>
        </p:nvSpPr>
        <p:spPr>
          <a:xfrm>
            <a:off x="6211416" y="460772"/>
            <a:ext cx="623456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60" dirty="0">
                <a:solidFill>
                  <a:srgbClr val="7AC9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Repetitive</a:t>
            </a:r>
            <a:endParaRPr lang="en-US" sz="760" dirty="0"/>
          </a:p>
        </p:txBody>
      </p:sp>
      <p:sp>
        <p:nvSpPr>
          <p:cNvPr id="8" name="Text 5"/>
          <p:cNvSpPr/>
          <p:nvPr/>
        </p:nvSpPr>
        <p:spPr>
          <a:xfrm>
            <a:off x="6894165" y="460772"/>
            <a:ext cx="232208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60" dirty="0">
                <a:solidFill>
                  <a:srgbClr val="7AC9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Deterministic — no reasoning at run time</a:t>
            </a:r>
            <a:endParaRPr lang="en-US" sz="760" dirty="0"/>
          </a:p>
        </p:txBody>
      </p:sp>
      <p:sp>
        <p:nvSpPr>
          <p:cNvPr id="9" name="Shape 6"/>
          <p:cNvSpPr/>
          <p:nvPr/>
        </p:nvSpPr>
        <p:spPr>
          <a:xfrm>
            <a:off x="411956" y="1826642"/>
            <a:ext cx="8320087" cy="919162"/>
          </a:xfrm>
          <a:prstGeom prst="roundRect">
            <a:avLst>
              <a:gd name="adj" fmla="val 6964"/>
            </a:avLst>
          </a:prstGeom>
          <a:solidFill>
            <a:srgbClr val="141B29"/>
          </a:solidFill>
          <a:ln w="4763">
            <a:solidFill>
              <a:srgbClr val="30405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4190" y="2102048"/>
            <a:ext cx="56580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40" b="1" spc="140" kern="0" dirty="0">
                <a:solidFill>
                  <a:srgbClr val="8AA3C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AS-IS</a:t>
            </a:r>
            <a:endParaRPr lang="en-US" sz="940" dirty="0"/>
          </a:p>
        </p:txBody>
      </p:sp>
      <p:sp>
        <p:nvSpPr>
          <p:cNvPr id="11" name="Shape 8"/>
          <p:cNvSpPr/>
          <p:nvPr/>
        </p:nvSpPr>
        <p:spPr>
          <a:xfrm>
            <a:off x="1458739" y="1914004"/>
            <a:ext cx="1776413" cy="247650"/>
          </a:xfrm>
          <a:prstGeom prst="roundRect">
            <a:avLst>
              <a:gd name="adj" fmla="val 18462"/>
            </a:avLst>
          </a:prstGeom>
          <a:solidFill>
            <a:srgbClr val="1B2536"/>
          </a:solidFill>
          <a:ln w="4763">
            <a:solidFill>
              <a:srgbClr val="39485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545506" y="1965573"/>
            <a:ext cx="2140893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3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Employee emails shared HR inbox</a:t>
            </a:r>
            <a:endParaRPr lang="en-US" sz="830" dirty="0"/>
          </a:p>
        </p:txBody>
      </p:sp>
      <p:sp>
        <p:nvSpPr>
          <p:cNvPr id="13" name="Text 10"/>
          <p:cNvSpPr/>
          <p:nvPr/>
        </p:nvSpPr>
        <p:spPr>
          <a:xfrm>
            <a:off x="3281065" y="1960290"/>
            <a:ext cx="176719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dirty="0">
                <a:solidFill>
                  <a:srgbClr val="54657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→</a:t>
            </a:r>
            <a:endParaRPr lang="en-US" sz="860" dirty="0"/>
          </a:p>
        </p:txBody>
      </p:sp>
      <p:sp>
        <p:nvSpPr>
          <p:cNvPr id="14" name="Shape 11"/>
          <p:cNvSpPr/>
          <p:nvPr/>
        </p:nvSpPr>
        <p:spPr>
          <a:xfrm>
            <a:off x="3419698" y="1914004"/>
            <a:ext cx="1323975" cy="247650"/>
          </a:xfrm>
          <a:prstGeom prst="roundRect">
            <a:avLst>
              <a:gd name="adj" fmla="val 18462"/>
            </a:avLst>
          </a:prstGeom>
          <a:solidFill>
            <a:srgbClr val="1B2536"/>
          </a:solidFill>
          <a:ln w="4763">
            <a:solidFill>
              <a:srgbClr val="39485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505721" y="1965573"/>
            <a:ext cx="1554659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3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Ticket created &amp; queued</a:t>
            </a:r>
            <a:endParaRPr lang="en-US" sz="830" dirty="0"/>
          </a:p>
        </p:txBody>
      </p:sp>
      <p:sp>
        <p:nvSpPr>
          <p:cNvPr id="16" name="Text 13"/>
          <p:cNvSpPr/>
          <p:nvPr/>
        </p:nvSpPr>
        <p:spPr>
          <a:xfrm>
            <a:off x="4790331" y="1960290"/>
            <a:ext cx="176719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dirty="0">
                <a:solidFill>
                  <a:srgbClr val="54657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→</a:t>
            </a:r>
            <a:endParaRPr lang="en-US" sz="860" dirty="0"/>
          </a:p>
        </p:txBody>
      </p:sp>
      <p:sp>
        <p:nvSpPr>
          <p:cNvPr id="17" name="Shape 14"/>
          <p:cNvSpPr/>
          <p:nvPr/>
        </p:nvSpPr>
        <p:spPr>
          <a:xfrm>
            <a:off x="4928964" y="1914004"/>
            <a:ext cx="1581150" cy="247650"/>
          </a:xfrm>
          <a:prstGeom prst="roundRect">
            <a:avLst>
              <a:gd name="adj" fmla="val 18462"/>
            </a:avLst>
          </a:prstGeom>
          <a:solidFill>
            <a:srgbClr val="1B2536"/>
          </a:solidFill>
          <a:ln w="4763">
            <a:solidFill>
              <a:srgbClr val="39485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014987" y="1965573"/>
            <a:ext cx="1888986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3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Agent looks up payroll system</a:t>
            </a:r>
            <a:endParaRPr lang="en-US" sz="830" dirty="0"/>
          </a:p>
        </p:txBody>
      </p:sp>
      <p:sp>
        <p:nvSpPr>
          <p:cNvPr id="19" name="Text 16"/>
          <p:cNvSpPr/>
          <p:nvPr/>
        </p:nvSpPr>
        <p:spPr>
          <a:xfrm>
            <a:off x="6556772" y="1960290"/>
            <a:ext cx="176719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dirty="0">
                <a:solidFill>
                  <a:srgbClr val="54657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→</a:t>
            </a:r>
            <a:endParaRPr lang="en-US" sz="860" dirty="0"/>
          </a:p>
        </p:txBody>
      </p:sp>
      <p:sp>
        <p:nvSpPr>
          <p:cNvPr id="20" name="Shape 17"/>
          <p:cNvSpPr/>
          <p:nvPr/>
        </p:nvSpPr>
        <p:spPr>
          <a:xfrm>
            <a:off x="6695331" y="1914004"/>
            <a:ext cx="966787" cy="247650"/>
          </a:xfrm>
          <a:prstGeom prst="roundRect">
            <a:avLst>
              <a:gd name="adj" fmla="val 18462"/>
            </a:avLst>
          </a:prstGeom>
          <a:solidFill>
            <a:srgbClr val="1B2536"/>
          </a:solidFill>
          <a:ln w="4763">
            <a:solidFill>
              <a:srgbClr val="39485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781428" y="1965573"/>
            <a:ext cx="1090121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3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Replies with PDF</a:t>
            </a:r>
            <a:endParaRPr lang="en-US" sz="830" dirty="0"/>
          </a:p>
        </p:txBody>
      </p:sp>
      <p:sp>
        <p:nvSpPr>
          <p:cNvPr id="22" name="Text 19"/>
          <p:cNvSpPr/>
          <p:nvPr/>
        </p:nvSpPr>
        <p:spPr>
          <a:xfrm>
            <a:off x="7708702" y="1960290"/>
            <a:ext cx="176719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dirty="0">
                <a:solidFill>
                  <a:srgbClr val="54657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→</a:t>
            </a:r>
            <a:endParaRPr lang="en-US" sz="860" dirty="0"/>
          </a:p>
        </p:txBody>
      </p:sp>
      <p:sp>
        <p:nvSpPr>
          <p:cNvPr id="23" name="Shape 20"/>
          <p:cNvSpPr/>
          <p:nvPr/>
        </p:nvSpPr>
        <p:spPr>
          <a:xfrm>
            <a:off x="1458813" y="2201689"/>
            <a:ext cx="1252537" cy="247650"/>
          </a:xfrm>
          <a:prstGeom prst="roundRect">
            <a:avLst>
              <a:gd name="adj" fmla="val 18462"/>
            </a:avLst>
          </a:prstGeom>
          <a:solidFill>
            <a:srgbClr val="1B2536"/>
          </a:solidFill>
          <a:ln w="4763">
            <a:solidFill>
              <a:srgbClr val="39485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545506" y="2253258"/>
            <a:ext cx="1460049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3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Ticket closed manually</a:t>
            </a:r>
            <a:endParaRPr lang="en-US" sz="830" dirty="0"/>
          </a:p>
        </p:txBody>
      </p:sp>
      <p:sp>
        <p:nvSpPr>
          <p:cNvPr id="25" name="Text 22"/>
          <p:cNvSpPr/>
          <p:nvPr/>
        </p:nvSpPr>
        <p:spPr>
          <a:xfrm>
            <a:off x="1458590" y="2509763"/>
            <a:ext cx="4189906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405"/>
              </a:spcBef>
              <a:buNone/>
            </a:pPr>
            <a:r>
              <a:rPr lang="en-US" sz="830" dirty="0">
                <a:solidFill>
                  <a:srgbClr val="E08A8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1–2 days per request · thousands of identical requests every month</a:t>
            </a:r>
            <a:endParaRPr lang="en-US" sz="830" dirty="0"/>
          </a:p>
        </p:txBody>
      </p:sp>
      <p:sp>
        <p:nvSpPr>
          <p:cNvPr id="26" name="Shape 23"/>
          <p:cNvSpPr/>
          <p:nvPr/>
        </p:nvSpPr>
        <p:spPr>
          <a:xfrm>
            <a:off x="411956" y="2898279"/>
            <a:ext cx="8320087" cy="919162"/>
          </a:xfrm>
          <a:prstGeom prst="roundRect">
            <a:avLst>
              <a:gd name="adj" fmla="val 6964"/>
            </a:avLst>
          </a:prstGeom>
          <a:solidFill>
            <a:srgbClr val="0E2440"/>
          </a:solidFill>
          <a:ln w="4763">
            <a:solidFill>
              <a:srgbClr val="2F5C94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44190" y="3173685"/>
            <a:ext cx="619006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40" b="1" spc="140" kern="0" dirty="0">
                <a:solidFill>
                  <a:srgbClr val="7AC9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TO-BE</a:t>
            </a:r>
            <a:endParaRPr lang="en-US" sz="940" dirty="0"/>
          </a:p>
        </p:txBody>
      </p:sp>
      <p:sp>
        <p:nvSpPr>
          <p:cNvPr id="28" name="Shape 25"/>
          <p:cNvSpPr/>
          <p:nvPr/>
        </p:nvSpPr>
        <p:spPr>
          <a:xfrm>
            <a:off x="1458888" y="2985641"/>
            <a:ext cx="2209800" cy="247650"/>
          </a:xfrm>
          <a:prstGeom prst="roundRect">
            <a:avLst>
              <a:gd name="adj" fmla="val 18462"/>
            </a:avLst>
          </a:prstGeom>
          <a:solidFill>
            <a:srgbClr val="0F2A47"/>
          </a:solidFill>
          <a:ln w="4763">
            <a:solidFill>
              <a:srgbClr val="2F5C94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545506" y="3037210"/>
            <a:ext cx="2704683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30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Employee asks the HR persona in Teams</a:t>
            </a:r>
            <a:pPr algn="l" indent="0" marL="0">
              <a:buNone/>
            </a:pPr>
            <a:r>
              <a:rPr lang="en-US" sz="830" b="1" dirty="0">
                <a:solidFill>
                  <a:srgbClr val="7AC9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①</a:t>
            </a:r>
            <a:endParaRPr lang="en-US" sz="830" dirty="0"/>
          </a:p>
        </p:txBody>
      </p:sp>
      <p:sp>
        <p:nvSpPr>
          <p:cNvPr id="30" name="Text 27"/>
          <p:cNvSpPr/>
          <p:nvPr/>
        </p:nvSpPr>
        <p:spPr>
          <a:xfrm>
            <a:off x="3714750" y="3031927"/>
            <a:ext cx="176719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dirty="0">
                <a:solidFill>
                  <a:srgbClr val="3D6DB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→</a:t>
            </a:r>
            <a:endParaRPr lang="en-US" sz="860" dirty="0"/>
          </a:p>
        </p:txBody>
      </p:sp>
      <p:sp>
        <p:nvSpPr>
          <p:cNvPr id="31" name="Shape 28"/>
          <p:cNvSpPr/>
          <p:nvPr/>
        </p:nvSpPr>
        <p:spPr>
          <a:xfrm>
            <a:off x="3852081" y="2985641"/>
            <a:ext cx="2019300" cy="247650"/>
          </a:xfrm>
          <a:prstGeom prst="roundRect">
            <a:avLst>
              <a:gd name="adj" fmla="val 18462"/>
            </a:avLst>
          </a:prstGeom>
          <a:solidFill>
            <a:srgbClr val="0F2A47"/>
          </a:solidFill>
          <a:ln w="4763">
            <a:solidFill>
              <a:srgbClr val="2F5C94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939406" y="3037210"/>
            <a:ext cx="2455195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30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Recognized as a known request type</a:t>
            </a:r>
            <a:pPr algn="l" indent="0" marL="0">
              <a:buNone/>
            </a:pPr>
            <a:r>
              <a:rPr lang="en-US" sz="830" b="1" dirty="0">
                <a:solidFill>
                  <a:srgbClr val="7AC9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④</a:t>
            </a:r>
            <a:endParaRPr lang="en-US" sz="830" dirty="0"/>
          </a:p>
        </p:txBody>
      </p:sp>
      <p:sp>
        <p:nvSpPr>
          <p:cNvPr id="33" name="Text 30"/>
          <p:cNvSpPr/>
          <p:nvPr/>
        </p:nvSpPr>
        <p:spPr>
          <a:xfrm>
            <a:off x="5916737" y="3031927"/>
            <a:ext cx="176719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dirty="0">
                <a:solidFill>
                  <a:srgbClr val="3D6DB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→</a:t>
            </a:r>
            <a:endParaRPr lang="en-US" sz="860" dirty="0"/>
          </a:p>
        </p:txBody>
      </p:sp>
      <p:sp>
        <p:nvSpPr>
          <p:cNvPr id="34" name="Shape 31"/>
          <p:cNvSpPr/>
          <p:nvPr/>
        </p:nvSpPr>
        <p:spPr>
          <a:xfrm>
            <a:off x="6054551" y="2985641"/>
            <a:ext cx="1881187" cy="247650"/>
          </a:xfrm>
          <a:prstGeom prst="roundRect">
            <a:avLst>
              <a:gd name="adj" fmla="val 18462"/>
            </a:avLst>
          </a:prstGeom>
          <a:solidFill>
            <a:srgbClr val="0F2A47"/>
          </a:solidFill>
          <a:ln w="4763">
            <a:solidFill>
              <a:srgbClr val="2F5C94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141393" y="3037210"/>
            <a:ext cx="2276907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30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Approved tool fetches the payslip</a:t>
            </a:r>
            <a:pPr algn="l" indent="0" marL="0">
              <a:buNone/>
            </a:pPr>
            <a:r>
              <a:rPr lang="en-US" sz="830" b="1" dirty="0">
                <a:solidFill>
                  <a:srgbClr val="7AC9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⑥</a:t>
            </a:r>
            <a:endParaRPr lang="en-US" sz="830" dirty="0"/>
          </a:p>
        </p:txBody>
      </p:sp>
      <p:sp>
        <p:nvSpPr>
          <p:cNvPr id="36" name="Text 33"/>
          <p:cNvSpPr/>
          <p:nvPr/>
        </p:nvSpPr>
        <p:spPr>
          <a:xfrm>
            <a:off x="7981578" y="3031927"/>
            <a:ext cx="176719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dirty="0">
                <a:solidFill>
                  <a:srgbClr val="3D6DB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→</a:t>
            </a:r>
            <a:endParaRPr lang="en-US" sz="860" dirty="0"/>
          </a:p>
        </p:txBody>
      </p:sp>
      <p:sp>
        <p:nvSpPr>
          <p:cNvPr id="37" name="Shape 34"/>
          <p:cNvSpPr/>
          <p:nvPr/>
        </p:nvSpPr>
        <p:spPr>
          <a:xfrm>
            <a:off x="1458069" y="3273326"/>
            <a:ext cx="1271588" cy="247650"/>
          </a:xfrm>
          <a:prstGeom prst="roundRect">
            <a:avLst>
              <a:gd name="adj" fmla="val 18462"/>
            </a:avLst>
          </a:prstGeom>
          <a:solidFill>
            <a:srgbClr val="0F2A47"/>
          </a:solidFill>
          <a:ln w="4763">
            <a:solidFill>
              <a:srgbClr val="2F5C94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1545506" y="3324895"/>
            <a:ext cx="1482879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30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Straight from payroll</a:t>
            </a:r>
            <a:pPr algn="l" indent="0" marL="0">
              <a:buNone/>
            </a:pPr>
            <a:r>
              <a:rPr lang="en-US" sz="830" b="1" dirty="0">
                <a:solidFill>
                  <a:srgbClr val="7AC9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⑦</a:t>
            </a:r>
            <a:endParaRPr lang="en-US" sz="830" dirty="0"/>
          </a:p>
        </p:txBody>
      </p:sp>
      <p:sp>
        <p:nvSpPr>
          <p:cNvPr id="39" name="Text 36"/>
          <p:cNvSpPr/>
          <p:nvPr/>
        </p:nvSpPr>
        <p:spPr>
          <a:xfrm>
            <a:off x="2774900" y="3319611"/>
            <a:ext cx="176719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dirty="0">
                <a:solidFill>
                  <a:srgbClr val="3D6DB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→</a:t>
            </a:r>
            <a:endParaRPr lang="en-US" sz="860" dirty="0"/>
          </a:p>
        </p:txBody>
      </p:sp>
      <p:sp>
        <p:nvSpPr>
          <p:cNvPr id="40" name="Shape 37"/>
          <p:cNvSpPr/>
          <p:nvPr/>
        </p:nvSpPr>
        <p:spPr>
          <a:xfrm>
            <a:off x="2913422" y="3273326"/>
            <a:ext cx="1990725" cy="247650"/>
          </a:xfrm>
          <a:prstGeom prst="roundRect">
            <a:avLst>
              <a:gd name="adj" fmla="val 18462"/>
            </a:avLst>
          </a:prstGeom>
          <a:solidFill>
            <a:srgbClr val="0F2A47"/>
          </a:solidFill>
          <a:ln w="4763">
            <a:solidFill>
              <a:srgbClr val="2F5C94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2999556" y="3324895"/>
            <a:ext cx="2421143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30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Delivered in chat · case auto-logged</a:t>
            </a:r>
            <a:pPr algn="l" indent="0" marL="0">
              <a:buNone/>
            </a:pPr>
            <a:r>
              <a:rPr lang="en-US" sz="830" b="1" dirty="0">
                <a:solidFill>
                  <a:srgbClr val="7AC9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⑥</a:t>
            </a:r>
            <a:endParaRPr lang="en-US" sz="830" dirty="0"/>
          </a:p>
        </p:txBody>
      </p:sp>
      <p:sp>
        <p:nvSpPr>
          <p:cNvPr id="42" name="Text 39"/>
          <p:cNvSpPr/>
          <p:nvPr/>
        </p:nvSpPr>
        <p:spPr>
          <a:xfrm>
            <a:off x="1458590" y="3581400"/>
            <a:ext cx="4225699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405"/>
              </a:spcBef>
              <a:buNone/>
            </a:pPr>
            <a:r>
              <a:rPr lang="en-US" sz="830" dirty="0">
                <a:solidFill>
                  <a:srgbClr val="7EE0A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Seconds instead of days · zero human touch · every retrieval audited</a:t>
            </a:r>
            <a:endParaRPr lang="en-US" sz="830" dirty="0"/>
          </a:p>
        </p:txBody>
      </p:sp>
      <p:sp>
        <p:nvSpPr>
          <p:cNvPr id="43" name="Text 40"/>
          <p:cNvSpPr/>
          <p:nvPr/>
        </p:nvSpPr>
        <p:spPr>
          <a:xfrm>
            <a:off x="4554654" y="4747096"/>
            <a:ext cx="4177911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①–⑦ = component on the architecture slides ·</a:t>
            </a:r>
            <a:pPr algn="r" indent="0" marL="0">
              <a:buNone/>
            </a:pPr>
            <a:r>
              <a:rPr lang="en-US" sz="760" dirty="0">
                <a:solidFill>
                  <a:srgbClr val="D9B36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amber = human in the loop</a:t>
            </a:r>
            <a:endParaRPr lang="en-US" sz="7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52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-484"/>
            <a:ext cx="8229600" cy="52388"/>
          </a:xfrm>
          <a:prstGeom prst="rect">
            <a:avLst/>
          </a:prstGeom>
          <a:solidFill>
            <a:srgbClr val="2F81F7"/>
          </a:solidFill>
          <a:ln/>
        </p:spPr>
      </p:sp>
      <p:sp>
        <p:nvSpPr>
          <p:cNvPr id="5" name="Text 2"/>
          <p:cNvSpPr/>
          <p:nvPr/>
        </p:nvSpPr>
        <p:spPr>
          <a:xfrm>
            <a:off x="411435" y="266700"/>
            <a:ext cx="3198532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b="1" spc="190" kern="0" dirty="0">
                <a:solidFill>
                  <a:srgbClr val="7AC9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LIFECYCLE FLOW 2 · KNOWLEDGE</a:t>
            </a:r>
            <a:endParaRPr lang="en-US" sz="860" dirty="0"/>
          </a:p>
        </p:txBody>
      </p:sp>
      <p:sp>
        <p:nvSpPr>
          <p:cNvPr id="6" name="Text 3"/>
          <p:cNvSpPr/>
          <p:nvPr/>
        </p:nvSpPr>
        <p:spPr>
          <a:xfrm>
            <a:off x="411435" y="466130"/>
            <a:ext cx="753231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162"/>
              </a:spcBef>
              <a:buNone/>
            </a:pPr>
            <a:r>
              <a:rPr lang="en-US" sz="1870" b="1" spc="-47" kern="0" dirty="0">
                <a:solidFill>
                  <a:srgbClr val="E8F1F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Policy Question: "Can I carry over unused vacation?"</a:t>
            </a:r>
            <a:endParaRPr lang="en-US" sz="1870" dirty="0"/>
          </a:p>
        </p:txBody>
      </p:sp>
      <p:sp>
        <p:nvSpPr>
          <p:cNvPr id="7" name="Text 4"/>
          <p:cNvSpPr/>
          <p:nvPr/>
        </p:nvSpPr>
        <p:spPr>
          <a:xfrm>
            <a:off x="6400874" y="460772"/>
            <a:ext cx="1852226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60" dirty="0">
                <a:solidFill>
                  <a:srgbClr val="7AC9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Grounded in HR policy database</a:t>
            </a:r>
            <a:endParaRPr lang="en-US" sz="760" dirty="0"/>
          </a:p>
        </p:txBody>
      </p:sp>
      <p:sp>
        <p:nvSpPr>
          <p:cNvPr id="8" name="Text 5"/>
          <p:cNvSpPr/>
          <p:nvPr/>
        </p:nvSpPr>
        <p:spPr>
          <a:xfrm>
            <a:off x="8028831" y="460772"/>
            <a:ext cx="84701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60" dirty="0">
                <a:solidFill>
                  <a:srgbClr val="7AC9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Cited answers</a:t>
            </a:r>
            <a:endParaRPr lang="en-US" sz="760" dirty="0"/>
          </a:p>
        </p:txBody>
      </p:sp>
      <p:sp>
        <p:nvSpPr>
          <p:cNvPr id="9" name="Shape 6"/>
          <p:cNvSpPr/>
          <p:nvPr/>
        </p:nvSpPr>
        <p:spPr>
          <a:xfrm>
            <a:off x="411956" y="1826642"/>
            <a:ext cx="8320087" cy="919162"/>
          </a:xfrm>
          <a:prstGeom prst="roundRect">
            <a:avLst>
              <a:gd name="adj" fmla="val 6964"/>
            </a:avLst>
          </a:prstGeom>
          <a:solidFill>
            <a:srgbClr val="141B29"/>
          </a:solidFill>
          <a:ln w="4763">
            <a:solidFill>
              <a:srgbClr val="30405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4190" y="2102048"/>
            <a:ext cx="56580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40" b="1" spc="140" kern="0" dirty="0">
                <a:solidFill>
                  <a:srgbClr val="8AA3C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AS-IS</a:t>
            </a:r>
            <a:endParaRPr lang="en-US" sz="940" dirty="0"/>
          </a:p>
        </p:txBody>
      </p:sp>
      <p:sp>
        <p:nvSpPr>
          <p:cNvPr id="11" name="Shape 8"/>
          <p:cNvSpPr/>
          <p:nvPr/>
        </p:nvSpPr>
        <p:spPr>
          <a:xfrm>
            <a:off x="1458850" y="1914004"/>
            <a:ext cx="1666875" cy="247650"/>
          </a:xfrm>
          <a:prstGeom prst="roundRect">
            <a:avLst>
              <a:gd name="adj" fmla="val 18462"/>
            </a:avLst>
          </a:prstGeom>
          <a:solidFill>
            <a:srgbClr val="1B2536"/>
          </a:solidFill>
          <a:ln w="4763">
            <a:solidFill>
              <a:srgbClr val="39485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545506" y="1965573"/>
            <a:ext cx="1998784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3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Employee searches the intranet</a:t>
            </a:r>
            <a:endParaRPr lang="en-US" sz="830" dirty="0"/>
          </a:p>
        </p:txBody>
      </p:sp>
      <p:sp>
        <p:nvSpPr>
          <p:cNvPr id="13" name="Text 10"/>
          <p:cNvSpPr/>
          <p:nvPr/>
        </p:nvSpPr>
        <p:spPr>
          <a:xfrm>
            <a:off x="3171751" y="1960290"/>
            <a:ext cx="176719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dirty="0">
                <a:solidFill>
                  <a:srgbClr val="54657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→</a:t>
            </a:r>
            <a:endParaRPr lang="en-US" sz="860" dirty="0"/>
          </a:p>
        </p:txBody>
      </p:sp>
      <p:sp>
        <p:nvSpPr>
          <p:cNvPr id="14" name="Shape 11"/>
          <p:cNvSpPr/>
          <p:nvPr/>
        </p:nvSpPr>
        <p:spPr>
          <a:xfrm>
            <a:off x="3308598" y="1914004"/>
            <a:ext cx="1190625" cy="247650"/>
          </a:xfrm>
          <a:prstGeom prst="roundRect">
            <a:avLst>
              <a:gd name="adj" fmla="val 18462"/>
            </a:avLst>
          </a:prstGeom>
          <a:solidFill>
            <a:srgbClr val="1B2536"/>
          </a:solidFill>
          <a:ln w="4763">
            <a:solidFill>
              <a:srgbClr val="39485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396407" y="1965573"/>
            <a:ext cx="1376660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3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Finds outdated pages</a:t>
            </a:r>
            <a:endParaRPr lang="en-US" sz="830" dirty="0"/>
          </a:p>
        </p:txBody>
      </p:sp>
      <p:sp>
        <p:nvSpPr>
          <p:cNvPr id="16" name="Text 13"/>
          <p:cNvSpPr/>
          <p:nvPr/>
        </p:nvSpPr>
        <p:spPr>
          <a:xfrm>
            <a:off x="4544095" y="1960290"/>
            <a:ext cx="176719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dirty="0">
                <a:solidFill>
                  <a:srgbClr val="54657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→</a:t>
            </a:r>
            <a:endParaRPr lang="en-US" sz="860" dirty="0"/>
          </a:p>
        </p:txBody>
      </p:sp>
      <p:sp>
        <p:nvSpPr>
          <p:cNvPr id="17" name="Shape 14"/>
          <p:cNvSpPr/>
          <p:nvPr/>
        </p:nvSpPr>
        <p:spPr>
          <a:xfrm>
            <a:off x="4682058" y="1914004"/>
            <a:ext cx="966787" cy="247650"/>
          </a:xfrm>
          <a:prstGeom prst="roundRect">
            <a:avLst>
              <a:gd name="adj" fmla="val 18462"/>
            </a:avLst>
          </a:prstGeom>
          <a:solidFill>
            <a:srgbClr val="1B2536"/>
          </a:solidFill>
          <a:ln w="4763">
            <a:solidFill>
              <a:srgbClr val="39485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768751" y="1965573"/>
            <a:ext cx="1088574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3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Emails the HRBP</a:t>
            </a:r>
            <a:endParaRPr lang="en-US" sz="830" dirty="0"/>
          </a:p>
        </p:txBody>
      </p:sp>
      <p:sp>
        <p:nvSpPr>
          <p:cNvPr id="19" name="Text 16"/>
          <p:cNvSpPr/>
          <p:nvPr/>
        </p:nvSpPr>
        <p:spPr>
          <a:xfrm>
            <a:off x="5694834" y="1960290"/>
            <a:ext cx="176719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dirty="0">
                <a:solidFill>
                  <a:srgbClr val="54657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→</a:t>
            </a:r>
            <a:endParaRPr lang="en-US" sz="860" dirty="0"/>
          </a:p>
        </p:txBody>
      </p:sp>
      <p:sp>
        <p:nvSpPr>
          <p:cNvPr id="20" name="Shape 17"/>
          <p:cNvSpPr/>
          <p:nvPr/>
        </p:nvSpPr>
        <p:spPr>
          <a:xfrm>
            <a:off x="5833616" y="1914004"/>
            <a:ext cx="933450" cy="247650"/>
          </a:xfrm>
          <a:prstGeom prst="roundRect">
            <a:avLst>
              <a:gd name="adj" fmla="val 18462"/>
            </a:avLst>
          </a:prstGeom>
          <a:solidFill>
            <a:srgbClr val="1B2536"/>
          </a:solidFill>
          <a:ln w="4763">
            <a:solidFill>
              <a:srgbClr val="39485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919490" y="1965573"/>
            <a:ext cx="1047363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3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Waits for a reply</a:t>
            </a:r>
            <a:endParaRPr lang="en-US" sz="830" dirty="0"/>
          </a:p>
        </p:txBody>
      </p:sp>
      <p:sp>
        <p:nvSpPr>
          <p:cNvPr id="22" name="Text 19"/>
          <p:cNvSpPr/>
          <p:nvPr/>
        </p:nvSpPr>
        <p:spPr>
          <a:xfrm>
            <a:off x="6813872" y="1960290"/>
            <a:ext cx="176719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dirty="0">
                <a:solidFill>
                  <a:srgbClr val="54657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→</a:t>
            </a:r>
            <a:endParaRPr lang="en-US" sz="860" dirty="0"/>
          </a:p>
        </p:txBody>
      </p:sp>
      <p:sp>
        <p:nvSpPr>
          <p:cNvPr id="23" name="Shape 20"/>
          <p:cNvSpPr/>
          <p:nvPr/>
        </p:nvSpPr>
        <p:spPr>
          <a:xfrm>
            <a:off x="1457697" y="2201689"/>
            <a:ext cx="1828800" cy="247650"/>
          </a:xfrm>
          <a:prstGeom prst="roundRect">
            <a:avLst>
              <a:gd name="adj" fmla="val 18462"/>
            </a:avLst>
          </a:prstGeom>
          <a:solidFill>
            <a:srgbClr val="1B2536"/>
          </a:solidFill>
          <a:ln w="4763">
            <a:solidFill>
              <a:srgbClr val="39485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545506" y="2253258"/>
            <a:ext cx="2206288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3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Answers differ by person &amp; country</a:t>
            </a:r>
            <a:endParaRPr lang="en-US" sz="830" dirty="0"/>
          </a:p>
        </p:txBody>
      </p:sp>
      <p:sp>
        <p:nvSpPr>
          <p:cNvPr id="25" name="Text 22"/>
          <p:cNvSpPr/>
          <p:nvPr/>
        </p:nvSpPr>
        <p:spPr>
          <a:xfrm>
            <a:off x="1458590" y="2509763"/>
            <a:ext cx="3918555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405"/>
              </a:spcBef>
              <a:buNone/>
            </a:pPr>
            <a:r>
              <a:rPr lang="en-US" sz="830" dirty="0">
                <a:solidFill>
                  <a:srgbClr val="E08A8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Days to answer · inconsistent guidance creates compliance risk</a:t>
            </a:r>
            <a:endParaRPr lang="en-US" sz="830" dirty="0"/>
          </a:p>
        </p:txBody>
      </p:sp>
      <p:sp>
        <p:nvSpPr>
          <p:cNvPr id="26" name="Shape 23"/>
          <p:cNvSpPr/>
          <p:nvPr/>
        </p:nvSpPr>
        <p:spPr>
          <a:xfrm>
            <a:off x="411956" y="2898279"/>
            <a:ext cx="8320087" cy="919162"/>
          </a:xfrm>
          <a:prstGeom prst="roundRect">
            <a:avLst>
              <a:gd name="adj" fmla="val 6964"/>
            </a:avLst>
          </a:prstGeom>
          <a:solidFill>
            <a:srgbClr val="0E2440"/>
          </a:solidFill>
          <a:ln w="4763">
            <a:solidFill>
              <a:srgbClr val="2F5C94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44190" y="3173685"/>
            <a:ext cx="619006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40" b="1" spc="140" kern="0" dirty="0">
                <a:solidFill>
                  <a:srgbClr val="7AC9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TO-BE</a:t>
            </a:r>
            <a:endParaRPr lang="en-US" sz="940" dirty="0"/>
          </a:p>
        </p:txBody>
      </p:sp>
      <p:sp>
        <p:nvSpPr>
          <p:cNvPr id="28" name="Shape 25"/>
          <p:cNvSpPr/>
          <p:nvPr/>
        </p:nvSpPr>
        <p:spPr>
          <a:xfrm>
            <a:off x="1458627" y="2985641"/>
            <a:ext cx="1181100" cy="247650"/>
          </a:xfrm>
          <a:prstGeom prst="roundRect">
            <a:avLst>
              <a:gd name="adj" fmla="val 18462"/>
            </a:avLst>
          </a:prstGeom>
          <a:solidFill>
            <a:srgbClr val="0F2A47"/>
          </a:solidFill>
          <a:ln w="4763">
            <a:solidFill>
              <a:srgbClr val="2F5C94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545506" y="3037210"/>
            <a:ext cx="1366696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30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Ask in any channel</a:t>
            </a:r>
            <a:pPr algn="l" indent="0" marL="0">
              <a:buNone/>
            </a:pPr>
            <a:r>
              <a:rPr lang="en-US" sz="830" b="1" dirty="0">
                <a:solidFill>
                  <a:srgbClr val="7AC9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①</a:t>
            </a:r>
            <a:endParaRPr lang="en-US" sz="830" dirty="0"/>
          </a:p>
        </p:txBody>
      </p:sp>
      <p:sp>
        <p:nvSpPr>
          <p:cNvPr id="30" name="Text 27"/>
          <p:cNvSpPr/>
          <p:nvPr/>
        </p:nvSpPr>
        <p:spPr>
          <a:xfrm>
            <a:off x="2685529" y="3031927"/>
            <a:ext cx="176719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dirty="0">
                <a:solidFill>
                  <a:srgbClr val="3D6DB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→</a:t>
            </a:r>
            <a:endParaRPr lang="en-US" sz="860" dirty="0"/>
          </a:p>
        </p:txBody>
      </p:sp>
      <p:sp>
        <p:nvSpPr>
          <p:cNvPr id="31" name="Shape 28"/>
          <p:cNvSpPr/>
          <p:nvPr/>
        </p:nvSpPr>
        <p:spPr>
          <a:xfrm>
            <a:off x="2823270" y="2985641"/>
            <a:ext cx="1876425" cy="247650"/>
          </a:xfrm>
          <a:prstGeom prst="roundRect">
            <a:avLst>
              <a:gd name="adj" fmla="val 18462"/>
            </a:avLst>
          </a:prstGeom>
          <a:solidFill>
            <a:srgbClr val="0F2A47"/>
          </a:solidFill>
          <a:ln w="4763">
            <a:solidFill>
              <a:srgbClr val="2F5C94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2910185" y="3037210"/>
            <a:ext cx="2270522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30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Triage identifies a policy question</a:t>
            </a:r>
            <a:pPr algn="l" indent="0" marL="0">
              <a:buNone/>
            </a:pPr>
            <a:r>
              <a:rPr lang="en-US" sz="830" b="1" dirty="0">
                <a:solidFill>
                  <a:srgbClr val="7AC9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④</a:t>
            </a:r>
            <a:endParaRPr lang="en-US" sz="830" dirty="0"/>
          </a:p>
        </p:txBody>
      </p:sp>
      <p:sp>
        <p:nvSpPr>
          <p:cNvPr id="33" name="Text 30"/>
          <p:cNvSpPr/>
          <p:nvPr/>
        </p:nvSpPr>
        <p:spPr>
          <a:xfrm>
            <a:off x="4745459" y="3031927"/>
            <a:ext cx="176719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dirty="0">
                <a:solidFill>
                  <a:srgbClr val="3D6DB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→</a:t>
            </a:r>
            <a:endParaRPr lang="en-US" sz="860" dirty="0"/>
          </a:p>
        </p:txBody>
      </p:sp>
      <p:sp>
        <p:nvSpPr>
          <p:cNvPr id="34" name="Shape 31"/>
          <p:cNvSpPr/>
          <p:nvPr/>
        </p:nvSpPr>
        <p:spPr>
          <a:xfrm>
            <a:off x="4884279" y="2985641"/>
            <a:ext cx="2438400" cy="247650"/>
          </a:xfrm>
          <a:prstGeom prst="roundRect">
            <a:avLst>
              <a:gd name="adj" fmla="val 18462"/>
            </a:avLst>
          </a:prstGeom>
          <a:solidFill>
            <a:srgbClr val="0F2A47"/>
          </a:solidFill>
          <a:ln w="4763">
            <a:solidFill>
              <a:srgbClr val="2F5C94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970115" y="3037210"/>
            <a:ext cx="3003895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30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Country-aware lookup in the HR policy library</a:t>
            </a:r>
            <a:pPr algn="l" indent="0" marL="0">
              <a:buNone/>
            </a:pPr>
            <a:r>
              <a:rPr lang="en-US" sz="830" b="1" dirty="0">
                <a:solidFill>
                  <a:srgbClr val="7AC9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⑥</a:t>
            </a:r>
            <a:endParaRPr lang="en-US" sz="830" dirty="0"/>
          </a:p>
        </p:txBody>
      </p:sp>
      <p:sp>
        <p:nvSpPr>
          <p:cNvPr id="36" name="Text 33"/>
          <p:cNvSpPr/>
          <p:nvPr/>
        </p:nvSpPr>
        <p:spPr>
          <a:xfrm>
            <a:off x="7369522" y="3031927"/>
            <a:ext cx="176719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dirty="0">
                <a:solidFill>
                  <a:srgbClr val="3D6DB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→</a:t>
            </a:r>
            <a:endParaRPr lang="en-US" sz="860" dirty="0"/>
          </a:p>
        </p:txBody>
      </p:sp>
      <p:sp>
        <p:nvSpPr>
          <p:cNvPr id="37" name="Shape 34"/>
          <p:cNvSpPr/>
          <p:nvPr/>
        </p:nvSpPr>
        <p:spPr>
          <a:xfrm>
            <a:off x="1459223" y="3273326"/>
            <a:ext cx="2205037" cy="247650"/>
          </a:xfrm>
          <a:prstGeom prst="roundRect">
            <a:avLst>
              <a:gd name="adj" fmla="val 18462"/>
            </a:avLst>
          </a:prstGeom>
          <a:solidFill>
            <a:srgbClr val="0F2A47"/>
          </a:solidFill>
          <a:ln w="4763">
            <a:solidFill>
              <a:srgbClr val="2F5C94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1545506" y="3324895"/>
            <a:ext cx="2699363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30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Fast reasoning composes a cited answer</a:t>
            </a:r>
            <a:pPr algn="l" indent="0" marL="0">
              <a:buNone/>
            </a:pPr>
            <a:r>
              <a:rPr lang="en-US" sz="830" b="1" dirty="0">
                <a:solidFill>
                  <a:srgbClr val="7AC9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⑤</a:t>
            </a:r>
            <a:endParaRPr lang="en-US" sz="830" dirty="0"/>
          </a:p>
        </p:txBody>
      </p:sp>
      <p:sp>
        <p:nvSpPr>
          <p:cNvPr id="39" name="Text 36"/>
          <p:cNvSpPr/>
          <p:nvPr/>
        </p:nvSpPr>
        <p:spPr>
          <a:xfrm>
            <a:off x="3710657" y="3319611"/>
            <a:ext cx="176719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dirty="0">
                <a:solidFill>
                  <a:srgbClr val="3D6DB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→</a:t>
            </a:r>
            <a:endParaRPr lang="en-US" sz="860" dirty="0"/>
          </a:p>
        </p:txBody>
      </p:sp>
      <p:sp>
        <p:nvSpPr>
          <p:cNvPr id="40" name="Shape 37"/>
          <p:cNvSpPr/>
          <p:nvPr/>
        </p:nvSpPr>
        <p:spPr>
          <a:xfrm>
            <a:off x="3848323" y="3273326"/>
            <a:ext cx="2400300" cy="247650"/>
          </a:xfrm>
          <a:prstGeom prst="roundRect">
            <a:avLst>
              <a:gd name="adj" fmla="val 18462"/>
            </a:avLst>
          </a:prstGeom>
          <a:solidFill>
            <a:srgbClr val="3A2A14"/>
          </a:solidFill>
          <a:ln w="4763">
            <a:solidFill>
              <a:srgbClr val="8A6A2F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3935313" y="3324895"/>
            <a:ext cx="2951366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30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Low confidence? routed to HR ops for review</a:t>
            </a:r>
            <a:pPr algn="l" indent="0" marL="0">
              <a:buNone/>
            </a:pPr>
            <a:r>
              <a:rPr lang="en-US" sz="830" b="1" dirty="0">
                <a:solidFill>
                  <a:srgbClr val="7AC9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⑤</a:t>
            </a:r>
            <a:endParaRPr lang="en-US" sz="830" dirty="0"/>
          </a:p>
        </p:txBody>
      </p:sp>
      <p:sp>
        <p:nvSpPr>
          <p:cNvPr id="42" name="Text 39"/>
          <p:cNvSpPr/>
          <p:nvPr/>
        </p:nvSpPr>
        <p:spPr>
          <a:xfrm>
            <a:off x="1458590" y="3581400"/>
            <a:ext cx="4716453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405"/>
              </a:spcBef>
              <a:buNone/>
            </a:pPr>
            <a:r>
              <a:rPr lang="en-US" sz="830" dirty="0">
                <a:solidFill>
                  <a:srgbClr val="7EE0A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Consistent, cited answers in seconds — one source of truth for every country</a:t>
            </a:r>
            <a:endParaRPr lang="en-US" sz="830" dirty="0"/>
          </a:p>
        </p:txBody>
      </p:sp>
      <p:sp>
        <p:nvSpPr>
          <p:cNvPr id="43" name="Text 40"/>
          <p:cNvSpPr/>
          <p:nvPr/>
        </p:nvSpPr>
        <p:spPr>
          <a:xfrm>
            <a:off x="4554654" y="4747096"/>
            <a:ext cx="4177911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①–⑦ = component on the architecture slides ·</a:t>
            </a:r>
            <a:pPr algn="r" indent="0" marL="0">
              <a:buNone/>
            </a:pPr>
            <a:r>
              <a:rPr lang="en-US" sz="760" dirty="0">
                <a:solidFill>
                  <a:srgbClr val="D9B36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amber = human in the loop</a:t>
            </a:r>
            <a:endParaRPr lang="en-US" sz="76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52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-484"/>
            <a:ext cx="8229600" cy="52388"/>
          </a:xfrm>
          <a:prstGeom prst="rect">
            <a:avLst/>
          </a:prstGeom>
          <a:solidFill>
            <a:srgbClr val="2F81F7"/>
          </a:solidFill>
          <a:ln/>
        </p:spPr>
      </p:sp>
      <p:sp>
        <p:nvSpPr>
          <p:cNvPr id="5" name="Text 2"/>
          <p:cNvSpPr/>
          <p:nvPr/>
        </p:nvSpPr>
        <p:spPr>
          <a:xfrm>
            <a:off x="411435" y="266700"/>
            <a:ext cx="345904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b="1" spc="190" kern="0" dirty="0">
                <a:solidFill>
                  <a:srgbClr val="7AC9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LIFECYCLE FLOW 3 · COMPLEX CASE</a:t>
            </a:r>
            <a:endParaRPr lang="en-US" sz="860" dirty="0"/>
          </a:p>
        </p:txBody>
      </p:sp>
      <p:sp>
        <p:nvSpPr>
          <p:cNvPr id="6" name="Text 3"/>
          <p:cNvSpPr/>
          <p:nvPr/>
        </p:nvSpPr>
        <p:spPr>
          <a:xfrm>
            <a:off x="411435" y="466130"/>
            <a:ext cx="403841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162"/>
              </a:spcBef>
              <a:buNone/>
            </a:pPr>
            <a:r>
              <a:rPr lang="en-US" sz="1870" b="1" spc="-47" kern="0" dirty="0">
                <a:solidFill>
                  <a:srgbClr val="E8F1F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Payroll Discrepancy Dispute</a:t>
            </a:r>
            <a:endParaRPr lang="en-US" sz="1870" dirty="0"/>
          </a:p>
        </p:txBody>
      </p:sp>
      <p:sp>
        <p:nvSpPr>
          <p:cNvPr id="7" name="Text 4"/>
          <p:cNvSpPr/>
          <p:nvPr/>
        </p:nvSpPr>
        <p:spPr>
          <a:xfrm>
            <a:off x="6062737" y="460772"/>
            <a:ext cx="702491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60" dirty="0">
                <a:solidFill>
                  <a:srgbClr val="7AC9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Multi-agent</a:t>
            </a:r>
            <a:endParaRPr lang="en-US" sz="760" dirty="0"/>
          </a:p>
        </p:txBody>
      </p:sp>
      <p:sp>
        <p:nvSpPr>
          <p:cNvPr id="8" name="Text 5"/>
          <p:cNvSpPr/>
          <p:nvPr/>
        </p:nvSpPr>
        <p:spPr>
          <a:xfrm>
            <a:off x="6806282" y="460772"/>
            <a:ext cx="114477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60" dirty="0">
                <a:solidFill>
                  <a:srgbClr val="7AC9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Human-in-the-loop</a:t>
            </a:r>
            <a:endParaRPr lang="en-US" sz="760" dirty="0"/>
          </a:p>
        </p:txBody>
      </p:sp>
      <p:sp>
        <p:nvSpPr>
          <p:cNvPr id="9" name="Text 6"/>
          <p:cNvSpPr/>
          <p:nvPr/>
        </p:nvSpPr>
        <p:spPr>
          <a:xfrm>
            <a:off x="7890049" y="460772"/>
            <a:ext cx="102743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60" dirty="0">
                <a:solidFill>
                  <a:srgbClr val="7AC9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Gated write-back</a:t>
            </a:r>
            <a:endParaRPr lang="en-US" sz="760" dirty="0"/>
          </a:p>
        </p:txBody>
      </p:sp>
      <p:sp>
        <p:nvSpPr>
          <p:cNvPr id="10" name="Shape 7"/>
          <p:cNvSpPr/>
          <p:nvPr/>
        </p:nvSpPr>
        <p:spPr>
          <a:xfrm>
            <a:off x="411956" y="1755800"/>
            <a:ext cx="8320087" cy="628650"/>
          </a:xfrm>
          <a:prstGeom prst="roundRect">
            <a:avLst>
              <a:gd name="adj" fmla="val 10182"/>
            </a:avLst>
          </a:prstGeom>
          <a:solidFill>
            <a:srgbClr val="141B29"/>
          </a:solidFill>
          <a:ln w="4763">
            <a:solidFill>
              <a:srgbClr val="30405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4190" y="1885950"/>
            <a:ext cx="56580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40" b="1" spc="140" kern="0" dirty="0">
                <a:solidFill>
                  <a:srgbClr val="8AA3C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AS-IS</a:t>
            </a:r>
            <a:endParaRPr lang="en-US" sz="940" dirty="0"/>
          </a:p>
        </p:txBody>
      </p:sp>
      <p:sp>
        <p:nvSpPr>
          <p:cNvPr id="12" name="Shape 9"/>
          <p:cNvSpPr/>
          <p:nvPr/>
        </p:nvSpPr>
        <p:spPr>
          <a:xfrm>
            <a:off x="1459557" y="1841748"/>
            <a:ext cx="2043113" cy="247650"/>
          </a:xfrm>
          <a:prstGeom prst="roundRect">
            <a:avLst>
              <a:gd name="adj" fmla="val 18462"/>
            </a:avLst>
          </a:prstGeom>
          <a:solidFill>
            <a:srgbClr val="1B2536"/>
          </a:solidFill>
          <a:ln w="4763">
            <a:solidFill>
              <a:srgbClr val="39485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545506" y="1893317"/>
            <a:ext cx="2489731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3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Ticket bounced payroll ↔ benefits ↔ HR</a:t>
            </a:r>
            <a:endParaRPr lang="en-US" sz="830" dirty="0"/>
          </a:p>
        </p:txBody>
      </p:sp>
      <p:sp>
        <p:nvSpPr>
          <p:cNvPr id="14" name="Text 11"/>
          <p:cNvSpPr/>
          <p:nvPr/>
        </p:nvSpPr>
        <p:spPr>
          <a:xfrm>
            <a:off x="3549402" y="1888034"/>
            <a:ext cx="176719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dirty="0">
                <a:solidFill>
                  <a:srgbClr val="54657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→</a:t>
            </a:r>
            <a:endParaRPr lang="en-US" sz="860" dirty="0"/>
          </a:p>
        </p:txBody>
      </p:sp>
      <p:sp>
        <p:nvSpPr>
          <p:cNvPr id="15" name="Shape 12"/>
          <p:cNvSpPr/>
          <p:nvPr/>
        </p:nvSpPr>
        <p:spPr>
          <a:xfrm>
            <a:off x="3686361" y="1841748"/>
            <a:ext cx="1590675" cy="247650"/>
          </a:xfrm>
          <a:prstGeom prst="roundRect">
            <a:avLst>
              <a:gd name="adj" fmla="val 18462"/>
            </a:avLst>
          </a:prstGeom>
          <a:solidFill>
            <a:srgbClr val="1B2536"/>
          </a:solidFill>
          <a:ln w="4763">
            <a:solidFill>
              <a:srgbClr val="39485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774058" y="1893317"/>
            <a:ext cx="1897015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3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Employee resubmits evidence</a:t>
            </a:r>
            <a:endParaRPr lang="en-US" sz="830" dirty="0"/>
          </a:p>
        </p:txBody>
      </p:sp>
      <p:sp>
        <p:nvSpPr>
          <p:cNvPr id="17" name="Text 14"/>
          <p:cNvSpPr/>
          <p:nvPr/>
        </p:nvSpPr>
        <p:spPr>
          <a:xfrm>
            <a:off x="5322019" y="1888034"/>
            <a:ext cx="176719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dirty="0">
                <a:solidFill>
                  <a:srgbClr val="54657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→</a:t>
            </a:r>
            <a:endParaRPr lang="en-US" sz="860" dirty="0"/>
          </a:p>
        </p:txBody>
      </p:sp>
      <p:sp>
        <p:nvSpPr>
          <p:cNvPr id="18" name="Shape 15"/>
          <p:cNvSpPr/>
          <p:nvPr/>
        </p:nvSpPr>
        <p:spPr>
          <a:xfrm>
            <a:off x="5459611" y="1841748"/>
            <a:ext cx="1157288" cy="247650"/>
          </a:xfrm>
          <a:prstGeom prst="roundRect">
            <a:avLst>
              <a:gd name="adj" fmla="val 18462"/>
            </a:avLst>
          </a:prstGeom>
          <a:solidFill>
            <a:srgbClr val="1B2536"/>
          </a:solidFill>
          <a:ln w="4763">
            <a:solidFill>
              <a:srgbClr val="39485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546675" y="1893317"/>
            <a:ext cx="1335256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3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Manual recalculation</a:t>
            </a:r>
            <a:endParaRPr lang="en-US" sz="830" dirty="0"/>
          </a:p>
        </p:txBody>
      </p:sp>
      <p:sp>
        <p:nvSpPr>
          <p:cNvPr id="20" name="Text 17"/>
          <p:cNvSpPr/>
          <p:nvPr/>
        </p:nvSpPr>
        <p:spPr>
          <a:xfrm>
            <a:off x="6662514" y="1888034"/>
            <a:ext cx="176719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dirty="0">
                <a:solidFill>
                  <a:srgbClr val="54657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→</a:t>
            </a:r>
            <a:endParaRPr lang="en-US" sz="860" dirty="0"/>
          </a:p>
        </p:txBody>
      </p:sp>
      <p:sp>
        <p:nvSpPr>
          <p:cNvPr id="21" name="Shape 18"/>
          <p:cNvSpPr/>
          <p:nvPr/>
        </p:nvSpPr>
        <p:spPr>
          <a:xfrm>
            <a:off x="6799994" y="1841748"/>
            <a:ext cx="1643063" cy="247650"/>
          </a:xfrm>
          <a:prstGeom prst="roundRect">
            <a:avLst>
              <a:gd name="adj" fmla="val 18462"/>
            </a:avLst>
          </a:prstGeom>
          <a:solidFill>
            <a:srgbClr val="1B2536"/>
          </a:solidFill>
          <a:ln w="4763">
            <a:solidFill>
              <a:srgbClr val="39485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887170" y="1893317"/>
            <a:ext cx="1966473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3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Correction lands next pay cycle</a:t>
            </a:r>
            <a:endParaRPr lang="en-US" sz="830" dirty="0"/>
          </a:p>
        </p:txBody>
      </p:sp>
      <p:sp>
        <p:nvSpPr>
          <p:cNvPr id="23" name="Text 20"/>
          <p:cNvSpPr/>
          <p:nvPr/>
        </p:nvSpPr>
        <p:spPr>
          <a:xfrm>
            <a:off x="1458590" y="2149822"/>
            <a:ext cx="4376804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405"/>
              </a:spcBef>
              <a:buNone/>
            </a:pPr>
            <a:r>
              <a:rPr lang="en-US" sz="830" dirty="0">
                <a:solidFill>
                  <a:srgbClr val="E08A8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2–4 weeks · repeated hand-offs · frequent escalations to management</a:t>
            </a:r>
            <a:endParaRPr lang="en-US" sz="830" dirty="0"/>
          </a:p>
        </p:txBody>
      </p:sp>
      <p:sp>
        <p:nvSpPr>
          <p:cNvPr id="24" name="Shape 21"/>
          <p:cNvSpPr/>
          <p:nvPr/>
        </p:nvSpPr>
        <p:spPr>
          <a:xfrm>
            <a:off x="411956" y="2540124"/>
            <a:ext cx="8320087" cy="1347788"/>
          </a:xfrm>
          <a:prstGeom prst="roundRect">
            <a:avLst>
              <a:gd name="adj" fmla="val 4749"/>
            </a:avLst>
          </a:prstGeom>
          <a:solidFill>
            <a:srgbClr val="0E2440"/>
          </a:solidFill>
          <a:ln w="4763">
            <a:solidFill>
              <a:srgbClr val="2F5C94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44190" y="3029843"/>
            <a:ext cx="619006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40" b="1" spc="140" kern="0" dirty="0">
                <a:solidFill>
                  <a:srgbClr val="7AC9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TO-BE</a:t>
            </a:r>
            <a:endParaRPr lang="en-US" sz="940" dirty="0"/>
          </a:p>
        </p:txBody>
      </p:sp>
      <p:sp>
        <p:nvSpPr>
          <p:cNvPr id="26" name="Shape 23"/>
          <p:cNvSpPr/>
          <p:nvPr/>
        </p:nvSpPr>
        <p:spPr>
          <a:xfrm>
            <a:off x="1458702" y="2697956"/>
            <a:ext cx="2009775" cy="247650"/>
          </a:xfrm>
          <a:prstGeom prst="roundRect">
            <a:avLst>
              <a:gd name="adj" fmla="val 18462"/>
            </a:avLst>
          </a:prstGeom>
          <a:solidFill>
            <a:srgbClr val="0F2A47"/>
          </a:solidFill>
          <a:ln w="4763">
            <a:solidFill>
              <a:srgbClr val="2F5C94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545506" y="2749525"/>
            <a:ext cx="2444167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30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Employee uploads a payslip photo</a:t>
            </a:r>
            <a:pPr algn="l" indent="0" marL="0">
              <a:buNone/>
            </a:pPr>
            <a:r>
              <a:rPr lang="en-US" sz="830" b="1" dirty="0">
                <a:solidFill>
                  <a:srgbClr val="7AC9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①③</a:t>
            </a:r>
            <a:endParaRPr lang="en-US" sz="830" dirty="0"/>
          </a:p>
        </p:txBody>
      </p:sp>
      <p:sp>
        <p:nvSpPr>
          <p:cNvPr id="28" name="Text 25"/>
          <p:cNvSpPr/>
          <p:nvPr/>
        </p:nvSpPr>
        <p:spPr>
          <a:xfrm>
            <a:off x="3514353" y="2744242"/>
            <a:ext cx="176719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dirty="0">
                <a:solidFill>
                  <a:srgbClr val="3D6DB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→</a:t>
            </a:r>
            <a:endParaRPr lang="en-US" sz="860" dirty="0"/>
          </a:p>
        </p:txBody>
      </p:sp>
      <p:sp>
        <p:nvSpPr>
          <p:cNvPr id="29" name="Shape 26"/>
          <p:cNvSpPr/>
          <p:nvPr/>
        </p:nvSpPr>
        <p:spPr>
          <a:xfrm>
            <a:off x="3652317" y="2626519"/>
            <a:ext cx="3648075" cy="390525"/>
          </a:xfrm>
          <a:prstGeom prst="roundRect">
            <a:avLst>
              <a:gd name="adj" fmla="val 11707"/>
            </a:avLst>
          </a:prstGeom>
          <a:solidFill>
            <a:srgbClr val="0F2A47"/>
          </a:solidFill>
          <a:ln w="4763">
            <a:solidFill>
              <a:srgbClr val="2F5C94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739009" y="2677269"/>
            <a:ext cx="4326307" cy="282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8"/>
              </a:lnSpc>
              <a:buNone/>
            </a:pPr>
            <a:r>
              <a:rPr lang="en-US" sz="830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Case lead delegates: payroll agent recomputes, benefits agent checks</a:t>
            </a:r>
            <a:endParaRPr lang="en-US" sz="830" dirty="0"/>
          </a:p>
          <a:p>
            <a:pPr algn="l" indent="0" marL="0">
              <a:lnSpc>
                <a:spcPts val="1138"/>
              </a:lnSpc>
              <a:buNone/>
            </a:pPr>
            <a:r>
              <a:rPr lang="en-US" sz="830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deductions</a:t>
            </a:r>
            <a:pPr algn="l" indent="0" marL="0">
              <a:lnSpc>
                <a:spcPts val="1138"/>
              </a:lnSpc>
              <a:buNone/>
            </a:pPr>
            <a:r>
              <a:rPr lang="en-US" sz="830" b="1" dirty="0">
                <a:solidFill>
                  <a:srgbClr val="7AC9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⑤</a:t>
            </a:r>
            <a:endParaRPr lang="en-US" sz="830" dirty="0"/>
          </a:p>
        </p:txBody>
      </p:sp>
      <p:sp>
        <p:nvSpPr>
          <p:cNvPr id="31" name="Text 28"/>
          <p:cNvSpPr/>
          <p:nvPr/>
        </p:nvSpPr>
        <p:spPr>
          <a:xfrm>
            <a:off x="7346379" y="2744242"/>
            <a:ext cx="176719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dirty="0">
                <a:solidFill>
                  <a:srgbClr val="3D6DB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→</a:t>
            </a:r>
            <a:endParaRPr lang="en-US" sz="860" dirty="0"/>
          </a:p>
        </p:txBody>
      </p:sp>
      <p:sp>
        <p:nvSpPr>
          <p:cNvPr id="32" name="Shape 29"/>
          <p:cNvSpPr/>
          <p:nvPr/>
        </p:nvSpPr>
        <p:spPr>
          <a:xfrm>
            <a:off x="1459520" y="3057897"/>
            <a:ext cx="2219325" cy="247650"/>
          </a:xfrm>
          <a:prstGeom prst="roundRect">
            <a:avLst>
              <a:gd name="adj" fmla="val 18462"/>
            </a:avLst>
          </a:prstGeom>
          <a:solidFill>
            <a:srgbClr val="0F2A47"/>
          </a:solidFill>
          <a:ln w="4763">
            <a:solidFill>
              <a:srgbClr val="2F5C94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1545506" y="3109466"/>
            <a:ext cx="2718710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30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Agents reconcile findings agent-to-agent</a:t>
            </a:r>
            <a:pPr algn="l" indent="0" marL="0">
              <a:buNone/>
            </a:pPr>
            <a:r>
              <a:rPr lang="en-US" sz="830" b="1" dirty="0">
                <a:solidFill>
                  <a:srgbClr val="7AC9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⑤</a:t>
            </a:r>
            <a:endParaRPr lang="en-US" sz="830" dirty="0"/>
          </a:p>
        </p:txBody>
      </p:sp>
      <p:sp>
        <p:nvSpPr>
          <p:cNvPr id="34" name="Text 31"/>
          <p:cNvSpPr/>
          <p:nvPr/>
        </p:nvSpPr>
        <p:spPr>
          <a:xfrm>
            <a:off x="3725540" y="3104183"/>
            <a:ext cx="176719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dirty="0">
                <a:solidFill>
                  <a:srgbClr val="3D6DB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→</a:t>
            </a:r>
            <a:endParaRPr lang="en-US" sz="860" dirty="0"/>
          </a:p>
        </p:txBody>
      </p:sp>
      <p:sp>
        <p:nvSpPr>
          <p:cNvPr id="35" name="Shape 32"/>
          <p:cNvSpPr/>
          <p:nvPr/>
        </p:nvSpPr>
        <p:spPr>
          <a:xfrm>
            <a:off x="3862276" y="3057897"/>
            <a:ext cx="2490787" cy="247650"/>
          </a:xfrm>
          <a:prstGeom prst="roundRect">
            <a:avLst>
              <a:gd name="adj" fmla="val 18462"/>
            </a:avLst>
          </a:prstGeom>
          <a:solidFill>
            <a:srgbClr val="3A2A14"/>
          </a:solidFill>
          <a:ln w="4763">
            <a:solidFill>
              <a:srgbClr val="8A6A2F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3950196" y="3109466"/>
            <a:ext cx="3066581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30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Proposed correction sent to a human approver</a:t>
            </a:r>
            <a:pPr algn="l" indent="0" marL="0">
              <a:buNone/>
            </a:pPr>
            <a:r>
              <a:rPr lang="en-US" sz="830" b="1" dirty="0">
                <a:solidFill>
                  <a:srgbClr val="7AC9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⑤</a:t>
            </a:r>
            <a:endParaRPr lang="en-US" sz="830" dirty="0"/>
          </a:p>
        </p:txBody>
      </p:sp>
      <p:sp>
        <p:nvSpPr>
          <p:cNvPr id="37" name="Text 34"/>
          <p:cNvSpPr/>
          <p:nvPr/>
        </p:nvSpPr>
        <p:spPr>
          <a:xfrm>
            <a:off x="6397823" y="3104183"/>
            <a:ext cx="176719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dirty="0">
                <a:solidFill>
                  <a:srgbClr val="3D6DB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→</a:t>
            </a:r>
            <a:endParaRPr lang="en-US" sz="860" dirty="0"/>
          </a:p>
        </p:txBody>
      </p:sp>
      <p:sp>
        <p:nvSpPr>
          <p:cNvPr id="38" name="Shape 35"/>
          <p:cNvSpPr/>
          <p:nvPr/>
        </p:nvSpPr>
        <p:spPr>
          <a:xfrm>
            <a:off x="6535824" y="3057897"/>
            <a:ext cx="1819275" cy="247650"/>
          </a:xfrm>
          <a:prstGeom prst="roundRect">
            <a:avLst>
              <a:gd name="adj" fmla="val 18462"/>
            </a:avLst>
          </a:prstGeom>
          <a:solidFill>
            <a:srgbClr val="0F2A47"/>
          </a:solidFill>
          <a:ln w="4763">
            <a:solidFill>
              <a:srgbClr val="2F5C94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622479" y="3109466"/>
            <a:ext cx="2196904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30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Approved fix written to payroll</a:t>
            </a:r>
            <a:pPr algn="l" indent="0" marL="0">
              <a:buNone/>
            </a:pPr>
            <a:r>
              <a:rPr lang="en-US" sz="830" b="1" dirty="0">
                <a:solidFill>
                  <a:srgbClr val="7AC9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⑥⑦</a:t>
            </a:r>
            <a:endParaRPr lang="en-US" sz="830" dirty="0"/>
          </a:p>
        </p:txBody>
      </p:sp>
      <p:sp>
        <p:nvSpPr>
          <p:cNvPr id="40" name="Text 37"/>
          <p:cNvSpPr/>
          <p:nvPr/>
        </p:nvSpPr>
        <p:spPr>
          <a:xfrm>
            <a:off x="8401124" y="3104183"/>
            <a:ext cx="176719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dirty="0">
                <a:solidFill>
                  <a:srgbClr val="3D6DB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→</a:t>
            </a:r>
            <a:endParaRPr lang="en-US" sz="860" dirty="0"/>
          </a:p>
        </p:txBody>
      </p:sp>
      <p:sp>
        <p:nvSpPr>
          <p:cNvPr id="41" name="Shape 38"/>
          <p:cNvSpPr/>
          <p:nvPr/>
        </p:nvSpPr>
        <p:spPr>
          <a:xfrm>
            <a:off x="1457585" y="3345582"/>
            <a:ext cx="2005012" cy="247650"/>
          </a:xfrm>
          <a:prstGeom prst="roundRect">
            <a:avLst>
              <a:gd name="adj" fmla="val 18462"/>
            </a:avLst>
          </a:prstGeom>
          <a:solidFill>
            <a:srgbClr val="0F2A47"/>
          </a:solidFill>
          <a:ln w="4763">
            <a:solidFill>
              <a:srgbClr val="2F5C94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1545506" y="3397151"/>
            <a:ext cx="2435074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30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Employee notified · SLA case closed</a:t>
            </a:r>
            <a:pPr algn="l" indent="0" marL="0">
              <a:buNone/>
            </a:pPr>
            <a:r>
              <a:rPr lang="en-US" sz="830" b="1" dirty="0">
                <a:solidFill>
                  <a:srgbClr val="7AC9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⑥</a:t>
            </a:r>
            <a:endParaRPr lang="en-US" sz="830" dirty="0"/>
          </a:p>
        </p:txBody>
      </p:sp>
      <p:sp>
        <p:nvSpPr>
          <p:cNvPr id="43" name="Text 40"/>
          <p:cNvSpPr/>
          <p:nvPr/>
        </p:nvSpPr>
        <p:spPr>
          <a:xfrm>
            <a:off x="1458590" y="3653656"/>
            <a:ext cx="4764918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405"/>
              </a:spcBef>
              <a:buNone/>
            </a:pPr>
            <a:r>
              <a:rPr lang="en-US" sz="830" dirty="0">
                <a:solidFill>
                  <a:srgbClr val="7EE0A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Hours instead of weeks — the human approves the fix, never re-keys the data</a:t>
            </a:r>
            <a:endParaRPr lang="en-US" sz="830" dirty="0"/>
          </a:p>
        </p:txBody>
      </p:sp>
      <p:sp>
        <p:nvSpPr>
          <p:cNvPr id="44" name="Text 41"/>
          <p:cNvSpPr/>
          <p:nvPr/>
        </p:nvSpPr>
        <p:spPr>
          <a:xfrm>
            <a:off x="4554654" y="4747096"/>
            <a:ext cx="4177911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①–⑦ = component on the architecture slides ·</a:t>
            </a:r>
            <a:pPr algn="r" indent="0" marL="0">
              <a:buNone/>
            </a:pPr>
            <a:r>
              <a:rPr lang="en-US" sz="760" dirty="0">
                <a:solidFill>
                  <a:srgbClr val="D9B36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amber = human in the loop</a:t>
            </a:r>
            <a:endParaRPr lang="en-US" sz="76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52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-484"/>
            <a:ext cx="8229600" cy="52388"/>
          </a:xfrm>
          <a:prstGeom prst="rect">
            <a:avLst/>
          </a:prstGeom>
          <a:solidFill>
            <a:srgbClr val="2F81F7"/>
          </a:solidFill>
          <a:ln/>
        </p:spPr>
      </p:sp>
      <p:sp>
        <p:nvSpPr>
          <p:cNvPr id="5" name="Text 2"/>
          <p:cNvSpPr/>
          <p:nvPr/>
        </p:nvSpPr>
        <p:spPr>
          <a:xfrm>
            <a:off x="411435" y="266700"/>
            <a:ext cx="2990351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b="1" spc="190" kern="0" dirty="0">
                <a:solidFill>
                  <a:srgbClr val="7AC9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LIFECYCLE FLOW 4 · FRONTIER</a:t>
            </a:r>
            <a:endParaRPr lang="en-US" sz="860" dirty="0"/>
          </a:p>
        </p:txBody>
      </p:sp>
      <p:sp>
        <p:nvSpPr>
          <p:cNvPr id="6" name="Text 3"/>
          <p:cNvSpPr/>
          <p:nvPr/>
        </p:nvSpPr>
        <p:spPr>
          <a:xfrm>
            <a:off x="411435" y="466130"/>
            <a:ext cx="470794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162"/>
              </a:spcBef>
              <a:buNone/>
            </a:pPr>
            <a:r>
              <a:rPr lang="en-US" sz="1870" b="1" spc="-47" kern="0" dirty="0">
                <a:solidFill>
                  <a:srgbClr val="E8F1F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Cross-Border Relocation (Mover)</a:t>
            </a:r>
            <a:endParaRPr lang="en-US" sz="1870" dirty="0"/>
          </a:p>
        </p:txBody>
      </p:sp>
      <p:sp>
        <p:nvSpPr>
          <p:cNvPr id="7" name="Text 4"/>
          <p:cNvSpPr/>
          <p:nvPr/>
        </p:nvSpPr>
        <p:spPr>
          <a:xfrm>
            <a:off x="6267152" y="330919"/>
            <a:ext cx="194345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60" dirty="0">
                <a:solidFill>
                  <a:srgbClr val="7AC9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Beyond traditional RPA / chatbots</a:t>
            </a:r>
            <a:endParaRPr lang="en-US" sz="760" dirty="0"/>
          </a:p>
        </p:txBody>
      </p:sp>
      <p:sp>
        <p:nvSpPr>
          <p:cNvPr id="8" name="Text 5"/>
          <p:cNvSpPr/>
          <p:nvPr/>
        </p:nvSpPr>
        <p:spPr>
          <a:xfrm>
            <a:off x="7965281" y="330919"/>
            <a:ext cx="92963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60" dirty="0">
                <a:solidFill>
                  <a:srgbClr val="7AC9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Deep reasoning</a:t>
            </a:r>
            <a:endParaRPr lang="en-US" sz="760" dirty="0"/>
          </a:p>
        </p:txBody>
      </p:sp>
      <p:sp>
        <p:nvSpPr>
          <p:cNvPr id="9" name="Text 6"/>
          <p:cNvSpPr/>
          <p:nvPr/>
        </p:nvSpPr>
        <p:spPr>
          <a:xfrm>
            <a:off x="7481367" y="590624"/>
            <a:ext cx="155872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60" dirty="0">
                <a:solidFill>
                  <a:srgbClr val="7AC9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Multi-agent + human gates</a:t>
            </a:r>
            <a:endParaRPr lang="en-US" sz="760" dirty="0"/>
          </a:p>
        </p:txBody>
      </p:sp>
      <p:sp>
        <p:nvSpPr>
          <p:cNvPr id="10" name="Shape 7"/>
          <p:cNvSpPr/>
          <p:nvPr/>
        </p:nvSpPr>
        <p:spPr>
          <a:xfrm>
            <a:off x="411956" y="1828056"/>
            <a:ext cx="8320087" cy="628650"/>
          </a:xfrm>
          <a:prstGeom prst="roundRect">
            <a:avLst>
              <a:gd name="adj" fmla="val 10182"/>
            </a:avLst>
          </a:prstGeom>
          <a:solidFill>
            <a:srgbClr val="141B29"/>
          </a:solidFill>
          <a:ln w="4763">
            <a:solidFill>
              <a:srgbClr val="30405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4190" y="1958206"/>
            <a:ext cx="56580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40" b="1" spc="140" kern="0" dirty="0">
                <a:solidFill>
                  <a:srgbClr val="8AA3C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AS-IS</a:t>
            </a:r>
            <a:endParaRPr lang="en-US" sz="940" dirty="0"/>
          </a:p>
        </p:txBody>
      </p:sp>
      <p:sp>
        <p:nvSpPr>
          <p:cNvPr id="12" name="Shape 9"/>
          <p:cNvSpPr/>
          <p:nvPr/>
        </p:nvSpPr>
        <p:spPr>
          <a:xfrm>
            <a:off x="1459074" y="1914004"/>
            <a:ext cx="2581275" cy="247650"/>
          </a:xfrm>
          <a:prstGeom prst="roundRect">
            <a:avLst>
              <a:gd name="adj" fmla="val 18462"/>
            </a:avLst>
          </a:prstGeom>
          <a:solidFill>
            <a:srgbClr val="1B2536"/>
          </a:solidFill>
          <a:ln w="4763">
            <a:solidFill>
              <a:srgbClr val="39485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545506" y="1965573"/>
            <a:ext cx="3188084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3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HRBP + tax advisor + immigration firm trade emails</a:t>
            </a:r>
            <a:endParaRPr lang="en-US" sz="830" dirty="0"/>
          </a:p>
        </p:txBody>
      </p:sp>
      <p:sp>
        <p:nvSpPr>
          <p:cNvPr id="14" name="Text 11"/>
          <p:cNvSpPr/>
          <p:nvPr/>
        </p:nvSpPr>
        <p:spPr>
          <a:xfrm>
            <a:off x="4086597" y="1960290"/>
            <a:ext cx="176719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dirty="0">
                <a:solidFill>
                  <a:srgbClr val="54657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→</a:t>
            </a:r>
            <a:endParaRPr lang="en-US" sz="860" dirty="0"/>
          </a:p>
        </p:txBody>
      </p:sp>
      <p:sp>
        <p:nvSpPr>
          <p:cNvPr id="15" name="Shape 12"/>
          <p:cNvSpPr/>
          <p:nvPr/>
        </p:nvSpPr>
        <p:spPr>
          <a:xfrm>
            <a:off x="4223110" y="1914004"/>
            <a:ext cx="1585913" cy="247650"/>
          </a:xfrm>
          <a:prstGeom prst="roundRect">
            <a:avLst>
              <a:gd name="adj" fmla="val 18462"/>
            </a:avLst>
          </a:prstGeom>
          <a:solidFill>
            <a:srgbClr val="1B2536"/>
          </a:solidFill>
          <a:ln w="4763">
            <a:solidFill>
              <a:srgbClr val="39485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311253" y="1965573"/>
            <a:ext cx="1889663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3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Spreadsheets track 40+ steps</a:t>
            </a:r>
            <a:endParaRPr lang="en-US" sz="830" dirty="0"/>
          </a:p>
        </p:txBody>
      </p:sp>
      <p:sp>
        <p:nvSpPr>
          <p:cNvPr id="17" name="Text 14"/>
          <p:cNvSpPr/>
          <p:nvPr/>
        </p:nvSpPr>
        <p:spPr>
          <a:xfrm>
            <a:off x="5853559" y="1960290"/>
            <a:ext cx="176719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dirty="0">
                <a:solidFill>
                  <a:srgbClr val="54657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→</a:t>
            </a:r>
            <a:endParaRPr lang="en-US" sz="860" dirty="0"/>
          </a:p>
        </p:txBody>
      </p:sp>
      <p:sp>
        <p:nvSpPr>
          <p:cNvPr id="18" name="Shape 15"/>
          <p:cNvSpPr/>
          <p:nvPr/>
        </p:nvSpPr>
        <p:spPr>
          <a:xfrm>
            <a:off x="5990592" y="1914004"/>
            <a:ext cx="1852612" cy="247650"/>
          </a:xfrm>
          <a:prstGeom prst="roundRect">
            <a:avLst>
              <a:gd name="adj" fmla="val 18462"/>
            </a:avLst>
          </a:prstGeom>
          <a:solidFill>
            <a:srgbClr val="1B2536"/>
          </a:solidFill>
          <a:ln w="4763">
            <a:solidFill>
              <a:srgbClr val="39485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078215" y="1965573"/>
            <a:ext cx="2237728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3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Employee chases status for months</a:t>
            </a:r>
            <a:endParaRPr lang="en-US" sz="830" dirty="0"/>
          </a:p>
        </p:txBody>
      </p:sp>
      <p:sp>
        <p:nvSpPr>
          <p:cNvPr id="20" name="Text 17"/>
          <p:cNvSpPr/>
          <p:nvPr/>
        </p:nvSpPr>
        <p:spPr>
          <a:xfrm>
            <a:off x="1458590" y="2222078"/>
            <a:ext cx="5078931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405"/>
              </a:spcBef>
              <a:buNone/>
            </a:pPr>
            <a:r>
              <a:rPr lang="en-US" sz="830" dirty="0">
                <a:solidFill>
                  <a:srgbClr val="E08A8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8–12 weeks of fragmented hand-offs — too much judgment for classic automation</a:t>
            </a:r>
            <a:endParaRPr lang="en-US" sz="830" dirty="0"/>
          </a:p>
        </p:txBody>
      </p:sp>
      <p:sp>
        <p:nvSpPr>
          <p:cNvPr id="21" name="Shape 18"/>
          <p:cNvSpPr/>
          <p:nvPr/>
        </p:nvSpPr>
        <p:spPr>
          <a:xfrm>
            <a:off x="411956" y="2611562"/>
            <a:ext cx="8320087" cy="1204913"/>
          </a:xfrm>
          <a:prstGeom prst="roundRect">
            <a:avLst>
              <a:gd name="adj" fmla="val 5312"/>
            </a:avLst>
          </a:prstGeom>
          <a:solidFill>
            <a:srgbClr val="0E2440"/>
          </a:solidFill>
          <a:ln w="4763">
            <a:solidFill>
              <a:srgbClr val="2F5C94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44190" y="3029843"/>
            <a:ext cx="619006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40" b="1" spc="140" kern="0" dirty="0">
                <a:solidFill>
                  <a:srgbClr val="7AC9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TO-BE</a:t>
            </a:r>
            <a:endParaRPr lang="en-US" sz="940" dirty="0"/>
          </a:p>
        </p:txBody>
      </p:sp>
      <p:sp>
        <p:nvSpPr>
          <p:cNvPr id="23" name="Shape 20"/>
          <p:cNvSpPr/>
          <p:nvPr/>
        </p:nvSpPr>
        <p:spPr>
          <a:xfrm>
            <a:off x="1458069" y="2697956"/>
            <a:ext cx="2162175" cy="247650"/>
          </a:xfrm>
          <a:prstGeom prst="roundRect">
            <a:avLst>
              <a:gd name="adj" fmla="val 18462"/>
            </a:avLst>
          </a:prstGeom>
          <a:solidFill>
            <a:srgbClr val="0F2A47"/>
          </a:solidFill>
          <a:ln w="4763">
            <a:solidFill>
              <a:srgbClr val="2F5C94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545506" y="2749525"/>
            <a:ext cx="2640643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30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Mover event proactively opens the case</a:t>
            </a:r>
            <a:pPr algn="l" indent="0" marL="0">
              <a:buNone/>
            </a:pPr>
            <a:r>
              <a:rPr lang="en-US" sz="830" b="1" dirty="0">
                <a:solidFill>
                  <a:srgbClr val="7AC9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①</a:t>
            </a:r>
            <a:endParaRPr lang="en-US" sz="830" dirty="0"/>
          </a:p>
        </p:txBody>
      </p:sp>
      <p:sp>
        <p:nvSpPr>
          <p:cNvPr id="25" name="Text 22"/>
          <p:cNvSpPr/>
          <p:nvPr/>
        </p:nvSpPr>
        <p:spPr>
          <a:xfrm>
            <a:off x="3665488" y="2744242"/>
            <a:ext cx="176719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dirty="0">
                <a:solidFill>
                  <a:srgbClr val="3D6DB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→</a:t>
            </a:r>
            <a:endParaRPr lang="en-US" sz="860" dirty="0"/>
          </a:p>
        </p:txBody>
      </p:sp>
      <p:sp>
        <p:nvSpPr>
          <p:cNvPr id="26" name="Shape 23"/>
          <p:cNvSpPr/>
          <p:nvPr/>
        </p:nvSpPr>
        <p:spPr>
          <a:xfrm>
            <a:off x="3804084" y="2697956"/>
            <a:ext cx="2466975" cy="247650"/>
          </a:xfrm>
          <a:prstGeom prst="roundRect">
            <a:avLst>
              <a:gd name="adj" fmla="val 18462"/>
            </a:avLst>
          </a:prstGeom>
          <a:solidFill>
            <a:srgbClr val="0F2A47"/>
          </a:solidFill>
          <a:ln w="4763">
            <a:solidFill>
              <a:srgbClr val="2F5C94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890144" y="2749525"/>
            <a:ext cx="3040462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30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Visa, contract &amp; tax documents read on intake</a:t>
            </a:r>
            <a:pPr algn="l" indent="0" marL="0">
              <a:buNone/>
            </a:pPr>
            <a:r>
              <a:rPr lang="en-US" sz="830" b="1" dirty="0">
                <a:solidFill>
                  <a:srgbClr val="7AC9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③</a:t>
            </a:r>
            <a:endParaRPr lang="en-US" sz="830" dirty="0"/>
          </a:p>
        </p:txBody>
      </p:sp>
      <p:sp>
        <p:nvSpPr>
          <p:cNvPr id="28" name="Text 25"/>
          <p:cNvSpPr/>
          <p:nvPr/>
        </p:nvSpPr>
        <p:spPr>
          <a:xfrm>
            <a:off x="6317679" y="2744242"/>
            <a:ext cx="176719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dirty="0">
                <a:solidFill>
                  <a:srgbClr val="3D6DB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→</a:t>
            </a:r>
            <a:endParaRPr lang="en-US" sz="860" dirty="0"/>
          </a:p>
        </p:txBody>
      </p:sp>
      <p:sp>
        <p:nvSpPr>
          <p:cNvPr id="29" name="Shape 26"/>
          <p:cNvSpPr/>
          <p:nvPr/>
        </p:nvSpPr>
        <p:spPr>
          <a:xfrm>
            <a:off x="1458702" y="2985641"/>
            <a:ext cx="3109913" cy="247650"/>
          </a:xfrm>
          <a:prstGeom prst="roundRect">
            <a:avLst>
              <a:gd name="adj" fmla="val 18462"/>
            </a:avLst>
          </a:prstGeom>
          <a:solidFill>
            <a:srgbClr val="0F2A47"/>
          </a:solidFill>
          <a:ln w="4763">
            <a:solidFill>
              <a:srgbClr val="2F5C94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1545506" y="3037210"/>
            <a:ext cx="3874346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30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Deep reasoning untangles tax, comp &amp; benefits interactions</a:t>
            </a:r>
            <a:pPr algn="l" indent="0" marL="0">
              <a:buNone/>
            </a:pPr>
            <a:r>
              <a:rPr lang="en-US" sz="830" b="1" dirty="0">
                <a:solidFill>
                  <a:srgbClr val="7AC9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⑤</a:t>
            </a:r>
            <a:endParaRPr lang="en-US" sz="830" dirty="0"/>
          </a:p>
        </p:txBody>
      </p:sp>
      <p:sp>
        <p:nvSpPr>
          <p:cNvPr id="31" name="Text 28"/>
          <p:cNvSpPr/>
          <p:nvPr/>
        </p:nvSpPr>
        <p:spPr>
          <a:xfrm>
            <a:off x="4614490" y="3031927"/>
            <a:ext cx="176719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dirty="0">
                <a:solidFill>
                  <a:srgbClr val="3D6DB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→</a:t>
            </a:r>
            <a:endParaRPr lang="en-US" sz="860" dirty="0"/>
          </a:p>
        </p:txBody>
      </p:sp>
      <p:sp>
        <p:nvSpPr>
          <p:cNvPr id="32" name="Shape 29"/>
          <p:cNvSpPr/>
          <p:nvPr/>
        </p:nvSpPr>
        <p:spPr>
          <a:xfrm>
            <a:off x="4751338" y="2985641"/>
            <a:ext cx="2933700" cy="247650"/>
          </a:xfrm>
          <a:prstGeom prst="roundRect">
            <a:avLst>
              <a:gd name="adj" fmla="val 18462"/>
            </a:avLst>
          </a:prstGeom>
          <a:solidFill>
            <a:srgbClr val="0F2A47"/>
          </a:solidFill>
          <a:ln w="4763">
            <a:solidFill>
              <a:srgbClr val="2F5C94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839146" y="3037210"/>
            <a:ext cx="3642658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30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Immigration, comp &amp; payroll agents coordinate the plan</a:t>
            </a:r>
            <a:pPr algn="l" indent="0" marL="0">
              <a:buNone/>
            </a:pPr>
            <a:r>
              <a:rPr lang="en-US" sz="830" b="1" dirty="0">
                <a:solidFill>
                  <a:srgbClr val="7AC9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⑤</a:t>
            </a:r>
            <a:endParaRPr lang="en-US" sz="830" dirty="0"/>
          </a:p>
        </p:txBody>
      </p:sp>
      <p:sp>
        <p:nvSpPr>
          <p:cNvPr id="34" name="Text 31"/>
          <p:cNvSpPr/>
          <p:nvPr/>
        </p:nvSpPr>
        <p:spPr>
          <a:xfrm>
            <a:off x="7729910" y="3031927"/>
            <a:ext cx="176719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dirty="0">
                <a:solidFill>
                  <a:srgbClr val="3D6DB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→</a:t>
            </a:r>
            <a:endParaRPr lang="en-US" sz="860" dirty="0"/>
          </a:p>
        </p:txBody>
      </p:sp>
      <p:sp>
        <p:nvSpPr>
          <p:cNvPr id="35" name="Shape 32"/>
          <p:cNvSpPr/>
          <p:nvPr/>
        </p:nvSpPr>
        <p:spPr>
          <a:xfrm>
            <a:off x="1458516" y="3273326"/>
            <a:ext cx="1976437" cy="247650"/>
          </a:xfrm>
          <a:prstGeom prst="roundRect">
            <a:avLst>
              <a:gd name="adj" fmla="val 18462"/>
            </a:avLst>
          </a:prstGeom>
          <a:solidFill>
            <a:srgbClr val="3A2A14"/>
          </a:solidFill>
          <a:ln w="4763">
            <a:solidFill>
              <a:srgbClr val="8A6A2F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1545506" y="3324895"/>
            <a:ext cx="2400345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30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Human sign-off at each critical gate</a:t>
            </a:r>
            <a:pPr algn="l" indent="0" marL="0">
              <a:buNone/>
            </a:pPr>
            <a:r>
              <a:rPr lang="en-US" sz="830" b="1" dirty="0">
                <a:solidFill>
                  <a:srgbClr val="7AC9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⑤</a:t>
            </a:r>
            <a:endParaRPr lang="en-US" sz="830" dirty="0"/>
          </a:p>
        </p:txBody>
      </p:sp>
      <p:sp>
        <p:nvSpPr>
          <p:cNvPr id="37" name="Text 34"/>
          <p:cNvSpPr/>
          <p:nvPr/>
        </p:nvSpPr>
        <p:spPr>
          <a:xfrm>
            <a:off x="3480643" y="3319611"/>
            <a:ext cx="176719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dirty="0">
                <a:solidFill>
                  <a:srgbClr val="3D6DB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→</a:t>
            </a:r>
            <a:endParaRPr lang="en-US" sz="860" dirty="0"/>
          </a:p>
        </p:txBody>
      </p:sp>
      <p:sp>
        <p:nvSpPr>
          <p:cNvPr id="38" name="Shape 35"/>
          <p:cNvSpPr/>
          <p:nvPr/>
        </p:nvSpPr>
        <p:spPr>
          <a:xfrm>
            <a:off x="3617751" y="3273326"/>
            <a:ext cx="2147887" cy="247650"/>
          </a:xfrm>
          <a:prstGeom prst="roundRect">
            <a:avLst>
              <a:gd name="adj" fmla="val 18462"/>
            </a:avLst>
          </a:prstGeom>
          <a:solidFill>
            <a:srgbClr val="0F2A47"/>
          </a:solidFill>
          <a:ln w="4763">
            <a:solidFill>
              <a:srgbClr val="2F5C94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3705299" y="3324895"/>
            <a:ext cx="2621779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30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Changes executed across all systems</a:t>
            </a:r>
            <a:pPr algn="l" indent="0" marL="0">
              <a:buNone/>
            </a:pPr>
            <a:r>
              <a:rPr lang="en-US" sz="830" b="1" dirty="0">
                <a:solidFill>
                  <a:srgbClr val="7AC9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⑥⑦</a:t>
            </a:r>
            <a:endParaRPr lang="en-US" sz="830" dirty="0"/>
          </a:p>
        </p:txBody>
      </p:sp>
      <p:sp>
        <p:nvSpPr>
          <p:cNvPr id="40" name="Text 37"/>
          <p:cNvSpPr/>
          <p:nvPr/>
        </p:nvSpPr>
        <p:spPr>
          <a:xfrm>
            <a:off x="5810771" y="3319611"/>
            <a:ext cx="176719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dirty="0">
                <a:solidFill>
                  <a:srgbClr val="3D6DB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→</a:t>
            </a:r>
            <a:endParaRPr lang="en-US" sz="860" dirty="0"/>
          </a:p>
        </p:txBody>
      </p:sp>
      <p:sp>
        <p:nvSpPr>
          <p:cNvPr id="41" name="Shape 38"/>
          <p:cNvSpPr/>
          <p:nvPr/>
        </p:nvSpPr>
        <p:spPr>
          <a:xfrm>
            <a:off x="5948809" y="3273326"/>
            <a:ext cx="2062162" cy="247650"/>
          </a:xfrm>
          <a:prstGeom prst="roundRect">
            <a:avLst>
              <a:gd name="adj" fmla="val 18462"/>
            </a:avLst>
          </a:prstGeom>
          <a:solidFill>
            <a:srgbClr val="0F2A47"/>
          </a:solidFill>
          <a:ln w="4763">
            <a:solidFill>
              <a:srgbClr val="2F5C94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6035427" y="3324895"/>
            <a:ext cx="2512755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30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Employee sees one live status in chat</a:t>
            </a:r>
            <a:pPr algn="l" indent="0" marL="0">
              <a:buNone/>
            </a:pPr>
            <a:r>
              <a:rPr lang="en-US" sz="830" b="1" dirty="0">
                <a:solidFill>
                  <a:srgbClr val="7AC9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①</a:t>
            </a:r>
            <a:endParaRPr lang="en-US" sz="830" dirty="0"/>
          </a:p>
        </p:txBody>
      </p:sp>
      <p:sp>
        <p:nvSpPr>
          <p:cNvPr id="43" name="Text 40"/>
          <p:cNvSpPr/>
          <p:nvPr/>
        </p:nvSpPr>
        <p:spPr>
          <a:xfrm>
            <a:off x="1458590" y="3581400"/>
            <a:ext cx="5460273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405"/>
              </a:spcBef>
              <a:buNone/>
            </a:pPr>
            <a:r>
              <a:rPr lang="en-US" sz="830" dirty="0">
                <a:solidFill>
                  <a:srgbClr val="7EE0A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Weeks instead of months — humans keep the judgment calls, agents do the coordination</a:t>
            </a:r>
            <a:endParaRPr lang="en-US" sz="830" dirty="0"/>
          </a:p>
        </p:txBody>
      </p:sp>
      <p:sp>
        <p:nvSpPr>
          <p:cNvPr id="44" name="Text 41"/>
          <p:cNvSpPr/>
          <p:nvPr/>
        </p:nvSpPr>
        <p:spPr>
          <a:xfrm>
            <a:off x="4554654" y="4747096"/>
            <a:ext cx="4177911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①–⑦ = component on the architecture slides ·</a:t>
            </a:r>
            <a:pPr algn="r" indent="0" marL="0">
              <a:buNone/>
            </a:pPr>
            <a:r>
              <a:rPr lang="en-US" sz="760" dirty="0">
                <a:solidFill>
                  <a:srgbClr val="D9B36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amber = human in the loop</a:t>
            </a:r>
            <a:endParaRPr lang="en-US" sz="76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52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19980" y="199058"/>
            <a:ext cx="6188132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80" b="1" spc="-40" kern="0" dirty="0">
                <a:solidFill>
                  <a:srgbClr val="E8F1F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From Solution to Product — Multi-Tenant by Design</a:t>
            </a:r>
            <a:endParaRPr lang="en-US" sz="1580" dirty="0"/>
          </a:p>
        </p:txBody>
      </p:sp>
      <p:sp>
        <p:nvSpPr>
          <p:cNvPr id="5" name="Text 2"/>
          <p:cNvSpPr/>
          <p:nvPr/>
        </p:nvSpPr>
        <p:spPr>
          <a:xfrm>
            <a:off x="6168926" y="294308"/>
            <a:ext cx="3508772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product · many clients · hard isolation where it matters</a:t>
            </a:r>
            <a:endParaRPr lang="en-US" sz="790" dirty="0"/>
          </a:p>
        </p:txBody>
      </p:sp>
      <p:sp>
        <p:nvSpPr>
          <p:cNvPr id="6" name="Shape 3"/>
          <p:cNvSpPr/>
          <p:nvPr/>
        </p:nvSpPr>
        <p:spPr>
          <a:xfrm>
            <a:off x="319088" y="564766"/>
            <a:ext cx="8505825" cy="709613"/>
          </a:xfrm>
          <a:prstGeom prst="roundRect">
            <a:avLst>
              <a:gd name="adj" fmla="val 6443"/>
            </a:avLst>
          </a:prstGeom>
          <a:solidFill>
            <a:srgbClr val="0F2A47"/>
          </a:solidFill>
          <a:ln w="4763">
            <a:solidFill>
              <a:srgbClr val="2F5C9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16123" y="619274"/>
            <a:ext cx="3635983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7AC9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Product Control Plane — shared, run by the provider</a:t>
            </a:r>
            <a:endParaRPr lang="en-US" sz="860" dirty="0"/>
          </a:p>
        </p:txBody>
      </p:sp>
      <p:sp>
        <p:nvSpPr>
          <p:cNvPr id="8" name="Text 5"/>
          <p:cNvSpPr/>
          <p:nvPr/>
        </p:nvSpPr>
        <p:spPr>
          <a:xfrm>
            <a:off x="6379369" y="628204"/>
            <a:ext cx="3110210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7AC9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codebase, one release train, per-tenant configuration</a:t>
            </a:r>
            <a:endParaRPr lang="en-US" sz="720" dirty="0"/>
          </a:p>
        </p:txBody>
      </p:sp>
      <p:sp>
        <p:nvSpPr>
          <p:cNvPr id="9" name="Shape 6"/>
          <p:cNvSpPr/>
          <p:nvPr/>
        </p:nvSpPr>
        <p:spPr>
          <a:xfrm>
            <a:off x="416830" y="805346"/>
            <a:ext cx="1609725" cy="423862"/>
          </a:xfrm>
          <a:prstGeom prst="roundRect">
            <a:avLst>
              <a:gd name="adj" fmla="val 8629"/>
            </a:avLst>
          </a:prstGeom>
          <a:solidFill>
            <a:srgbClr val="11233E">
              <a:alpha val="80000"/>
            </a:srgbClr>
          </a:solidFill>
          <a:ln w="4763">
            <a:solidFill>
              <a:srgbClr val="24406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84882" y="840358"/>
            <a:ext cx="1626825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E8F1F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Tenant Onboarding Factory</a:t>
            </a:r>
            <a:endParaRPr lang="en-US" sz="720" dirty="0"/>
          </a:p>
        </p:txBody>
      </p:sp>
      <p:sp>
        <p:nvSpPr>
          <p:cNvPr id="11" name="Text 8"/>
          <p:cNvSpPr/>
          <p:nvPr/>
        </p:nvSpPr>
        <p:spPr>
          <a:xfrm>
            <a:off x="484882" y="972741"/>
            <a:ext cx="1834909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91"/>
              </a:lnSpc>
              <a:buNone/>
            </a:pPr>
            <a:r>
              <a:rPr lang="en-US" sz="65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provision a new client in days: config,</a:t>
            </a:r>
            <a:endParaRPr lang="en-US" sz="650" dirty="0"/>
          </a:p>
          <a:p>
            <a:pPr algn="l" indent="0" marL="0">
              <a:lnSpc>
                <a:spcPts val="891"/>
              </a:lnSpc>
              <a:buNone/>
            </a:pPr>
            <a:r>
              <a:rPr lang="en-US" sz="65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connectors, policy import</a:t>
            </a:r>
            <a:endParaRPr lang="en-US" sz="650" dirty="0"/>
          </a:p>
        </p:txBody>
      </p:sp>
      <p:sp>
        <p:nvSpPr>
          <p:cNvPr id="12" name="Shape 9"/>
          <p:cNvSpPr/>
          <p:nvPr/>
        </p:nvSpPr>
        <p:spPr>
          <a:xfrm>
            <a:off x="2091965" y="805346"/>
            <a:ext cx="1609725" cy="423862"/>
          </a:xfrm>
          <a:prstGeom prst="roundRect">
            <a:avLst>
              <a:gd name="adj" fmla="val 8629"/>
            </a:avLst>
          </a:prstGeom>
          <a:solidFill>
            <a:srgbClr val="11233E">
              <a:alpha val="80000"/>
            </a:srgbClr>
          </a:solidFill>
          <a:ln w="4763">
            <a:solidFill>
              <a:srgbClr val="24406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160017" y="840358"/>
            <a:ext cx="847985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E8F1F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Release Rings</a:t>
            </a:r>
            <a:endParaRPr lang="en-US" sz="720" dirty="0"/>
          </a:p>
        </p:txBody>
      </p:sp>
      <p:sp>
        <p:nvSpPr>
          <p:cNvPr id="14" name="Text 11"/>
          <p:cNvSpPr/>
          <p:nvPr/>
        </p:nvSpPr>
        <p:spPr>
          <a:xfrm>
            <a:off x="2160017" y="972741"/>
            <a:ext cx="1912300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91"/>
              </a:lnSpc>
              <a:buNone/>
            </a:pPr>
            <a:r>
              <a:rPr lang="en-US" sz="65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canary → early adopters → all tenants ·</a:t>
            </a:r>
            <a:endParaRPr lang="en-US" sz="650" dirty="0"/>
          </a:p>
          <a:p>
            <a:pPr algn="l" indent="0" marL="0">
              <a:lnSpc>
                <a:spcPts val="891"/>
              </a:lnSpc>
              <a:buNone/>
            </a:pPr>
            <a:r>
              <a:rPr lang="en-US" sz="65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feature flags per tenant</a:t>
            </a:r>
            <a:endParaRPr lang="en-US" sz="650" dirty="0"/>
          </a:p>
        </p:txBody>
      </p:sp>
      <p:sp>
        <p:nvSpPr>
          <p:cNvPr id="15" name="Shape 12"/>
          <p:cNvSpPr/>
          <p:nvPr/>
        </p:nvSpPr>
        <p:spPr>
          <a:xfrm>
            <a:off x="3767100" y="805346"/>
            <a:ext cx="1609725" cy="423862"/>
          </a:xfrm>
          <a:prstGeom prst="roundRect">
            <a:avLst>
              <a:gd name="adj" fmla="val 8629"/>
            </a:avLst>
          </a:prstGeom>
          <a:solidFill>
            <a:srgbClr val="11233E">
              <a:alpha val="80000"/>
            </a:srgbClr>
          </a:solidFill>
          <a:ln w="4763">
            <a:solidFill>
              <a:srgbClr val="24406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835152" y="840358"/>
            <a:ext cx="1121368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E8F1F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Shared Model Pool</a:t>
            </a:r>
            <a:endParaRPr lang="en-US" sz="720" dirty="0"/>
          </a:p>
        </p:txBody>
      </p:sp>
      <p:sp>
        <p:nvSpPr>
          <p:cNvPr id="17" name="Text 14"/>
          <p:cNvSpPr/>
          <p:nvPr/>
        </p:nvSpPr>
        <p:spPr>
          <a:xfrm>
            <a:off x="3835152" y="972741"/>
            <a:ext cx="1754133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91"/>
              </a:lnSpc>
              <a:buNone/>
            </a:pPr>
            <a:r>
              <a:rPr lang="en-US" sz="65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central model catalog &amp; upgrades ·</a:t>
            </a:r>
            <a:endParaRPr lang="en-US" sz="650" dirty="0"/>
          </a:p>
          <a:p>
            <a:pPr algn="l" indent="0" marL="0">
              <a:lnSpc>
                <a:spcPts val="891"/>
              </a:lnSpc>
              <a:buNone/>
            </a:pPr>
            <a:r>
              <a:rPr lang="en-US" sz="65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per-tenant routing and pinning</a:t>
            </a:r>
            <a:endParaRPr lang="en-US" sz="650" dirty="0"/>
          </a:p>
        </p:txBody>
      </p:sp>
      <p:sp>
        <p:nvSpPr>
          <p:cNvPr id="18" name="Shape 15"/>
          <p:cNvSpPr/>
          <p:nvPr/>
        </p:nvSpPr>
        <p:spPr>
          <a:xfrm>
            <a:off x="5442235" y="805346"/>
            <a:ext cx="1609725" cy="423862"/>
          </a:xfrm>
          <a:prstGeom prst="roundRect">
            <a:avLst>
              <a:gd name="adj" fmla="val 8629"/>
            </a:avLst>
          </a:prstGeom>
          <a:solidFill>
            <a:srgbClr val="11233E">
              <a:alpha val="80000"/>
            </a:srgbClr>
          </a:solidFill>
          <a:ln w="4763">
            <a:solidFill>
              <a:srgbClr val="24406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510287" y="840358"/>
            <a:ext cx="1507450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E8F1F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Central Evals &amp; Guardrails</a:t>
            </a:r>
            <a:endParaRPr lang="en-US" sz="720" dirty="0"/>
          </a:p>
        </p:txBody>
      </p:sp>
      <p:sp>
        <p:nvSpPr>
          <p:cNvPr id="20" name="Text 17"/>
          <p:cNvSpPr/>
          <p:nvPr/>
        </p:nvSpPr>
        <p:spPr>
          <a:xfrm>
            <a:off x="5510287" y="972741"/>
            <a:ext cx="1718437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91"/>
              </a:lnSpc>
              <a:buNone/>
            </a:pPr>
            <a:r>
              <a:rPr lang="en-US" sz="65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baseline safety and quality bars no</a:t>
            </a:r>
            <a:endParaRPr lang="en-US" sz="650" dirty="0"/>
          </a:p>
          <a:p>
            <a:pPr algn="l" indent="0" marL="0">
              <a:lnSpc>
                <a:spcPts val="891"/>
              </a:lnSpc>
              <a:buNone/>
            </a:pPr>
            <a:r>
              <a:rPr lang="en-US" sz="65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tenant can lower</a:t>
            </a:r>
            <a:endParaRPr lang="en-US" sz="650" dirty="0"/>
          </a:p>
        </p:txBody>
      </p:sp>
      <p:sp>
        <p:nvSpPr>
          <p:cNvPr id="21" name="Shape 18"/>
          <p:cNvSpPr/>
          <p:nvPr/>
        </p:nvSpPr>
        <p:spPr>
          <a:xfrm>
            <a:off x="7117370" y="805346"/>
            <a:ext cx="1609725" cy="423862"/>
          </a:xfrm>
          <a:prstGeom prst="roundRect">
            <a:avLst>
              <a:gd name="adj" fmla="val 8629"/>
            </a:avLst>
          </a:prstGeom>
          <a:solidFill>
            <a:srgbClr val="11233E">
              <a:alpha val="80000"/>
            </a:srgbClr>
          </a:solidFill>
          <a:ln w="4763">
            <a:solidFill>
              <a:srgbClr val="24406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185422" y="840358"/>
            <a:ext cx="1061584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E8F1F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Metering &amp; Billing</a:t>
            </a:r>
            <a:endParaRPr lang="en-US" sz="720" dirty="0"/>
          </a:p>
        </p:txBody>
      </p:sp>
      <p:sp>
        <p:nvSpPr>
          <p:cNvPr id="23" name="Text 20"/>
          <p:cNvSpPr/>
          <p:nvPr/>
        </p:nvSpPr>
        <p:spPr>
          <a:xfrm>
            <a:off x="7185422" y="972741"/>
            <a:ext cx="1669584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91"/>
              </a:lnSpc>
              <a:buNone/>
            </a:pPr>
            <a:r>
              <a:rPr lang="en-US" sz="65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per-tenant usage, token cost, SLA</a:t>
            </a:r>
            <a:endParaRPr lang="en-US" sz="650" dirty="0"/>
          </a:p>
          <a:p>
            <a:pPr algn="l" indent="0" marL="0">
              <a:lnSpc>
                <a:spcPts val="891"/>
              </a:lnSpc>
              <a:buNone/>
            </a:pPr>
            <a:r>
              <a:rPr lang="en-US" sz="65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credits, invoicing</a:t>
            </a:r>
            <a:endParaRPr lang="en-US" sz="650" dirty="0"/>
          </a:p>
        </p:txBody>
      </p:sp>
      <p:sp>
        <p:nvSpPr>
          <p:cNvPr id="24" name="Text 21"/>
          <p:cNvSpPr/>
          <p:nvPr/>
        </p:nvSpPr>
        <p:spPr>
          <a:xfrm>
            <a:off x="4533305" y="1271588"/>
            <a:ext cx="157661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122"/>
              </a:spcBef>
              <a:spcAft>
                <a:spcPts val="122"/>
              </a:spcAft>
              <a:buNone/>
            </a:pPr>
            <a:r>
              <a:rPr lang="en-US" sz="790" dirty="0">
                <a:solidFill>
                  <a:srgbClr val="3D6DB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▼</a:t>
            </a:r>
            <a:endParaRPr lang="en-US" sz="790" dirty="0"/>
          </a:p>
        </p:txBody>
      </p:sp>
      <p:sp>
        <p:nvSpPr>
          <p:cNvPr id="25" name="Shape 22"/>
          <p:cNvSpPr/>
          <p:nvPr/>
        </p:nvSpPr>
        <p:spPr>
          <a:xfrm>
            <a:off x="320985" y="1405756"/>
            <a:ext cx="2771775" cy="3009900"/>
          </a:xfrm>
          <a:prstGeom prst="roundRect">
            <a:avLst>
              <a:gd name="adj" fmla="val 1979"/>
            </a:avLst>
          </a:prstGeom>
          <a:solidFill>
            <a:srgbClr val="0D1E36"/>
          </a:solidFill>
          <a:ln w="4763">
            <a:solidFill>
              <a:srgbClr val="7AC9F5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06971" y="1467222"/>
            <a:ext cx="605076" cy="147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AC9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Client A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2116634" y="1491035"/>
            <a:ext cx="1214333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8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Retail · 40k employees</a:t>
            </a:r>
            <a:endParaRPr lang="en-US" sz="680" dirty="0"/>
          </a:p>
        </p:txBody>
      </p:sp>
      <p:sp>
        <p:nvSpPr>
          <p:cNvPr id="28" name="Shape 25"/>
          <p:cNvSpPr/>
          <p:nvPr/>
        </p:nvSpPr>
        <p:spPr>
          <a:xfrm>
            <a:off x="406710" y="1660364"/>
            <a:ext cx="2600325" cy="185738"/>
          </a:xfrm>
          <a:prstGeom prst="roundRect">
            <a:avLst>
              <a:gd name="adj" fmla="val 19692"/>
            </a:avLst>
          </a:prstGeom>
          <a:solidFill>
            <a:srgbClr val="12233F"/>
          </a:solidFill>
          <a:ln w="4763">
            <a:solidFill>
              <a:srgbClr val="24406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75729" y="1690390"/>
            <a:ext cx="3251351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Branded personas &amp; channels — client look, tone, languages</a:t>
            </a:r>
            <a:endParaRPr lang="en-US" sz="720" dirty="0"/>
          </a:p>
        </p:txBody>
      </p:sp>
      <p:sp>
        <p:nvSpPr>
          <p:cNvPr id="30" name="Shape 27"/>
          <p:cNvSpPr/>
          <p:nvPr/>
        </p:nvSpPr>
        <p:spPr>
          <a:xfrm>
            <a:off x="406710" y="1876276"/>
            <a:ext cx="2600325" cy="314325"/>
          </a:xfrm>
          <a:prstGeom prst="roundRect">
            <a:avLst>
              <a:gd name="adj" fmla="val 11636"/>
            </a:avLst>
          </a:prstGeom>
          <a:solidFill>
            <a:srgbClr val="12233F"/>
          </a:solidFill>
          <a:ln w="4763">
            <a:solidFill>
              <a:srgbClr val="24406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75729" y="1907753"/>
            <a:ext cx="3113886" cy="2447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90"/>
              </a:lnSpc>
              <a:buNone/>
            </a:pPr>
            <a:r>
              <a:rPr lang="en-US" sz="720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Own policy library, intents &amp; playbooks — per country, per</a:t>
            </a:r>
            <a:endParaRPr lang="en-US" sz="720" dirty="0"/>
          </a:p>
          <a:p>
            <a:pPr algn="l" indent="0" marL="0">
              <a:lnSpc>
                <a:spcPts val="990"/>
              </a:lnSpc>
              <a:buNone/>
            </a:pPr>
            <a:r>
              <a:rPr lang="en-US" sz="720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union agreement</a:t>
            </a:r>
            <a:endParaRPr lang="en-US" sz="720" dirty="0"/>
          </a:p>
        </p:txBody>
      </p:sp>
      <p:sp>
        <p:nvSpPr>
          <p:cNvPr id="32" name="Shape 29"/>
          <p:cNvSpPr/>
          <p:nvPr/>
        </p:nvSpPr>
        <p:spPr>
          <a:xfrm>
            <a:off x="406710" y="2219325"/>
            <a:ext cx="2600325" cy="314325"/>
          </a:xfrm>
          <a:prstGeom prst="roundRect">
            <a:avLst>
              <a:gd name="adj" fmla="val 11636"/>
            </a:avLst>
          </a:prstGeom>
          <a:solidFill>
            <a:srgbClr val="12233F"/>
          </a:solidFill>
          <a:ln w="4763">
            <a:solidFill>
              <a:srgbClr val="24406B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75729" y="2250802"/>
            <a:ext cx="3207432" cy="2447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90"/>
              </a:lnSpc>
              <a:buNone/>
            </a:pPr>
            <a:r>
              <a:rPr lang="en-US" sz="720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Isolated data, memory &amp; case files — encrypted per tenant,</a:t>
            </a:r>
            <a:endParaRPr lang="en-US" sz="720" dirty="0"/>
          </a:p>
          <a:p>
            <a:pPr algn="l" indent="0" marL="0">
              <a:lnSpc>
                <a:spcPts val="990"/>
              </a:lnSpc>
              <a:buNone/>
            </a:pPr>
            <a:r>
              <a:rPr lang="en-US" sz="720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own keys</a:t>
            </a:r>
            <a:endParaRPr lang="en-US" sz="720" dirty="0"/>
          </a:p>
        </p:txBody>
      </p:sp>
      <p:sp>
        <p:nvSpPr>
          <p:cNvPr id="34" name="Shape 31"/>
          <p:cNvSpPr/>
          <p:nvPr/>
        </p:nvSpPr>
        <p:spPr>
          <a:xfrm>
            <a:off x="406710" y="2562374"/>
            <a:ext cx="2600325" cy="314325"/>
          </a:xfrm>
          <a:prstGeom prst="roundRect">
            <a:avLst>
              <a:gd name="adj" fmla="val 11636"/>
            </a:avLst>
          </a:prstGeom>
          <a:solidFill>
            <a:srgbClr val="12233F"/>
          </a:solidFill>
          <a:ln w="4763">
            <a:solidFill>
              <a:srgbClr val="24406B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75729" y="2593851"/>
            <a:ext cx="2975454" cy="2447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90"/>
              </a:lnSpc>
              <a:buNone/>
            </a:pPr>
            <a:r>
              <a:rPr lang="en-US" sz="720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Own HCM connectors — Workday here, SuccessFactors</a:t>
            </a:r>
            <a:endParaRPr lang="en-US" sz="720" dirty="0"/>
          </a:p>
          <a:p>
            <a:pPr algn="l" indent="0" marL="0">
              <a:lnSpc>
                <a:spcPts val="990"/>
              </a:lnSpc>
              <a:buNone/>
            </a:pPr>
            <a:r>
              <a:rPr lang="en-US" sz="720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there</a:t>
            </a:r>
            <a:endParaRPr lang="en-US" sz="720" dirty="0"/>
          </a:p>
        </p:txBody>
      </p:sp>
      <p:sp>
        <p:nvSpPr>
          <p:cNvPr id="36" name="Shape 33"/>
          <p:cNvSpPr/>
          <p:nvPr/>
        </p:nvSpPr>
        <p:spPr>
          <a:xfrm>
            <a:off x="3186150" y="1405756"/>
            <a:ext cx="2771775" cy="3009900"/>
          </a:xfrm>
          <a:prstGeom prst="roundRect">
            <a:avLst>
              <a:gd name="adj" fmla="val 1979"/>
            </a:avLst>
          </a:prstGeom>
          <a:solidFill>
            <a:srgbClr val="0D1E36"/>
          </a:solidFill>
          <a:ln w="4763">
            <a:solidFill>
              <a:srgbClr val="8FD6A8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3272135" y="1467222"/>
            <a:ext cx="611267" cy="147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FD6A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Client B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4751115" y="1491035"/>
            <a:ext cx="1514222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8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Manufacturing · 12 countries</a:t>
            </a:r>
            <a:endParaRPr lang="en-US" sz="680" dirty="0"/>
          </a:p>
        </p:txBody>
      </p:sp>
      <p:sp>
        <p:nvSpPr>
          <p:cNvPr id="39" name="Shape 36"/>
          <p:cNvSpPr/>
          <p:nvPr/>
        </p:nvSpPr>
        <p:spPr>
          <a:xfrm>
            <a:off x="3271875" y="1660364"/>
            <a:ext cx="2600325" cy="185738"/>
          </a:xfrm>
          <a:prstGeom prst="roundRect">
            <a:avLst>
              <a:gd name="adj" fmla="val 19692"/>
            </a:avLst>
          </a:prstGeom>
          <a:solidFill>
            <a:srgbClr val="12233F"/>
          </a:solidFill>
          <a:ln w="4763">
            <a:solidFill>
              <a:srgbClr val="24406B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3340894" y="1690390"/>
            <a:ext cx="3251351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Branded personas &amp; channels — client look, tone, languages</a:t>
            </a:r>
            <a:endParaRPr lang="en-US" sz="720" dirty="0"/>
          </a:p>
        </p:txBody>
      </p:sp>
      <p:sp>
        <p:nvSpPr>
          <p:cNvPr id="41" name="Shape 38"/>
          <p:cNvSpPr/>
          <p:nvPr/>
        </p:nvSpPr>
        <p:spPr>
          <a:xfrm>
            <a:off x="3271875" y="1876276"/>
            <a:ext cx="2600325" cy="314325"/>
          </a:xfrm>
          <a:prstGeom prst="roundRect">
            <a:avLst>
              <a:gd name="adj" fmla="val 11636"/>
            </a:avLst>
          </a:prstGeom>
          <a:solidFill>
            <a:srgbClr val="12233F"/>
          </a:solidFill>
          <a:ln w="4763">
            <a:solidFill>
              <a:srgbClr val="24406B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3340894" y="1907753"/>
            <a:ext cx="3113886" cy="2447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90"/>
              </a:lnSpc>
              <a:buNone/>
            </a:pPr>
            <a:r>
              <a:rPr lang="en-US" sz="720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Own policy library, intents &amp; playbooks — per country, per</a:t>
            </a:r>
            <a:endParaRPr lang="en-US" sz="720" dirty="0"/>
          </a:p>
          <a:p>
            <a:pPr algn="l" indent="0" marL="0">
              <a:lnSpc>
                <a:spcPts val="990"/>
              </a:lnSpc>
              <a:buNone/>
            </a:pPr>
            <a:r>
              <a:rPr lang="en-US" sz="720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union agreement</a:t>
            </a:r>
            <a:endParaRPr lang="en-US" sz="720" dirty="0"/>
          </a:p>
        </p:txBody>
      </p:sp>
      <p:sp>
        <p:nvSpPr>
          <p:cNvPr id="43" name="Shape 40"/>
          <p:cNvSpPr/>
          <p:nvPr/>
        </p:nvSpPr>
        <p:spPr>
          <a:xfrm>
            <a:off x="3271875" y="2219325"/>
            <a:ext cx="2600325" cy="314325"/>
          </a:xfrm>
          <a:prstGeom prst="roundRect">
            <a:avLst>
              <a:gd name="adj" fmla="val 11636"/>
            </a:avLst>
          </a:prstGeom>
          <a:solidFill>
            <a:srgbClr val="12233F"/>
          </a:solidFill>
          <a:ln w="4763">
            <a:solidFill>
              <a:srgbClr val="24406B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3340894" y="2250802"/>
            <a:ext cx="3207432" cy="2447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90"/>
              </a:lnSpc>
              <a:buNone/>
            </a:pPr>
            <a:r>
              <a:rPr lang="en-US" sz="720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Isolated data, memory &amp; case files — encrypted per tenant,</a:t>
            </a:r>
            <a:endParaRPr lang="en-US" sz="720" dirty="0"/>
          </a:p>
          <a:p>
            <a:pPr algn="l" indent="0" marL="0">
              <a:lnSpc>
                <a:spcPts val="990"/>
              </a:lnSpc>
              <a:buNone/>
            </a:pPr>
            <a:r>
              <a:rPr lang="en-US" sz="720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own keys</a:t>
            </a:r>
            <a:endParaRPr lang="en-US" sz="720" dirty="0"/>
          </a:p>
        </p:txBody>
      </p:sp>
      <p:sp>
        <p:nvSpPr>
          <p:cNvPr id="45" name="Shape 42"/>
          <p:cNvSpPr/>
          <p:nvPr/>
        </p:nvSpPr>
        <p:spPr>
          <a:xfrm>
            <a:off x="3271875" y="2562374"/>
            <a:ext cx="2600325" cy="314325"/>
          </a:xfrm>
          <a:prstGeom prst="roundRect">
            <a:avLst>
              <a:gd name="adj" fmla="val 11636"/>
            </a:avLst>
          </a:prstGeom>
          <a:solidFill>
            <a:srgbClr val="12233F"/>
          </a:solidFill>
          <a:ln w="4763">
            <a:solidFill>
              <a:srgbClr val="24406B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3340894" y="2593851"/>
            <a:ext cx="2975454" cy="2447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90"/>
              </a:lnSpc>
              <a:buNone/>
            </a:pPr>
            <a:r>
              <a:rPr lang="en-US" sz="720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Own HCM connectors — Workday here, SuccessFactors</a:t>
            </a:r>
            <a:endParaRPr lang="en-US" sz="720" dirty="0"/>
          </a:p>
          <a:p>
            <a:pPr algn="l" indent="0" marL="0">
              <a:lnSpc>
                <a:spcPts val="990"/>
              </a:lnSpc>
              <a:buNone/>
            </a:pPr>
            <a:r>
              <a:rPr lang="en-US" sz="720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there</a:t>
            </a:r>
            <a:endParaRPr lang="en-US" sz="720" dirty="0"/>
          </a:p>
        </p:txBody>
      </p:sp>
      <p:sp>
        <p:nvSpPr>
          <p:cNvPr id="47" name="Shape 44"/>
          <p:cNvSpPr/>
          <p:nvPr/>
        </p:nvSpPr>
        <p:spPr>
          <a:xfrm>
            <a:off x="6051314" y="1405756"/>
            <a:ext cx="2771775" cy="3009900"/>
          </a:xfrm>
          <a:prstGeom prst="roundRect">
            <a:avLst>
              <a:gd name="adj" fmla="val 1979"/>
            </a:avLst>
          </a:prstGeom>
          <a:solidFill>
            <a:srgbClr val="0D1E36"/>
          </a:solidFill>
          <a:ln w="4763">
            <a:solidFill>
              <a:srgbClr val="D9B36A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6137300" y="1467222"/>
            <a:ext cx="608365" cy="147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9B36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Client C</a:t>
            </a:r>
            <a:endParaRPr lang="en-US" sz="900" dirty="0"/>
          </a:p>
        </p:txBody>
      </p:sp>
      <p:sp>
        <p:nvSpPr>
          <p:cNvPr id="49" name="Text 46"/>
          <p:cNvSpPr/>
          <p:nvPr/>
        </p:nvSpPr>
        <p:spPr>
          <a:xfrm>
            <a:off x="7604224" y="1491035"/>
            <a:ext cx="1529894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8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Financial services · regulated</a:t>
            </a:r>
            <a:endParaRPr lang="en-US" sz="680" dirty="0"/>
          </a:p>
        </p:txBody>
      </p:sp>
      <p:sp>
        <p:nvSpPr>
          <p:cNvPr id="50" name="Shape 47"/>
          <p:cNvSpPr/>
          <p:nvPr/>
        </p:nvSpPr>
        <p:spPr>
          <a:xfrm>
            <a:off x="6137039" y="1660364"/>
            <a:ext cx="2600325" cy="185738"/>
          </a:xfrm>
          <a:prstGeom prst="roundRect">
            <a:avLst>
              <a:gd name="adj" fmla="val 19692"/>
            </a:avLst>
          </a:prstGeom>
          <a:solidFill>
            <a:srgbClr val="12233F"/>
          </a:solidFill>
          <a:ln w="4763">
            <a:solidFill>
              <a:srgbClr val="24406B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6206058" y="1690390"/>
            <a:ext cx="3251351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Branded personas &amp; channels — client look, tone, languages</a:t>
            </a:r>
            <a:endParaRPr lang="en-US" sz="720" dirty="0"/>
          </a:p>
        </p:txBody>
      </p:sp>
      <p:sp>
        <p:nvSpPr>
          <p:cNvPr id="52" name="Shape 49"/>
          <p:cNvSpPr/>
          <p:nvPr/>
        </p:nvSpPr>
        <p:spPr>
          <a:xfrm>
            <a:off x="6137039" y="1876276"/>
            <a:ext cx="2600325" cy="314325"/>
          </a:xfrm>
          <a:prstGeom prst="roundRect">
            <a:avLst>
              <a:gd name="adj" fmla="val 11636"/>
            </a:avLst>
          </a:prstGeom>
          <a:solidFill>
            <a:srgbClr val="12233F"/>
          </a:solidFill>
          <a:ln w="4763">
            <a:solidFill>
              <a:srgbClr val="24406B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6206058" y="1907753"/>
            <a:ext cx="3113886" cy="2447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90"/>
              </a:lnSpc>
              <a:buNone/>
            </a:pPr>
            <a:r>
              <a:rPr lang="en-US" sz="720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Own policy library, intents &amp; playbooks — per country, per</a:t>
            </a:r>
            <a:endParaRPr lang="en-US" sz="720" dirty="0"/>
          </a:p>
          <a:p>
            <a:pPr algn="l" indent="0" marL="0">
              <a:lnSpc>
                <a:spcPts val="990"/>
              </a:lnSpc>
              <a:buNone/>
            </a:pPr>
            <a:r>
              <a:rPr lang="en-US" sz="720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union agreement</a:t>
            </a:r>
            <a:endParaRPr lang="en-US" sz="720" dirty="0"/>
          </a:p>
        </p:txBody>
      </p:sp>
      <p:sp>
        <p:nvSpPr>
          <p:cNvPr id="54" name="Shape 51"/>
          <p:cNvSpPr/>
          <p:nvPr/>
        </p:nvSpPr>
        <p:spPr>
          <a:xfrm>
            <a:off x="6137039" y="2219325"/>
            <a:ext cx="2600325" cy="314325"/>
          </a:xfrm>
          <a:prstGeom prst="roundRect">
            <a:avLst>
              <a:gd name="adj" fmla="val 11636"/>
            </a:avLst>
          </a:prstGeom>
          <a:solidFill>
            <a:srgbClr val="12233F"/>
          </a:solidFill>
          <a:ln w="4763">
            <a:solidFill>
              <a:srgbClr val="24406B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6206058" y="2250802"/>
            <a:ext cx="3207432" cy="2447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90"/>
              </a:lnSpc>
              <a:buNone/>
            </a:pPr>
            <a:r>
              <a:rPr lang="en-US" sz="720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Isolated data, memory &amp; case files — encrypted per tenant,</a:t>
            </a:r>
            <a:endParaRPr lang="en-US" sz="720" dirty="0"/>
          </a:p>
          <a:p>
            <a:pPr algn="l" indent="0" marL="0">
              <a:lnSpc>
                <a:spcPts val="990"/>
              </a:lnSpc>
              <a:buNone/>
            </a:pPr>
            <a:r>
              <a:rPr lang="en-US" sz="720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own keys</a:t>
            </a:r>
            <a:endParaRPr lang="en-US" sz="720" dirty="0"/>
          </a:p>
        </p:txBody>
      </p:sp>
      <p:sp>
        <p:nvSpPr>
          <p:cNvPr id="56" name="Shape 53"/>
          <p:cNvSpPr/>
          <p:nvPr/>
        </p:nvSpPr>
        <p:spPr>
          <a:xfrm>
            <a:off x="6137039" y="2562374"/>
            <a:ext cx="2600325" cy="314325"/>
          </a:xfrm>
          <a:prstGeom prst="roundRect">
            <a:avLst>
              <a:gd name="adj" fmla="val 11636"/>
            </a:avLst>
          </a:prstGeom>
          <a:solidFill>
            <a:srgbClr val="12233F"/>
          </a:solidFill>
          <a:ln w="4763">
            <a:solidFill>
              <a:srgbClr val="24406B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6206058" y="2593851"/>
            <a:ext cx="2975454" cy="2447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90"/>
              </a:lnSpc>
              <a:buNone/>
            </a:pPr>
            <a:r>
              <a:rPr lang="en-US" sz="720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Own HCM connectors — Workday here, SuccessFactors</a:t>
            </a:r>
            <a:endParaRPr lang="en-US" sz="720" dirty="0"/>
          </a:p>
          <a:p>
            <a:pPr algn="l" indent="0" marL="0">
              <a:lnSpc>
                <a:spcPts val="990"/>
              </a:lnSpc>
              <a:buNone/>
            </a:pPr>
            <a:r>
              <a:rPr lang="en-US" sz="720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there</a:t>
            </a:r>
            <a:endParaRPr lang="en-US" sz="720" dirty="0"/>
          </a:p>
        </p:txBody>
      </p:sp>
      <p:sp>
        <p:nvSpPr>
          <p:cNvPr id="58" name="Text 55"/>
          <p:cNvSpPr/>
          <p:nvPr/>
        </p:nvSpPr>
        <p:spPr>
          <a:xfrm>
            <a:off x="4533305" y="4411117"/>
            <a:ext cx="157661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122"/>
              </a:spcBef>
              <a:spcAft>
                <a:spcPts val="122"/>
              </a:spcAft>
              <a:buNone/>
            </a:pPr>
            <a:r>
              <a:rPr lang="en-US" sz="790" dirty="0">
                <a:solidFill>
                  <a:srgbClr val="3D6DB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▼</a:t>
            </a:r>
            <a:endParaRPr lang="en-US" sz="790" dirty="0"/>
          </a:p>
        </p:txBody>
      </p:sp>
      <p:sp>
        <p:nvSpPr>
          <p:cNvPr id="59" name="Shape 56"/>
          <p:cNvSpPr/>
          <p:nvPr/>
        </p:nvSpPr>
        <p:spPr>
          <a:xfrm>
            <a:off x="319088" y="4547034"/>
            <a:ext cx="8505825" cy="247650"/>
          </a:xfrm>
          <a:prstGeom prst="roundRect">
            <a:avLst>
              <a:gd name="adj" fmla="val 18462"/>
            </a:avLst>
          </a:prstGeom>
          <a:solidFill>
            <a:srgbClr val="12233F"/>
          </a:solidFill>
          <a:ln w="4763">
            <a:solidFill>
              <a:srgbClr val="24406B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416123" y="4601542"/>
            <a:ext cx="1308073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E8F1F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Shared Foundation</a:t>
            </a:r>
            <a:endParaRPr lang="en-US" sz="830" dirty="0"/>
          </a:p>
        </p:txBody>
      </p:sp>
      <p:sp>
        <p:nvSpPr>
          <p:cNvPr id="61" name="Text 58"/>
          <p:cNvSpPr/>
          <p:nvPr/>
        </p:nvSpPr>
        <p:spPr>
          <a:xfrm>
            <a:off x="3712815" y="4603626"/>
            <a:ext cx="657673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60" dirty="0">
                <a:solidFill>
                  <a:srgbClr val="7AC9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agent runtime · MCP registry · gateway · observability — tenant-tagged end-to-end, noisy-neighbor quotas per tenant</a:t>
            </a:r>
            <a:endParaRPr lang="en-US" sz="760" dirty="0"/>
          </a:p>
        </p:txBody>
      </p:sp>
      <p:sp>
        <p:nvSpPr>
          <p:cNvPr id="62" name="Text 59"/>
          <p:cNvSpPr/>
          <p:nvPr/>
        </p:nvSpPr>
        <p:spPr>
          <a:xfrm>
            <a:off x="1876879" y="4831110"/>
            <a:ext cx="6947141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spcBef>
                <a:spcPts val="243"/>
              </a:spcBef>
              <a:buNone/>
            </a:pPr>
            <a:r>
              <a:rPr lang="en-US" sz="72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Isolation choices per tier: shared-with-row-level-isolation → dedicated database → fully dedicated deployment (regulated clients)</a:t>
            </a:r>
            <a:endParaRPr lang="en-US" sz="7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52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-484"/>
            <a:ext cx="8686800" cy="52388"/>
          </a:xfrm>
          <a:prstGeom prst="rect">
            <a:avLst/>
          </a:prstGeom>
          <a:solidFill>
            <a:srgbClr val="2F81F7"/>
          </a:solidFill>
          <a:ln/>
        </p:spPr>
      </p:sp>
      <p:sp>
        <p:nvSpPr>
          <p:cNvPr id="5" name="Text 2"/>
          <p:cNvSpPr/>
          <p:nvPr/>
        </p:nvSpPr>
        <p:spPr>
          <a:xfrm>
            <a:off x="319980" y="199058"/>
            <a:ext cx="598266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80" b="1" spc="-40" kern="0" dirty="0">
                <a:solidFill>
                  <a:srgbClr val="E8F1F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Running It as a Product — What Else Must Be True</a:t>
            </a:r>
            <a:endParaRPr lang="en-US" sz="1580" dirty="0"/>
          </a:p>
        </p:txBody>
      </p:sp>
      <p:sp>
        <p:nvSpPr>
          <p:cNvPr id="6" name="Text 3"/>
          <p:cNvSpPr/>
          <p:nvPr/>
        </p:nvSpPr>
        <p:spPr>
          <a:xfrm>
            <a:off x="5735836" y="294308"/>
            <a:ext cx="4071789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checklist that separates a client solution from a sellable platform</a:t>
            </a:r>
            <a:endParaRPr lang="en-US" sz="790" dirty="0"/>
          </a:p>
        </p:txBody>
      </p:sp>
      <p:sp>
        <p:nvSpPr>
          <p:cNvPr id="7" name="Shape 4"/>
          <p:cNvSpPr/>
          <p:nvPr/>
        </p:nvSpPr>
        <p:spPr>
          <a:xfrm>
            <a:off x="320948" y="574774"/>
            <a:ext cx="2771775" cy="2147887"/>
          </a:xfrm>
          <a:prstGeom prst="roundRect">
            <a:avLst>
              <a:gd name="adj" fmla="val 2554"/>
            </a:avLst>
          </a:prstGeom>
          <a:solidFill>
            <a:srgbClr val="111F38"/>
          </a:solidFill>
          <a:ln w="4763">
            <a:solidFill>
              <a:srgbClr val="24406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6123" y="639961"/>
            <a:ext cx="1268797" cy="147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spc="22" kern="0" dirty="0">
                <a:solidFill>
                  <a:srgbClr val="7AC9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Isolation &amp; Trust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16123" y="837828"/>
            <a:ext cx="3085832" cy="247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9"/>
              </a:lnSpc>
              <a:buNone/>
            </a:pPr>
            <a:r>
              <a:rPr lang="en-US" sz="730" b="1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Tenant isolation tiers</a:t>
            </a:r>
            <a:pPr algn="l" indent="0" marL="0">
              <a:lnSpc>
                <a:spcPts val="1009"/>
              </a:lnSpc>
              <a:buNone/>
            </a:pPr>
            <a:r>
              <a:rPr lang="en-US" sz="73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</a:t>
            </a:r>
            <a:pPr algn="l" indent="0" marL="0">
              <a:lnSpc>
                <a:spcPts val="1009"/>
              </a:lnSpc>
              <a:buNone/>
            </a:pPr>
            <a:r>
              <a:rPr lang="en-US" sz="73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pooled, siloed DB, or dedicated</a:t>
            </a:r>
            <a:endParaRPr lang="en-US" sz="730" dirty="0"/>
          </a:p>
          <a:p>
            <a:pPr algn="l" indent="0" marL="0">
              <a:lnSpc>
                <a:spcPts val="1009"/>
              </a:lnSpc>
              <a:buNone/>
            </a:pPr>
            <a:r>
              <a:rPr lang="en-US" sz="73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deployment — priced accordingly</a:t>
            </a:r>
            <a:endParaRPr lang="en-US" sz="730" dirty="0"/>
          </a:p>
        </p:txBody>
      </p:sp>
      <p:sp>
        <p:nvSpPr>
          <p:cNvPr id="10" name="Text 7"/>
          <p:cNvSpPr/>
          <p:nvPr/>
        </p:nvSpPr>
        <p:spPr>
          <a:xfrm>
            <a:off x="416123" y="1130052"/>
            <a:ext cx="3288209" cy="247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9"/>
              </a:lnSpc>
              <a:buNone/>
            </a:pPr>
            <a:r>
              <a:rPr lang="en-US" sz="730" b="1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Per-tenant encryption keys</a:t>
            </a:r>
            <a:pPr algn="l" indent="0" marL="0">
              <a:lnSpc>
                <a:spcPts val="1009"/>
              </a:lnSpc>
              <a:buNone/>
            </a:pPr>
            <a:r>
              <a:rPr lang="en-US" sz="73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</a:t>
            </a:r>
            <a:pPr algn="l" indent="0" marL="0">
              <a:lnSpc>
                <a:spcPts val="1009"/>
              </a:lnSpc>
              <a:buNone/>
            </a:pPr>
            <a:r>
              <a:rPr lang="en-US" sz="73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client-managed keys; agents</a:t>
            </a:r>
            <a:endParaRPr lang="en-US" sz="730" dirty="0"/>
          </a:p>
          <a:p>
            <a:pPr algn="l" indent="0" marL="0">
              <a:lnSpc>
                <a:spcPts val="1009"/>
              </a:lnSpc>
              <a:buNone/>
            </a:pPr>
            <a:r>
              <a:rPr lang="en-US" sz="73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can never cross tenant boundaries</a:t>
            </a:r>
            <a:endParaRPr lang="en-US" sz="730" dirty="0"/>
          </a:p>
        </p:txBody>
      </p:sp>
      <p:sp>
        <p:nvSpPr>
          <p:cNvPr id="11" name="Text 8"/>
          <p:cNvSpPr/>
          <p:nvPr/>
        </p:nvSpPr>
        <p:spPr>
          <a:xfrm>
            <a:off x="416123" y="1422276"/>
            <a:ext cx="3157031" cy="247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9"/>
              </a:lnSpc>
              <a:buNone/>
            </a:pPr>
            <a:r>
              <a:rPr lang="en-US" sz="730" b="1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cross-tenant learning</a:t>
            </a:r>
            <a:pPr algn="l" indent="0" marL="0">
              <a:lnSpc>
                <a:spcPts val="1009"/>
              </a:lnSpc>
              <a:buNone/>
            </a:pPr>
            <a:r>
              <a:rPr lang="en-US" sz="73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</a:t>
            </a:r>
            <a:pPr algn="l" indent="0" marL="0">
              <a:lnSpc>
                <a:spcPts val="1009"/>
              </a:lnSpc>
              <a:buNone/>
            </a:pPr>
            <a:r>
              <a:rPr lang="en-US" sz="73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client’s data never tunes</a:t>
            </a:r>
            <a:endParaRPr lang="en-US" sz="730" dirty="0"/>
          </a:p>
          <a:p>
            <a:pPr algn="l" indent="0" marL="0">
              <a:lnSpc>
                <a:spcPts val="1009"/>
              </a:lnSpc>
              <a:buNone/>
            </a:pPr>
            <a:r>
              <a:rPr lang="en-US" sz="73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models or prompts for another</a:t>
            </a:r>
            <a:endParaRPr lang="en-US" sz="730" dirty="0"/>
          </a:p>
        </p:txBody>
      </p:sp>
      <p:sp>
        <p:nvSpPr>
          <p:cNvPr id="12" name="Shape 9"/>
          <p:cNvSpPr/>
          <p:nvPr/>
        </p:nvSpPr>
        <p:spPr>
          <a:xfrm>
            <a:off x="3186075" y="574774"/>
            <a:ext cx="2771775" cy="2147887"/>
          </a:xfrm>
          <a:prstGeom prst="roundRect">
            <a:avLst>
              <a:gd name="adj" fmla="val 2554"/>
            </a:avLst>
          </a:prstGeom>
          <a:solidFill>
            <a:srgbClr val="111F38"/>
          </a:solidFill>
          <a:ln w="4763">
            <a:solidFill>
              <a:srgbClr val="24406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281214" y="639961"/>
            <a:ext cx="1887535" cy="147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spc="22" kern="0" dirty="0">
                <a:solidFill>
                  <a:srgbClr val="7AC9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Compliance &amp; Residency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3281214" y="837828"/>
            <a:ext cx="3274375" cy="247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9"/>
              </a:lnSpc>
              <a:buNone/>
            </a:pPr>
            <a:r>
              <a:rPr lang="en-US" sz="730" b="1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 residency</a:t>
            </a:r>
            <a:pPr algn="l" indent="0" marL="0">
              <a:lnSpc>
                <a:spcPts val="1009"/>
              </a:lnSpc>
              <a:buNone/>
            </a:pPr>
            <a:r>
              <a:rPr lang="en-US" sz="73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</a:t>
            </a:r>
            <a:pPr algn="l" indent="0" marL="0">
              <a:lnSpc>
                <a:spcPts val="1009"/>
              </a:lnSpc>
              <a:buNone/>
            </a:pPr>
            <a:r>
              <a:rPr lang="en-US" sz="73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EU data stays in EU regions — deployable</a:t>
            </a:r>
            <a:endParaRPr lang="en-US" sz="730" dirty="0"/>
          </a:p>
          <a:p>
            <a:pPr algn="l" indent="0" marL="0">
              <a:lnSpc>
                <a:spcPts val="1009"/>
              </a:lnSpc>
              <a:buNone/>
            </a:pPr>
            <a:r>
              <a:rPr lang="en-US" sz="73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per geography</a:t>
            </a:r>
            <a:endParaRPr lang="en-US" sz="730" dirty="0"/>
          </a:p>
        </p:txBody>
      </p:sp>
      <p:sp>
        <p:nvSpPr>
          <p:cNvPr id="15" name="Text 12"/>
          <p:cNvSpPr/>
          <p:nvPr/>
        </p:nvSpPr>
        <p:spPr>
          <a:xfrm>
            <a:off x="3281214" y="1130052"/>
            <a:ext cx="3357860" cy="247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9"/>
              </a:lnSpc>
              <a:buNone/>
            </a:pPr>
            <a:r>
              <a:rPr lang="en-US" sz="730" b="1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Certifications</a:t>
            </a:r>
            <a:pPr algn="l" indent="0" marL="0">
              <a:lnSpc>
                <a:spcPts val="1009"/>
              </a:lnSpc>
              <a:buNone/>
            </a:pPr>
            <a:r>
              <a:rPr lang="en-US" sz="73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</a:t>
            </a:r>
            <a:pPr algn="l" indent="0" marL="0">
              <a:lnSpc>
                <a:spcPts val="1009"/>
              </a:lnSpc>
              <a:buNone/>
            </a:pPr>
            <a:r>
              <a:rPr lang="en-US" sz="73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SOC 2, ISO 27001, GDPR; AI-specific: EU AI</a:t>
            </a:r>
            <a:endParaRPr lang="en-US" sz="730" dirty="0"/>
          </a:p>
          <a:p>
            <a:pPr algn="l" indent="0" marL="0">
              <a:lnSpc>
                <a:spcPts val="1009"/>
              </a:lnSpc>
              <a:buNone/>
            </a:pPr>
            <a:r>
              <a:rPr lang="en-US" sz="73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Act readiness</a:t>
            </a:r>
            <a:endParaRPr lang="en-US" sz="730" dirty="0"/>
          </a:p>
        </p:txBody>
      </p:sp>
      <p:sp>
        <p:nvSpPr>
          <p:cNvPr id="16" name="Text 13"/>
          <p:cNvSpPr/>
          <p:nvPr/>
        </p:nvSpPr>
        <p:spPr>
          <a:xfrm>
            <a:off x="3281214" y="1422276"/>
            <a:ext cx="2715324" cy="247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9"/>
              </a:lnSpc>
              <a:buNone/>
            </a:pPr>
            <a:r>
              <a:rPr lang="en-US" sz="730" b="1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Works councils &amp; unions</a:t>
            </a:r>
            <a:pPr algn="l" indent="0" marL="0">
              <a:lnSpc>
                <a:spcPts val="1009"/>
              </a:lnSpc>
              <a:buNone/>
            </a:pPr>
            <a:r>
              <a:rPr lang="en-US" sz="73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</a:t>
            </a:r>
            <a:pPr algn="l" indent="0" marL="0">
              <a:lnSpc>
                <a:spcPts val="1009"/>
              </a:lnSpc>
              <a:buNone/>
            </a:pPr>
            <a:r>
              <a:rPr lang="en-US" sz="73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per-country consent,</a:t>
            </a:r>
            <a:endParaRPr lang="en-US" sz="730" dirty="0"/>
          </a:p>
          <a:p>
            <a:pPr algn="l" indent="0" marL="0">
              <a:lnSpc>
                <a:spcPts val="1009"/>
              </a:lnSpc>
              <a:buNone/>
            </a:pPr>
            <a:r>
              <a:rPr lang="en-US" sz="73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transparency and audit obligations</a:t>
            </a:r>
            <a:endParaRPr lang="en-US" sz="730" dirty="0"/>
          </a:p>
        </p:txBody>
      </p:sp>
      <p:sp>
        <p:nvSpPr>
          <p:cNvPr id="17" name="Shape 14"/>
          <p:cNvSpPr/>
          <p:nvPr/>
        </p:nvSpPr>
        <p:spPr>
          <a:xfrm>
            <a:off x="6051240" y="574774"/>
            <a:ext cx="2771775" cy="2147887"/>
          </a:xfrm>
          <a:prstGeom prst="roundRect">
            <a:avLst>
              <a:gd name="adj" fmla="val 2554"/>
            </a:avLst>
          </a:prstGeom>
          <a:solidFill>
            <a:srgbClr val="111F38"/>
          </a:solidFill>
          <a:ln w="4763">
            <a:solidFill>
              <a:srgbClr val="24406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146378" y="639961"/>
            <a:ext cx="1430737" cy="147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spc="22" kern="0" dirty="0">
                <a:solidFill>
                  <a:srgbClr val="7AC9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Commercial Model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6146378" y="837828"/>
            <a:ext cx="3168447" cy="247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9"/>
              </a:lnSpc>
              <a:buNone/>
            </a:pPr>
            <a:r>
              <a:rPr lang="en-US" sz="730" b="1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Pricing &amp; metering</a:t>
            </a:r>
            <a:pPr algn="l" indent="0" marL="0">
              <a:lnSpc>
                <a:spcPts val="1009"/>
              </a:lnSpc>
              <a:buNone/>
            </a:pPr>
            <a:r>
              <a:rPr lang="en-US" sz="73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</a:t>
            </a:r>
            <a:pPr algn="l" indent="0" marL="0">
              <a:lnSpc>
                <a:spcPts val="1009"/>
              </a:lnSpc>
              <a:buNone/>
            </a:pPr>
            <a:r>
              <a:rPr lang="en-US" sz="73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per employee served / per resolved</a:t>
            </a:r>
            <a:endParaRPr lang="en-US" sz="730" dirty="0"/>
          </a:p>
          <a:p>
            <a:pPr algn="l" indent="0" marL="0">
              <a:lnSpc>
                <a:spcPts val="1009"/>
              </a:lnSpc>
              <a:buNone/>
            </a:pPr>
            <a:r>
              <a:rPr lang="en-US" sz="73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case — with token cost visibility</a:t>
            </a:r>
            <a:endParaRPr lang="en-US" sz="730" dirty="0"/>
          </a:p>
        </p:txBody>
      </p:sp>
      <p:sp>
        <p:nvSpPr>
          <p:cNvPr id="20" name="Text 17"/>
          <p:cNvSpPr/>
          <p:nvPr/>
        </p:nvSpPr>
        <p:spPr>
          <a:xfrm>
            <a:off x="6146378" y="1130052"/>
            <a:ext cx="2684175" cy="247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9"/>
              </a:lnSpc>
              <a:buNone/>
            </a:pPr>
            <a:r>
              <a:rPr lang="en-US" sz="730" b="1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SLAs per tier</a:t>
            </a:r>
            <a:pPr algn="l" indent="0" marL="0">
              <a:lnSpc>
                <a:spcPts val="1009"/>
              </a:lnSpc>
              <a:buNone/>
            </a:pPr>
            <a:r>
              <a:rPr lang="en-US" sz="73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</a:t>
            </a:r>
            <a:pPr algn="l" indent="0" marL="0">
              <a:lnSpc>
                <a:spcPts val="1009"/>
              </a:lnSpc>
              <a:buNone/>
            </a:pPr>
            <a:r>
              <a:rPr lang="en-US" sz="73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response, resolution and uptime</a:t>
            </a:r>
            <a:endParaRPr lang="en-US" sz="730" dirty="0"/>
          </a:p>
          <a:p>
            <a:pPr algn="l" indent="0" marL="0">
              <a:lnSpc>
                <a:spcPts val="1009"/>
              </a:lnSpc>
              <a:buNone/>
            </a:pPr>
            <a:r>
              <a:rPr lang="en-US" sz="73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commitments with credits</a:t>
            </a:r>
            <a:endParaRPr lang="en-US" sz="730" dirty="0"/>
          </a:p>
        </p:txBody>
      </p:sp>
      <p:sp>
        <p:nvSpPr>
          <p:cNvPr id="21" name="Text 18"/>
          <p:cNvSpPr/>
          <p:nvPr/>
        </p:nvSpPr>
        <p:spPr>
          <a:xfrm>
            <a:off x="6146378" y="1422276"/>
            <a:ext cx="3148132" cy="247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9"/>
              </a:lnSpc>
              <a:buNone/>
            </a:pPr>
            <a:r>
              <a:rPr lang="en-US" sz="730" b="1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Cost governance</a:t>
            </a:r>
            <a:pPr algn="l" indent="0" marL="0">
              <a:lnSpc>
                <a:spcPts val="1009"/>
              </a:lnSpc>
              <a:buNone/>
            </a:pPr>
            <a:r>
              <a:rPr lang="en-US" sz="73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</a:t>
            </a:r>
            <a:pPr algn="l" indent="0" marL="0">
              <a:lnSpc>
                <a:spcPts val="1009"/>
              </a:lnSpc>
              <a:buNone/>
            </a:pPr>
            <a:r>
              <a:rPr lang="en-US" sz="73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per-tenant budgets and alerts so one</a:t>
            </a:r>
            <a:endParaRPr lang="en-US" sz="730" dirty="0"/>
          </a:p>
          <a:p>
            <a:pPr algn="l" indent="0" marL="0">
              <a:lnSpc>
                <a:spcPts val="1009"/>
              </a:lnSpc>
              <a:buNone/>
            </a:pPr>
            <a:r>
              <a:rPr lang="en-US" sz="73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client can’t burn the margin</a:t>
            </a:r>
            <a:endParaRPr lang="en-US" sz="730" dirty="0"/>
          </a:p>
        </p:txBody>
      </p:sp>
      <p:sp>
        <p:nvSpPr>
          <p:cNvPr id="22" name="Shape 19"/>
          <p:cNvSpPr/>
          <p:nvPr/>
        </p:nvSpPr>
        <p:spPr>
          <a:xfrm>
            <a:off x="320948" y="2815084"/>
            <a:ext cx="2771775" cy="2147887"/>
          </a:xfrm>
          <a:prstGeom prst="roundRect">
            <a:avLst>
              <a:gd name="adj" fmla="val 2554"/>
            </a:avLst>
          </a:prstGeom>
          <a:solidFill>
            <a:srgbClr val="111F38"/>
          </a:solidFill>
          <a:ln w="4763">
            <a:solidFill>
              <a:srgbClr val="24406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16123" y="2880271"/>
            <a:ext cx="1526024" cy="147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spc="22" kern="0" dirty="0">
                <a:solidFill>
                  <a:srgbClr val="7AC9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Operations at Scale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416123" y="3078138"/>
            <a:ext cx="3279986" cy="247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9"/>
              </a:lnSpc>
              <a:buNone/>
            </a:pPr>
            <a:r>
              <a:rPr lang="en-US" sz="730" b="1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Tenant admin console</a:t>
            </a:r>
            <a:pPr algn="l" indent="0" marL="0">
              <a:lnSpc>
                <a:spcPts val="1009"/>
              </a:lnSpc>
              <a:buNone/>
            </a:pPr>
            <a:r>
              <a:rPr lang="en-US" sz="73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</a:t>
            </a:r>
            <a:pPr algn="l" indent="0" marL="0">
              <a:lnSpc>
                <a:spcPts val="1009"/>
              </a:lnSpc>
              <a:buNone/>
            </a:pPr>
            <a:r>
              <a:rPr lang="en-US" sz="73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clients manage their own policies,</a:t>
            </a:r>
            <a:endParaRPr lang="en-US" sz="730" dirty="0"/>
          </a:p>
          <a:p>
            <a:pPr algn="l" indent="0" marL="0">
              <a:lnSpc>
                <a:spcPts val="1009"/>
              </a:lnSpc>
              <a:buNone/>
            </a:pPr>
            <a:r>
              <a:rPr lang="en-US" sz="73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personas, approvers, intents</a:t>
            </a:r>
            <a:endParaRPr lang="en-US" sz="730" dirty="0"/>
          </a:p>
        </p:txBody>
      </p:sp>
      <p:sp>
        <p:nvSpPr>
          <p:cNvPr id="25" name="Text 22"/>
          <p:cNvSpPr/>
          <p:nvPr/>
        </p:nvSpPr>
        <p:spPr>
          <a:xfrm>
            <a:off x="416123" y="3370362"/>
            <a:ext cx="3012601" cy="247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9"/>
              </a:lnSpc>
              <a:buNone/>
            </a:pPr>
            <a:r>
              <a:rPr lang="en-US" sz="730" b="1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Per-tenant quality</a:t>
            </a:r>
            <a:pPr algn="l" indent="0" marL="0">
              <a:lnSpc>
                <a:spcPts val="1009"/>
              </a:lnSpc>
              <a:buNone/>
            </a:pPr>
            <a:r>
              <a:rPr lang="en-US" sz="73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</a:t>
            </a:r>
            <a:pPr algn="l" indent="0" marL="0">
              <a:lnSpc>
                <a:spcPts val="1009"/>
              </a:lnSpc>
              <a:buNone/>
            </a:pPr>
            <a:r>
              <a:rPr lang="en-US" sz="73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evals, deflection and satisfaction</a:t>
            </a:r>
            <a:endParaRPr lang="en-US" sz="730" dirty="0"/>
          </a:p>
          <a:p>
            <a:pPr algn="l" indent="0" marL="0">
              <a:lnSpc>
                <a:spcPts val="1009"/>
              </a:lnSpc>
              <a:buNone/>
            </a:pPr>
            <a:r>
              <a:rPr lang="en-US" sz="73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tracked per client, not just globally</a:t>
            </a:r>
            <a:endParaRPr lang="en-US" sz="730" dirty="0"/>
          </a:p>
        </p:txBody>
      </p:sp>
      <p:sp>
        <p:nvSpPr>
          <p:cNvPr id="26" name="Text 23"/>
          <p:cNvSpPr/>
          <p:nvPr/>
        </p:nvSpPr>
        <p:spPr>
          <a:xfrm>
            <a:off x="416123" y="3662586"/>
            <a:ext cx="3185182" cy="247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9"/>
              </a:lnSpc>
              <a:buNone/>
            </a:pPr>
            <a:r>
              <a:rPr lang="en-US" sz="730" b="1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Incident model</a:t>
            </a:r>
            <a:pPr algn="l" indent="0" marL="0">
              <a:lnSpc>
                <a:spcPts val="1009"/>
              </a:lnSpc>
              <a:buNone/>
            </a:pPr>
            <a:r>
              <a:rPr lang="en-US" sz="73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</a:t>
            </a:r>
            <a:pPr algn="l" indent="0" marL="0">
              <a:lnSpc>
                <a:spcPts val="1009"/>
              </a:lnSpc>
              <a:buNone/>
            </a:pPr>
            <a:r>
              <a:rPr lang="en-US" sz="73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tenant-aware on-call, status pages and</a:t>
            </a:r>
            <a:endParaRPr lang="en-US" sz="730" dirty="0"/>
          </a:p>
          <a:p>
            <a:pPr algn="l" indent="0" marL="0">
              <a:lnSpc>
                <a:spcPts val="1009"/>
              </a:lnSpc>
              <a:buNone/>
            </a:pPr>
            <a:r>
              <a:rPr lang="en-US" sz="73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breach notification duties</a:t>
            </a:r>
            <a:endParaRPr lang="en-US" sz="730" dirty="0"/>
          </a:p>
        </p:txBody>
      </p:sp>
      <p:sp>
        <p:nvSpPr>
          <p:cNvPr id="27" name="Shape 24"/>
          <p:cNvSpPr/>
          <p:nvPr/>
        </p:nvSpPr>
        <p:spPr>
          <a:xfrm>
            <a:off x="3186075" y="2815084"/>
            <a:ext cx="2771775" cy="2147887"/>
          </a:xfrm>
          <a:prstGeom prst="roundRect">
            <a:avLst>
              <a:gd name="adj" fmla="val 2554"/>
            </a:avLst>
          </a:prstGeom>
          <a:solidFill>
            <a:srgbClr val="111F38"/>
          </a:solidFill>
          <a:ln w="4763">
            <a:solidFill>
              <a:srgbClr val="24406B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281214" y="2880271"/>
            <a:ext cx="1730045" cy="147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spc="22" kern="0" dirty="0">
                <a:solidFill>
                  <a:srgbClr val="7AC9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Customization vs Core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3281214" y="3078138"/>
            <a:ext cx="3115531" cy="247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9"/>
              </a:lnSpc>
              <a:buNone/>
            </a:pPr>
            <a:r>
              <a:rPr lang="en-US" sz="730" b="1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Config, not forks</a:t>
            </a:r>
            <a:pPr algn="l" indent="0" marL="0">
              <a:lnSpc>
                <a:spcPts val="1009"/>
              </a:lnSpc>
              <a:buNone/>
            </a:pPr>
            <a:r>
              <a:rPr lang="en-US" sz="73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</a:t>
            </a:r>
            <a:pPr algn="l" indent="0" marL="0">
              <a:lnSpc>
                <a:spcPts val="1009"/>
              </a:lnSpc>
              <a:buNone/>
            </a:pPr>
            <a:r>
              <a:rPr lang="en-US" sz="73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80% product, 20% per-client config:</a:t>
            </a:r>
            <a:endParaRPr lang="en-US" sz="730" dirty="0"/>
          </a:p>
          <a:p>
            <a:pPr algn="l" indent="0" marL="0">
              <a:lnSpc>
                <a:spcPts val="1009"/>
              </a:lnSpc>
              <a:buNone/>
            </a:pPr>
            <a:r>
              <a:rPr lang="en-US" sz="73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intents, playbooks, connectors</a:t>
            </a:r>
            <a:endParaRPr lang="en-US" sz="730" dirty="0"/>
          </a:p>
        </p:txBody>
      </p:sp>
      <p:sp>
        <p:nvSpPr>
          <p:cNvPr id="30" name="Text 27"/>
          <p:cNvSpPr/>
          <p:nvPr/>
        </p:nvSpPr>
        <p:spPr>
          <a:xfrm>
            <a:off x="3281214" y="3370362"/>
            <a:ext cx="3308620" cy="247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9"/>
              </a:lnSpc>
              <a:buNone/>
            </a:pPr>
            <a:r>
              <a:rPr lang="en-US" sz="730" b="1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Connector marketplace</a:t>
            </a:r>
            <a:pPr algn="l" indent="0" marL="0">
              <a:lnSpc>
                <a:spcPts val="1009"/>
              </a:lnSpc>
              <a:buNone/>
            </a:pPr>
            <a:r>
              <a:rPr lang="en-US" sz="73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</a:t>
            </a:r>
            <a:pPr algn="l" indent="0" marL="0">
              <a:lnSpc>
                <a:spcPts val="1009"/>
              </a:lnSpc>
              <a:buNone/>
            </a:pPr>
            <a:r>
              <a:rPr lang="en-US" sz="73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certified HCM / payroll / ticketing</a:t>
            </a:r>
            <a:endParaRPr lang="en-US" sz="730" dirty="0"/>
          </a:p>
          <a:p>
            <a:pPr algn="l" indent="0" marL="0">
              <a:lnSpc>
                <a:spcPts val="1009"/>
              </a:lnSpc>
              <a:buNone/>
            </a:pPr>
            <a:r>
              <a:rPr lang="en-US" sz="73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connectors, versioned per tenant</a:t>
            </a:r>
            <a:endParaRPr lang="en-US" sz="730" dirty="0"/>
          </a:p>
        </p:txBody>
      </p:sp>
      <p:sp>
        <p:nvSpPr>
          <p:cNvPr id="31" name="Text 28"/>
          <p:cNvSpPr/>
          <p:nvPr/>
        </p:nvSpPr>
        <p:spPr>
          <a:xfrm>
            <a:off x="3281214" y="3662586"/>
            <a:ext cx="3228811" cy="247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9"/>
              </a:lnSpc>
              <a:buNone/>
            </a:pPr>
            <a:r>
              <a:rPr lang="en-US" sz="730" b="1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Upgrade safety</a:t>
            </a:r>
            <a:pPr algn="l" indent="0" marL="0">
              <a:lnSpc>
                <a:spcPts val="1009"/>
              </a:lnSpc>
              <a:buNone/>
            </a:pPr>
            <a:r>
              <a:rPr lang="en-US" sz="73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</a:t>
            </a:r>
            <a:pPr algn="l" indent="0" marL="0">
              <a:lnSpc>
                <a:spcPts val="1009"/>
              </a:lnSpc>
              <a:buNone/>
            </a:pPr>
            <a:r>
              <a:rPr lang="en-US" sz="73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tenant-level regression evals before any</a:t>
            </a:r>
            <a:endParaRPr lang="en-US" sz="730" dirty="0"/>
          </a:p>
          <a:p>
            <a:pPr algn="l" indent="0" marL="0">
              <a:lnSpc>
                <a:spcPts val="1009"/>
              </a:lnSpc>
              <a:buNone/>
            </a:pPr>
            <a:r>
              <a:rPr lang="en-US" sz="73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model or prompt rollout</a:t>
            </a:r>
            <a:endParaRPr lang="en-US" sz="730" dirty="0"/>
          </a:p>
        </p:txBody>
      </p:sp>
      <p:sp>
        <p:nvSpPr>
          <p:cNvPr id="32" name="Shape 29"/>
          <p:cNvSpPr/>
          <p:nvPr/>
        </p:nvSpPr>
        <p:spPr>
          <a:xfrm>
            <a:off x="6051240" y="2815084"/>
            <a:ext cx="2771775" cy="2147887"/>
          </a:xfrm>
          <a:prstGeom prst="roundRect">
            <a:avLst>
              <a:gd name="adj" fmla="val 2554"/>
            </a:avLst>
          </a:prstGeom>
          <a:solidFill>
            <a:srgbClr val="111F38"/>
          </a:solidFill>
          <a:ln w="4763">
            <a:solidFill>
              <a:srgbClr val="24406B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146378" y="2880271"/>
            <a:ext cx="1078416" cy="147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spc="22" kern="0" dirty="0">
                <a:solidFill>
                  <a:srgbClr val="7AC9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Go-to-Market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6146378" y="3078138"/>
            <a:ext cx="3273117" cy="247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9"/>
              </a:lnSpc>
              <a:buNone/>
            </a:pPr>
            <a:r>
              <a:rPr lang="en-US" sz="730" b="1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Onboarding factory</a:t>
            </a:r>
            <a:pPr algn="l" indent="0" marL="0">
              <a:lnSpc>
                <a:spcPts val="1009"/>
              </a:lnSpc>
              <a:buNone/>
            </a:pPr>
            <a:r>
              <a:rPr lang="en-US" sz="73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</a:t>
            </a:r>
            <a:pPr algn="l" indent="0" marL="0">
              <a:lnSpc>
                <a:spcPts val="1009"/>
              </a:lnSpc>
              <a:buNone/>
            </a:pPr>
            <a:r>
              <a:rPr lang="en-US" sz="73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policy import, connector setup, HITL</a:t>
            </a:r>
            <a:endParaRPr lang="en-US" sz="730" dirty="0"/>
          </a:p>
          <a:p>
            <a:pPr algn="l" indent="0" marL="0">
              <a:lnSpc>
                <a:spcPts val="1009"/>
              </a:lnSpc>
              <a:buNone/>
            </a:pPr>
            <a:r>
              <a:rPr lang="en-US" sz="73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role mapping — days not months</a:t>
            </a:r>
            <a:endParaRPr lang="en-US" sz="730" dirty="0"/>
          </a:p>
        </p:txBody>
      </p:sp>
      <p:sp>
        <p:nvSpPr>
          <p:cNvPr id="35" name="Text 32"/>
          <p:cNvSpPr/>
          <p:nvPr/>
        </p:nvSpPr>
        <p:spPr>
          <a:xfrm>
            <a:off x="6146378" y="3370362"/>
            <a:ext cx="3046460" cy="247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9"/>
              </a:lnSpc>
              <a:buNone/>
            </a:pPr>
            <a:r>
              <a:rPr lang="en-US" sz="730" b="1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Trust artifacts</a:t>
            </a:r>
            <a:pPr algn="l" indent="0" marL="0">
              <a:lnSpc>
                <a:spcPts val="1009"/>
              </a:lnSpc>
              <a:buNone/>
            </a:pPr>
            <a:r>
              <a:rPr lang="en-US" sz="73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</a:t>
            </a:r>
            <a:pPr algn="l" indent="0" marL="0">
              <a:lnSpc>
                <a:spcPts val="1009"/>
              </a:lnSpc>
              <a:buNone/>
            </a:pPr>
            <a:r>
              <a:rPr lang="en-US" sz="73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model cards, audit logs, explainability</a:t>
            </a:r>
            <a:endParaRPr lang="en-US" sz="730" dirty="0"/>
          </a:p>
          <a:p>
            <a:pPr algn="l" indent="0" marL="0">
              <a:lnSpc>
                <a:spcPts val="1009"/>
              </a:lnSpc>
              <a:buNone/>
            </a:pPr>
            <a:r>
              <a:rPr lang="en-US" sz="73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reports for client security reviews</a:t>
            </a:r>
            <a:endParaRPr lang="en-US" sz="730" dirty="0"/>
          </a:p>
        </p:txBody>
      </p:sp>
      <p:sp>
        <p:nvSpPr>
          <p:cNvPr id="36" name="Text 33"/>
          <p:cNvSpPr/>
          <p:nvPr/>
        </p:nvSpPr>
        <p:spPr>
          <a:xfrm>
            <a:off x="6146378" y="3662586"/>
            <a:ext cx="3246224" cy="247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9"/>
              </a:lnSpc>
              <a:buNone/>
            </a:pPr>
            <a:r>
              <a:rPr lang="en-US" sz="730" b="1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Exit &amp; portability</a:t>
            </a:r>
            <a:pPr algn="l" indent="0" marL="0">
              <a:lnSpc>
                <a:spcPts val="1009"/>
              </a:lnSpc>
              <a:buNone/>
            </a:pPr>
            <a:r>
              <a:rPr lang="en-US" sz="73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</a:t>
            </a:r>
            <a:pPr algn="l" indent="0" marL="0">
              <a:lnSpc>
                <a:spcPts val="1009"/>
              </a:lnSpc>
              <a:buNone/>
            </a:pPr>
            <a:r>
              <a:rPr lang="en-US" sz="73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clients can leave with their data, cases</a:t>
            </a:r>
            <a:endParaRPr lang="en-US" sz="730" dirty="0"/>
          </a:p>
          <a:p>
            <a:pPr algn="l" indent="0" marL="0">
              <a:lnSpc>
                <a:spcPts val="1009"/>
              </a:lnSpc>
              <a:buNone/>
            </a:pPr>
            <a:r>
              <a:rPr lang="en-US" sz="73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and policy library intact</a:t>
            </a:r>
            <a:endParaRPr lang="en-US" sz="73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52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30" y="-484"/>
            <a:ext cx="8867775" cy="52388"/>
          </a:xfrm>
          <a:prstGeom prst="rect">
            <a:avLst/>
          </a:prstGeom>
          <a:solidFill>
            <a:srgbClr val="2F81F7"/>
          </a:solidFill>
          <a:ln/>
        </p:spPr>
      </p:sp>
      <p:sp>
        <p:nvSpPr>
          <p:cNvPr id="5" name="Text 2"/>
          <p:cNvSpPr/>
          <p:nvPr/>
        </p:nvSpPr>
        <p:spPr>
          <a:xfrm>
            <a:off x="319980" y="199058"/>
            <a:ext cx="5296012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80" b="1" spc="-40" kern="0" dirty="0">
                <a:solidFill>
                  <a:srgbClr val="E8F1F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Choosing an Isolation Tier — Cost vs Control</a:t>
            </a:r>
            <a:endParaRPr lang="en-US" sz="1580" dirty="0"/>
          </a:p>
        </p:txBody>
      </p:sp>
      <p:sp>
        <p:nvSpPr>
          <p:cNvPr id="6" name="Text 3"/>
          <p:cNvSpPr/>
          <p:nvPr/>
        </p:nvSpPr>
        <p:spPr>
          <a:xfrm>
            <a:off x="6410697" y="294308"/>
            <a:ext cx="3194469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product, three deployment shapes — sold as tiers</a:t>
            </a:r>
            <a:endParaRPr lang="en-US" sz="790" dirty="0"/>
          </a:p>
        </p:txBody>
      </p:sp>
      <p:sp>
        <p:nvSpPr>
          <p:cNvPr id="7" name="Text 4"/>
          <p:cNvSpPr/>
          <p:nvPr/>
        </p:nvSpPr>
        <p:spPr>
          <a:xfrm>
            <a:off x="319980" y="1202754"/>
            <a:ext cx="1026371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b="1" spc="18" kern="0" dirty="0">
                <a:solidFill>
                  <a:srgbClr val="8AA3C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WHAT IS SHARED</a:t>
            </a:r>
            <a:endParaRPr lang="en-US" sz="720" dirty="0"/>
          </a:p>
        </p:txBody>
      </p:sp>
      <p:sp>
        <p:nvSpPr>
          <p:cNvPr id="8" name="Text 5"/>
          <p:cNvSpPr/>
          <p:nvPr/>
        </p:nvSpPr>
        <p:spPr>
          <a:xfrm>
            <a:off x="319980" y="1847999"/>
            <a:ext cx="1059649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b="1" spc="18" kern="0" dirty="0">
                <a:solidFill>
                  <a:srgbClr val="8AA3C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SECURITY &amp; KEYS</a:t>
            </a:r>
            <a:endParaRPr lang="en-US" sz="720" dirty="0"/>
          </a:p>
        </p:txBody>
      </p:sp>
      <p:sp>
        <p:nvSpPr>
          <p:cNvPr id="9" name="Text 6"/>
          <p:cNvSpPr/>
          <p:nvPr/>
        </p:nvSpPr>
        <p:spPr>
          <a:xfrm>
            <a:off x="319980" y="2493243"/>
            <a:ext cx="1019889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b="1" spc="18" kern="0" dirty="0">
                <a:solidFill>
                  <a:srgbClr val="8AA3C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COMPLIANCE FIT</a:t>
            </a:r>
            <a:endParaRPr lang="en-US" sz="720" dirty="0"/>
          </a:p>
        </p:txBody>
      </p:sp>
      <p:sp>
        <p:nvSpPr>
          <p:cNvPr id="10" name="Text 7"/>
          <p:cNvSpPr/>
          <p:nvPr/>
        </p:nvSpPr>
        <p:spPr>
          <a:xfrm>
            <a:off x="319980" y="3138488"/>
            <a:ext cx="867623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b="1" spc="18" kern="0" dirty="0">
                <a:solidFill>
                  <a:srgbClr val="8AA3C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COST PROFILE</a:t>
            </a:r>
            <a:endParaRPr lang="en-US" sz="720" dirty="0"/>
          </a:p>
        </p:txBody>
      </p:sp>
      <p:sp>
        <p:nvSpPr>
          <p:cNvPr id="11" name="Text 8"/>
          <p:cNvSpPr/>
          <p:nvPr/>
        </p:nvSpPr>
        <p:spPr>
          <a:xfrm>
            <a:off x="319980" y="3728868"/>
            <a:ext cx="678500" cy="2333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0" b="1" spc="18" kern="0" dirty="0">
                <a:solidFill>
                  <a:srgbClr val="8AA3C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SPEED &amp;</a:t>
            </a:r>
            <a:endParaRPr lang="en-US" sz="720" dirty="0"/>
          </a:p>
          <a:p>
            <a:pPr algn="l" indent="0" marL="0">
              <a:lnSpc>
                <a:spcPts val="900"/>
              </a:lnSpc>
              <a:buNone/>
            </a:pPr>
            <a:r>
              <a:rPr lang="en-US" sz="720" b="1" spc="18" kern="0" dirty="0">
                <a:solidFill>
                  <a:srgbClr val="8AA3C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UPGRADES</a:t>
            </a:r>
            <a:endParaRPr lang="en-US" sz="720" dirty="0"/>
          </a:p>
        </p:txBody>
      </p:sp>
      <p:sp>
        <p:nvSpPr>
          <p:cNvPr id="12" name="Text 9"/>
          <p:cNvSpPr/>
          <p:nvPr/>
        </p:nvSpPr>
        <p:spPr>
          <a:xfrm>
            <a:off x="319980" y="4428976"/>
            <a:ext cx="975293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b="1" spc="18" kern="0" dirty="0">
                <a:solidFill>
                  <a:srgbClr val="8AA3C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TYPICAL CLIENT</a:t>
            </a:r>
            <a:endParaRPr lang="en-US" sz="720" dirty="0"/>
          </a:p>
        </p:txBody>
      </p:sp>
      <p:sp>
        <p:nvSpPr>
          <p:cNvPr id="13" name="Shape 10"/>
          <p:cNvSpPr/>
          <p:nvPr/>
        </p:nvSpPr>
        <p:spPr>
          <a:xfrm>
            <a:off x="1235311" y="575109"/>
            <a:ext cx="2466975" cy="4219575"/>
          </a:xfrm>
          <a:prstGeom prst="roundRect">
            <a:avLst>
              <a:gd name="adj" fmla="val 2224"/>
            </a:avLst>
          </a:prstGeom>
          <a:solidFill>
            <a:srgbClr val="0D1E36"/>
          </a:solidFill>
          <a:ln w="4763">
            <a:solidFill>
              <a:srgbClr val="7AC9F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240073" y="579016"/>
            <a:ext cx="2457450" cy="385763"/>
          </a:xfrm>
          <a:prstGeom prst="rect">
            <a:avLst/>
          </a:prstGeom>
          <a:solidFill>
            <a:srgbClr val="7AC9F5">
              <a:alpha val="1000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1330449" y="623739"/>
            <a:ext cx="1068162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7AC9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Tier 1 · Pooled</a:t>
            </a:r>
            <a:endParaRPr lang="en-US" sz="940" dirty="0"/>
          </a:p>
        </p:txBody>
      </p:sp>
      <p:sp>
        <p:nvSpPr>
          <p:cNvPr id="16" name="Text 13"/>
          <p:cNvSpPr/>
          <p:nvPr/>
        </p:nvSpPr>
        <p:spPr>
          <a:xfrm>
            <a:off x="1330449" y="797198"/>
            <a:ext cx="2066211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Shared everything, row-level isolation</a:t>
            </a:r>
            <a:endParaRPr lang="en-US" sz="720" dirty="0"/>
          </a:p>
        </p:txBody>
      </p:sp>
      <p:sp>
        <p:nvSpPr>
          <p:cNvPr id="17" name="Shape 14"/>
          <p:cNvSpPr/>
          <p:nvPr/>
        </p:nvSpPr>
        <p:spPr>
          <a:xfrm>
            <a:off x="1321036" y="1000944"/>
            <a:ext cx="2295525" cy="595313"/>
          </a:xfrm>
          <a:prstGeom prst="roundRect">
            <a:avLst>
              <a:gd name="adj" fmla="val 6144"/>
            </a:avLst>
          </a:prstGeom>
          <a:solidFill>
            <a:srgbClr val="12233F"/>
          </a:solidFill>
          <a:ln w="4763">
            <a:solidFill>
              <a:srgbClr val="24406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399208" y="1170459"/>
            <a:ext cx="2671986" cy="247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9"/>
              </a:lnSpc>
              <a:buNone/>
            </a:pPr>
            <a:r>
              <a:rPr lang="en-US" sz="730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Shared app, database &amp; model pool — every row</a:t>
            </a:r>
            <a:endParaRPr lang="en-US" sz="730" dirty="0"/>
          </a:p>
          <a:p>
            <a:pPr algn="l" indent="0" marL="0">
              <a:lnSpc>
                <a:spcPts val="1009"/>
              </a:lnSpc>
              <a:buNone/>
            </a:pPr>
            <a:r>
              <a:rPr lang="en-US" sz="730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tenant-tagged, enforced at the query layer</a:t>
            </a:r>
            <a:endParaRPr lang="en-US" sz="730" dirty="0"/>
          </a:p>
        </p:txBody>
      </p:sp>
      <p:sp>
        <p:nvSpPr>
          <p:cNvPr id="19" name="Shape 16"/>
          <p:cNvSpPr/>
          <p:nvPr/>
        </p:nvSpPr>
        <p:spPr>
          <a:xfrm>
            <a:off x="1321036" y="1632645"/>
            <a:ext cx="2295525" cy="595313"/>
          </a:xfrm>
          <a:prstGeom prst="roundRect">
            <a:avLst>
              <a:gd name="adj" fmla="val 6144"/>
            </a:avLst>
          </a:prstGeom>
          <a:solidFill>
            <a:srgbClr val="12233F"/>
          </a:solidFill>
          <a:ln w="4763">
            <a:solidFill>
              <a:srgbClr val="24406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399208" y="1802160"/>
            <a:ext cx="2042897" cy="247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9"/>
              </a:lnSpc>
              <a:buNone/>
            </a:pPr>
            <a:r>
              <a:rPr lang="en-US" sz="730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Encryption per tenant · strict RBAC ·</a:t>
            </a:r>
            <a:endParaRPr lang="en-US" sz="730" dirty="0"/>
          </a:p>
          <a:p>
            <a:pPr algn="l" indent="0" marL="0">
              <a:lnSpc>
                <a:spcPts val="1009"/>
              </a:lnSpc>
              <a:buNone/>
            </a:pPr>
            <a:r>
              <a:rPr lang="en-US" sz="730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noisy-neighbor quotas</a:t>
            </a:r>
            <a:endParaRPr lang="en-US" sz="730" dirty="0"/>
          </a:p>
        </p:txBody>
      </p:sp>
      <p:sp>
        <p:nvSpPr>
          <p:cNvPr id="21" name="Shape 18"/>
          <p:cNvSpPr/>
          <p:nvPr/>
        </p:nvSpPr>
        <p:spPr>
          <a:xfrm>
            <a:off x="1321036" y="2264346"/>
            <a:ext cx="2295525" cy="595313"/>
          </a:xfrm>
          <a:prstGeom prst="roundRect">
            <a:avLst>
              <a:gd name="adj" fmla="val 6144"/>
            </a:avLst>
          </a:prstGeom>
          <a:solidFill>
            <a:srgbClr val="12233F"/>
          </a:solidFill>
          <a:ln w="4763">
            <a:solidFill>
              <a:srgbClr val="24406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399208" y="2433861"/>
            <a:ext cx="2732157" cy="247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9"/>
              </a:lnSpc>
              <a:buNone/>
            </a:pPr>
            <a:r>
              <a:rPr lang="en-US" sz="730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Standard compliance (SOC 2, GDPR) — no special</a:t>
            </a:r>
            <a:endParaRPr lang="en-US" sz="730" dirty="0"/>
          </a:p>
          <a:p>
            <a:pPr algn="l" indent="0" marL="0">
              <a:lnSpc>
                <a:spcPts val="1009"/>
              </a:lnSpc>
              <a:buNone/>
            </a:pPr>
            <a:r>
              <a:rPr lang="en-US" sz="730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residency demands</a:t>
            </a:r>
            <a:endParaRPr lang="en-US" sz="730" dirty="0"/>
          </a:p>
        </p:txBody>
      </p:sp>
      <p:sp>
        <p:nvSpPr>
          <p:cNvPr id="23" name="Shape 20"/>
          <p:cNvSpPr/>
          <p:nvPr/>
        </p:nvSpPr>
        <p:spPr>
          <a:xfrm>
            <a:off x="1321036" y="2896046"/>
            <a:ext cx="2295525" cy="595313"/>
          </a:xfrm>
          <a:prstGeom prst="roundRect">
            <a:avLst>
              <a:gd name="adj" fmla="val 6144"/>
            </a:avLst>
          </a:prstGeom>
          <a:solidFill>
            <a:srgbClr val="12233F"/>
          </a:solidFill>
          <a:ln w="4763">
            <a:solidFill>
              <a:srgbClr val="24406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399208" y="3129632"/>
            <a:ext cx="2213930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30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Lowest cost per employee · best margin</a:t>
            </a:r>
            <a:endParaRPr lang="en-US" sz="730" dirty="0"/>
          </a:p>
        </p:txBody>
      </p:sp>
      <p:sp>
        <p:nvSpPr>
          <p:cNvPr id="25" name="Shape 22"/>
          <p:cNvSpPr/>
          <p:nvPr/>
        </p:nvSpPr>
        <p:spPr>
          <a:xfrm>
            <a:off x="1321036" y="3527747"/>
            <a:ext cx="2295525" cy="595313"/>
          </a:xfrm>
          <a:prstGeom prst="roundRect">
            <a:avLst>
              <a:gd name="adj" fmla="val 6144"/>
            </a:avLst>
          </a:prstGeom>
          <a:solidFill>
            <a:srgbClr val="12233F"/>
          </a:solidFill>
          <a:ln w="4763">
            <a:solidFill>
              <a:srgbClr val="24406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399208" y="3761333"/>
            <a:ext cx="2449391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30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Onboarding in days · instant upgrades for all</a:t>
            </a:r>
            <a:endParaRPr lang="en-US" sz="730" dirty="0"/>
          </a:p>
        </p:txBody>
      </p:sp>
      <p:sp>
        <p:nvSpPr>
          <p:cNvPr id="27" name="Shape 24"/>
          <p:cNvSpPr/>
          <p:nvPr/>
        </p:nvSpPr>
        <p:spPr>
          <a:xfrm>
            <a:off x="1321036" y="4159448"/>
            <a:ext cx="2295525" cy="595313"/>
          </a:xfrm>
          <a:prstGeom prst="roundRect">
            <a:avLst>
              <a:gd name="adj" fmla="val 6144"/>
            </a:avLst>
          </a:prstGeom>
          <a:solidFill>
            <a:srgbClr val="12233F"/>
          </a:solidFill>
          <a:ln w="4763">
            <a:solidFill>
              <a:srgbClr val="24406B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399208" y="4328964"/>
            <a:ext cx="2353330" cy="247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9"/>
              </a:lnSpc>
              <a:buNone/>
            </a:pPr>
            <a:r>
              <a:rPr lang="en-US" sz="730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Best for: mid-market clients with standard</a:t>
            </a:r>
            <a:endParaRPr lang="en-US" sz="730" dirty="0"/>
          </a:p>
          <a:p>
            <a:pPr algn="l" indent="0" marL="0">
              <a:lnSpc>
                <a:spcPts val="1009"/>
              </a:lnSpc>
              <a:buNone/>
            </a:pPr>
            <a:r>
              <a:rPr lang="en-US" sz="730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requirements</a:t>
            </a:r>
            <a:endParaRPr lang="en-US" sz="730" dirty="0"/>
          </a:p>
        </p:txBody>
      </p:sp>
      <p:sp>
        <p:nvSpPr>
          <p:cNvPr id="29" name="Shape 26"/>
          <p:cNvSpPr/>
          <p:nvPr/>
        </p:nvSpPr>
        <p:spPr>
          <a:xfrm>
            <a:off x="3795675" y="575109"/>
            <a:ext cx="2466975" cy="4219575"/>
          </a:xfrm>
          <a:prstGeom prst="roundRect">
            <a:avLst>
              <a:gd name="adj" fmla="val 2224"/>
            </a:avLst>
          </a:prstGeom>
          <a:solidFill>
            <a:srgbClr val="0D1E36"/>
          </a:solidFill>
          <a:ln w="4763">
            <a:solidFill>
              <a:srgbClr val="8FD6A8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3800438" y="579016"/>
            <a:ext cx="2457450" cy="385763"/>
          </a:xfrm>
          <a:prstGeom prst="rect">
            <a:avLst/>
          </a:prstGeom>
          <a:solidFill>
            <a:srgbClr val="8FD6A8">
              <a:alpha val="10000"/>
            </a:srgbClr>
          </a:solidFill>
          <a:ln/>
        </p:spPr>
      </p:sp>
      <p:sp>
        <p:nvSpPr>
          <p:cNvPr id="31" name="Text 28"/>
          <p:cNvSpPr/>
          <p:nvPr/>
        </p:nvSpPr>
        <p:spPr>
          <a:xfrm>
            <a:off x="3890814" y="623739"/>
            <a:ext cx="1424449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8FD6A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Tier 2 · Siloed Data</a:t>
            </a:r>
            <a:endParaRPr lang="en-US" sz="940" dirty="0"/>
          </a:p>
        </p:txBody>
      </p:sp>
      <p:sp>
        <p:nvSpPr>
          <p:cNvPr id="32" name="Text 29"/>
          <p:cNvSpPr/>
          <p:nvPr/>
        </p:nvSpPr>
        <p:spPr>
          <a:xfrm>
            <a:off x="3890814" y="797198"/>
            <a:ext cx="2310765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Shared app, dedicated database &amp; storage</a:t>
            </a:r>
            <a:endParaRPr lang="en-US" sz="720" dirty="0"/>
          </a:p>
        </p:txBody>
      </p:sp>
      <p:sp>
        <p:nvSpPr>
          <p:cNvPr id="33" name="Shape 30"/>
          <p:cNvSpPr/>
          <p:nvPr/>
        </p:nvSpPr>
        <p:spPr>
          <a:xfrm>
            <a:off x="3881400" y="1000944"/>
            <a:ext cx="2295525" cy="595313"/>
          </a:xfrm>
          <a:prstGeom prst="roundRect">
            <a:avLst>
              <a:gd name="adj" fmla="val 6144"/>
            </a:avLst>
          </a:prstGeom>
          <a:solidFill>
            <a:srgbClr val="12233F"/>
          </a:solidFill>
          <a:ln w="4763">
            <a:solidFill>
              <a:srgbClr val="24406B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959572" y="1170459"/>
            <a:ext cx="2714647" cy="247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9"/>
              </a:lnSpc>
              <a:buNone/>
            </a:pPr>
            <a:r>
              <a:rPr lang="en-US" sz="730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Shared runtime &amp; release train — but each client</a:t>
            </a:r>
            <a:endParaRPr lang="en-US" sz="730" dirty="0"/>
          </a:p>
          <a:p>
            <a:pPr algn="l" indent="0" marL="0">
              <a:lnSpc>
                <a:spcPts val="1009"/>
              </a:lnSpc>
              <a:buNone/>
            </a:pPr>
            <a:r>
              <a:rPr lang="en-US" sz="730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gets their own database, vector store &amp; case files</a:t>
            </a:r>
            <a:endParaRPr lang="en-US" sz="730" dirty="0"/>
          </a:p>
        </p:txBody>
      </p:sp>
      <p:sp>
        <p:nvSpPr>
          <p:cNvPr id="35" name="Shape 32"/>
          <p:cNvSpPr/>
          <p:nvPr/>
        </p:nvSpPr>
        <p:spPr>
          <a:xfrm>
            <a:off x="3881400" y="1632645"/>
            <a:ext cx="2295525" cy="595313"/>
          </a:xfrm>
          <a:prstGeom prst="roundRect">
            <a:avLst>
              <a:gd name="adj" fmla="val 6144"/>
            </a:avLst>
          </a:prstGeom>
          <a:solidFill>
            <a:srgbClr val="12233F"/>
          </a:solidFill>
          <a:ln w="4763">
            <a:solidFill>
              <a:srgbClr val="24406B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3959572" y="1802160"/>
            <a:ext cx="2757599" cy="247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9"/>
              </a:lnSpc>
              <a:buNone/>
            </a:pPr>
            <a:r>
              <a:rPr lang="en-US" sz="730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Client-managed encryption keys (BYOK) · isolated</a:t>
            </a:r>
            <a:endParaRPr lang="en-US" sz="730" dirty="0"/>
          </a:p>
          <a:p>
            <a:pPr algn="l" indent="0" marL="0">
              <a:lnSpc>
                <a:spcPts val="1009"/>
              </a:lnSpc>
              <a:buNone/>
            </a:pPr>
            <a:r>
              <a:rPr lang="en-US" sz="730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backups &amp; retention</a:t>
            </a:r>
            <a:endParaRPr lang="en-US" sz="730" dirty="0"/>
          </a:p>
        </p:txBody>
      </p:sp>
      <p:sp>
        <p:nvSpPr>
          <p:cNvPr id="37" name="Shape 34"/>
          <p:cNvSpPr/>
          <p:nvPr/>
        </p:nvSpPr>
        <p:spPr>
          <a:xfrm>
            <a:off x="3881400" y="2264346"/>
            <a:ext cx="2295525" cy="595313"/>
          </a:xfrm>
          <a:prstGeom prst="roundRect">
            <a:avLst>
              <a:gd name="adj" fmla="val 6144"/>
            </a:avLst>
          </a:prstGeom>
          <a:solidFill>
            <a:srgbClr val="12233F"/>
          </a:solidFill>
          <a:ln w="4763">
            <a:solidFill>
              <a:srgbClr val="24406B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3959572" y="2433861"/>
            <a:ext cx="2832958" cy="247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9"/>
              </a:lnSpc>
              <a:buNone/>
            </a:pPr>
            <a:r>
              <a:rPr lang="en-US" sz="730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Meets data residency — database pinned to client’s</a:t>
            </a:r>
            <a:endParaRPr lang="en-US" sz="730" dirty="0"/>
          </a:p>
          <a:p>
            <a:pPr algn="l" indent="0" marL="0">
              <a:lnSpc>
                <a:spcPts val="1009"/>
              </a:lnSpc>
              <a:buNone/>
            </a:pPr>
            <a:r>
              <a:rPr lang="en-US" sz="730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region</a:t>
            </a:r>
            <a:endParaRPr lang="en-US" sz="730" dirty="0"/>
          </a:p>
        </p:txBody>
      </p:sp>
      <p:sp>
        <p:nvSpPr>
          <p:cNvPr id="39" name="Shape 36"/>
          <p:cNvSpPr/>
          <p:nvPr/>
        </p:nvSpPr>
        <p:spPr>
          <a:xfrm>
            <a:off x="3881400" y="2896046"/>
            <a:ext cx="2295525" cy="595313"/>
          </a:xfrm>
          <a:prstGeom prst="roundRect">
            <a:avLst>
              <a:gd name="adj" fmla="val 6144"/>
            </a:avLst>
          </a:prstGeom>
          <a:solidFill>
            <a:srgbClr val="12233F"/>
          </a:solidFill>
          <a:ln w="4763">
            <a:solidFill>
              <a:srgbClr val="24406B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3959572" y="3129632"/>
            <a:ext cx="2450939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30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Moderate cost premium · priced into the tier</a:t>
            </a:r>
            <a:endParaRPr lang="en-US" sz="730" dirty="0"/>
          </a:p>
        </p:txBody>
      </p:sp>
      <p:sp>
        <p:nvSpPr>
          <p:cNvPr id="41" name="Shape 38"/>
          <p:cNvSpPr/>
          <p:nvPr/>
        </p:nvSpPr>
        <p:spPr>
          <a:xfrm>
            <a:off x="3881400" y="3527747"/>
            <a:ext cx="2295525" cy="595313"/>
          </a:xfrm>
          <a:prstGeom prst="roundRect">
            <a:avLst>
              <a:gd name="adj" fmla="val 6144"/>
            </a:avLst>
          </a:prstGeom>
          <a:solidFill>
            <a:srgbClr val="12233F"/>
          </a:solidFill>
          <a:ln w="4763">
            <a:solidFill>
              <a:srgbClr val="24406B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3959572" y="3697263"/>
            <a:ext cx="2684272" cy="247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9"/>
              </a:lnSpc>
              <a:buNone/>
            </a:pPr>
            <a:r>
              <a:rPr lang="en-US" sz="730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Onboarding in 1–2 weeks · upgrades per release</a:t>
            </a:r>
            <a:endParaRPr lang="en-US" sz="730" dirty="0"/>
          </a:p>
          <a:p>
            <a:pPr algn="l" indent="0" marL="0">
              <a:lnSpc>
                <a:spcPts val="1009"/>
              </a:lnSpc>
              <a:buNone/>
            </a:pPr>
            <a:r>
              <a:rPr lang="en-US" sz="730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ring</a:t>
            </a:r>
            <a:endParaRPr lang="en-US" sz="730" dirty="0"/>
          </a:p>
        </p:txBody>
      </p:sp>
      <p:sp>
        <p:nvSpPr>
          <p:cNvPr id="43" name="Shape 40"/>
          <p:cNvSpPr/>
          <p:nvPr/>
        </p:nvSpPr>
        <p:spPr>
          <a:xfrm>
            <a:off x="3881400" y="4159448"/>
            <a:ext cx="2295525" cy="595313"/>
          </a:xfrm>
          <a:prstGeom prst="roundRect">
            <a:avLst>
              <a:gd name="adj" fmla="val 6144"/>
            </a:avLst>
          </a:prstGeom>
          <a:solidFill>
            <a:srgbClr val="12233F"/>
          </a:solidFill>
          <a:ln w="4763">
            <a:solidFill>
              <a:srgbClr val="24406B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3959572" y="4328964"/>
            <a:ext cx="2154049" cy="247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9"/>
              </a:lnSpc>
              <a:buNone/>
            </a:pPr>
            <a:r>
              <a:rPr lang="en-US" sz="730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Best for: enterprises with residency or</a:t>
            </a:r>
            <a:endParaRPr lang="en-US" sz="730" dirty="0"/>
          </a:p>
          <a:p>
            <a:pPr algn="l" indent="0" marL="0">
              <a:lnSpc>
                <a:spcPts val="1009"/>
              </a:lnSpc>
              <a:buNone/>
            </a:pPr>
            <a:r>
              <a:rPr lang="en-US" sz="730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works-council demands</a:t>
            </a:r>
            <a:endParaRPr lang="en-US" sz="730" dirty="0"/>
          </a:p>
        </p:txBody>
      </p:sp>
      <p:sp>
        <p:nvSpPr>
          <p:cNvPr id="45" name="Shape 42"/>
          <p:cNvSpPr/>
          <p:nvPr/>
        </p:nvSpPr>
        <p:spPr>
          <a:xfrm>
            <a:off x="6356040" y="575109"/>
            <a:ext cx="2466975" cy="4219575"/>
          </a:xfrm>
          <a:prstGeom prst="roundRect">
            <a:avLst>
              <a:gd name="adj" fmla="val 2224"/>
            </a:avLst>
          </a:prstGeom>
          <a:solidFill>
            <a:srgbClr val="0D1E36"/>
          </a:solidFill>
          <a:ln w="4763">
            <a:solidFill>
              <a:srgbClr val="D9B36A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6360802" y="579016"/>
            <a:ext cx="2457450" cy="385763"/>
          </a:xfrm>
          <a:prstGeom prst="rect">
            <a:avLst/>
          </a:prstGeom>
          <a:solidFill>
            <a:srgbClr val="D9B36A">
              <a:alpha val="10000"/>
            </a:srgbClr>
          </a:solidFill>
          <a:ln/>
        </p:spPr>
      </p:sp>
      <p:sp>
        <p:nvSpPr>
          <p:cNvPr id="47" name="Text 44"/>
          <p:cNvSpPr/>
          <p:nvPr/>
        </p:nvSpPr>
        <p:spPr>
          <a:xfrm>
            <a:off x="6451178" y="623739"/>
            <a:ext cx="1344253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D9B36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Tier 3 · Dedicated</a:t>
            </a:r>
            <a:endParaRPr lang="en-US" sz="940" dirty="0"/>
          </a:p>
        </p:txBody>
      </p:sp>
      <p:sp>
        <p:nvSpPr>
          <p:cNvPr id="48" name="Text 45"/>
          <p:cNvSpPr/>
          <p:nvPr/>
        </p:nvSpPr>
        <p:spPr>
          <a:xfrm>
            <a:off x="6451178" y="797198"/>
            <a:ext cx="1536182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Fully dedicated deployment</a:t>
            </a:r>
            <a:endParaRPr lang="en-US" sz="720" dirty="0"/>
          </a:p>
        </p:txBody>
      </p:sp>
      <p:sp>
        <p:nvSpPr>
          <p:cNvPr id="49" name="Shape 46"/>
          <p:cNvSpPr/>
          <p:nvPr/>
        </p:nvSpPr>
        <p:spPr>
          <a:xfrm>
            <a:off x="6441765" y="1000944"/>
            <a:ext cx="2295525" cy="595313"/>
          </a:xfrm>
          <a:prstGeom prst="roundRect">
            <a:avLst>
              <a:gd name="adj" fmla="val 6144"/>
            </a:avLst>
          </a:prstGeom>
          <a:solidFill>
            <a:srgbClr val="12233F"/>
          </a:solidFill>
          <a:ln w="4763">
            <a:solidFill>
              <a:srgbClr val="24406B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6519937" y="1106388"/>
            <a:ext cx="2758760" cy="375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9"/>
              </a:lnSpc>
              <a:buNone/>
            </a:pPr>
            <a:r>
              <a:rPr lang="en-US" sz="730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Entire stack — runtime, models, gateway, data —</a:t>
            </a:r>
            <a:endParaRPr lang="en-US" sz="730" dirty="0"/>
          </a:p>
          <a:p>
            <a:pPr algn="l" indent="0" marL="0">
              <a:lnSpc>
                <a:spcPts val="1009"/>
              </a:lnSpc>
              <a:buNone/>
            </a:pPr>
            <a:r>
              <a:rPr lang="en-US" sz="730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deployed into a dedicated (or client-owned) cloud</a:t>
            </a:r>
            <a:endParaRPr lang="en-US" sz="730" dirty="0"/>
          </a:p>
          <a:p>
            <a:pPr algn="l" indent="0" marL="0">
              <a:lnSpc>
                <a:spcPts val="1009"/>
              </a:lnSpc>
              <a:buNone/>
            </a:pPr>
            <a:r>
              <a:rPr lang="en-US" sz="730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subscription</a:t>
            </a:r>
            <a:endParaRPr lang="en-US" sz="730" dirty="0"/>
          </a:p>
        </p:txBody>
      </p:sp>
      <p:sp>
        <p:nvSpPr>
          <p:cNvPr id="51" name="Shape 48"/>
          <p:cNvSpPr/>
          <p:nvPr/>
        </p:nvSpPr>
        <p:spPr>
          <a:xfrm>
            <a:off x="6441765" y="1632645"/>
            <a:ext cx="2295525" cy="595313"/>
          </a:xfrm>
          <a:prstGeom prst="roundRect">
            <a:avLst>
              <a:gd name="adj" fmla="val 6144"/>
            </a:avLst>
          </a:prstGeom>
          <a:solidFill>
            <a:srgbClr val="12233F"/>
          </a:solidFill>
          <a:ln w="4763">
            <a:solidFill>
              <a:srgbClr val="24406B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6519937" y="1802160"/>
            <a:ext cx="2708456" cy="247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9"/>
              </a:lnSpc>
              <a:buNone/>
            </a:pPr>
            <a:r>
              <a:rPr lang="en-US" sz="730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Client controls keys, network, private endpoints ·</a:t>
            </a:r>
            <a:endParaRPr lang="en-US" sz="730" dirty="0"/>
          </a:p>
          <a:p>
            <a:pPr algn="l" indent="0" marL="0">
              <a:lnSpc>
                <a:spcPts val="1009"/>
              </a:lnSpc>
              <a:buNone/>
            </a:pPr>
            <a:r>
              <a:rPr lang="en-US" sz="730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optional air-gap from provider</a:t>
            </a:r>
            <a:endParaRPr lang="en-US" sz="730" dirty="0"/>
          </a:p>
        </p:txBody>
      </p:sp>
      <p:sp>
        <p:nvSpPr>
          <p:cNvPr id="53" name="Shape 50"/>
          <p:cNvSpPr/>
          <p:nvPr/>
        </p:nvSpPr>
        <p:spPr>
          <a:xfrm>
            <a:off x="6441765" y="2264346"/>
            <a:ext cx="2295525" cy="595313"/>
          </a:xfrm>
          <a:prstGeom prst="roundRect">
            <a:avLst>
              <a:gd name="adj" fmla="val 6144"/>
            </a:avLst>
          </a:prstGeom>
          <a:solidFill>
            <a:srgbClr val="12233F"/>
          </a:solidFill>
          <a:ln w="4763">
            <a:solidFill>
              <a:srgbClr val="24406B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6519937" y="2433861"/>
            <a:ext cx="2658829" cy="247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9"/>
              </a:lnSpc>
              <a:buNone/>
            </a:pPr>
            <a:r>
              <a:rPr lang="en-US" sz="730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Regulated industries: banking, insurance, public</a:t>
            </a:r>
            <a:endParaRPr lang="en-US" sz="730" dirty="0"/>
          </a:p>
          <a:p>
            <a:pPr algn="l" indent="0" marL="0">
              <a:lnSpc>
                <a:spcPts val="1009"/>
              </a:lnSpc>
              <a:buNone/>
            </a:pPr>
            <a:r>
              <a:rPr lang="en-US" sz="730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sector · auditor access</a:t>
            </a:r>
            <a:endParaRPr lang="en-US" sz="730" dirty="0"/>
          </a:p>
        </p:txBody>
      </p:sp>
      <p:sp>
        <p:nvSpPr>
          <p:cNvPr id="55" name="Shape 52"/>
          <p:cNvSpPr/>
          <p:nvPr/>
        </p:nvSpPr>
        <p:spPr>
          <a:xfrm>
            <a:off x="6441765" y="2896046"/>
            <a:ext cx="2295525" cy="595313"/>
          </a:xfrm>
          <a:prstGeom prst="roundRect">
            <a:avLst>
              <a:gd name="adj" fmla="val 6144"/>
            </a:avLst>
          </a:prstGeom>
          <a:solidFill>
            <a:srgbClr val="12233F"/>
          </a:solidFill>
          <a:ln w="4763">
            <a:solidFill>
              <a:srgbClr val="24406B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6519937" y="3065562"/>
            <a:ext cx="2373935" cy="247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9"/>
              </a:lnSpc>
              <a:buNone/>
            </a:pPr>
            <a:r>
              <a:rPr lang="en-US" sz="730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Highest cost · premium pricing &amp; minimum</a:t>
            </a:r>
            <a:endParaRPr lang="en-US" sz="730" dirty="0"/>
          </a:p>
          <a:p>
            <a:pPr algn="l" indent="0" marL="0">
              <a:lnSpc>
                <a:spcPts val="1009"/>
              </a:lnSpc>
              <a:buNone/>
            </a:pPr>
            <a:r>
              <a:rPr lang="en-US" sz="730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commitments</a:t>
            </a:r>
            <a:endParaRPr lang="en-US" sz="730" dirty="0"/>
          </a:p>
        </p:txBody>
      </p:sp>
      <p:sp>
        <p:nvSpPr>
          <p:cNvPr id="57" name="Shape 54"/>
          <p:cNvSpPr/>
          <p:nvPr/>
        </p:nvSpPr>
        <p:spPr>
          <a:xfrm>
            <a:off x="6441765" y="3527747"/>
            <a:ext cx="2295525" cy="595313"/>
          </a:xfrm>
          <a:prstGeom prst="roundRect">
            <a:avLst>
              <a:gd name="adj" fmla="val 6144"/>
            </a:avLst>
          </a:prstGeom>
          <a:solidFill>
            <a:srgbClr val="12233F"/>
          </a:solidFill>
          <a:ln w="4763">
            <a:solidFill>
              <a:srgbClr val="24406B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6519937" y="3697263"/>
            <a:ext cx="2656508" cy="247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9"/>
              </a:lnSpc>
              <a:buNone/>
            </a:pPr>
            <a:r>
              <a:rPr lang="en-US" sz="730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Onboarding in weeks · upgrades scheduled with</a:t>
            </a:r>
            <a:endParaRPr lang="en-US" sz="730" dirty="0"/>
          </a:p>
          <a:p>
            <a:pPr algn="l" indent="0" marL="0">
              <a:lnSpc>
                <a:spcPts val="1009"/>
              </a:lnSpc>
              <a:buNone/>
            </a:pPr>
            <a:r>
              <a:rPr lang="en-US" sz="730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client</a:t>
            </a:r>
            <a:endParaRPr lang="en-US" sz="730" dirty="0"/>
          </a:p>
        </p:txBody>
      </p:sp>
      <p:sp>
        <p:nvSpPr>
          <p:cNvPr id="59" name="Shape 56"/>
          <p:cNvSpPr/>
          <p:nvPr/>
        </p:nvSpPr>
        <p:spPr>
          <a:xfrm>
            <a:off x="6441765" y="4159448"/>
            <a:ext cx="2295525" cy="595313"/>
          </a:xfrm>
          <a:prstGeom prst="roundRect">
            <a:avLst>
              <a:gd name="adj" fmla="val 6144"/>
            </a:avLst>
          </a:prstGeom>
          <a:solidFill>
            <a:srgbClr val="12233F"/>
          </a:solidFill>
          <a:ln w="4763">
            <a:solidFill>
              <a:srgbClr val="24406B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6519937" y="4328964"/>
            <a:ext cx="2226119" cy="247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9"/>
              </a:lnSpc>
              <a:buNone/>
            </a:pPr>
            <a:r>
              <a:rPr lang="en-US" sz="730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Best for: regulated clients where shared</a:t>
            </a:r>
            <a:endParaRPr lang="en-US" sz="730" dirty="0"/>
          </a:p>
          <a:p>
            <a:pPr algn="l" indent="0" marL="0">
              <a:lnSpc>
                <a:spcPts val="1009"/>
              </a:lnSpc>
              <a:buNone/>
            </a:pPr>
            <a:r>
              <a:rPr lang="en-US" sz="730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infrastructure is a non-starter</a:t>
            </a:r>
            <a:endParaRPr lang="en-US" sz="730" dirty="0"/>
          </a:p>
        </p:txBody>
      </p:sp>
      <p:sp>
        <p:nvSpPr>
          <p:cNvPr id="61" name="Text 58"/>
          <p:cNvSpPr/>
          <p:nvPr/>
        </p:nvSpPr>
        <p:spPr>
          <a:xfrm>
            <a:off x="4099828" y="4831110"/>
            <a:ext cx="4724192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spcBef>
                <a:spcPts val="243"/>
              </a:spcBef>
              <a:buNone/>
            </a:pPr>
            <a:r>
              <a:rPr lang="en-US" sz="72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Same codebase and release train in every tier — only the deployment boundary changes</a:t>
            </a:r>
            <a:endParaRPr lang="en-US" sz="72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52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-967" y="-484"/>
            <a:ext cx="8963025" cy="52388"/>
          </a:xfrm>
          <a:prstGeom prst="rect">
            <a:avLst/>
          </a:prstGeom>
          <a:solidFill>
            <a:srgbClr val="2F81F7"/>
          </a:solidFill>
          <a:ln/>
        </p:spPr>
      </p:sp>
      <p:sp>
        <p:nvSpPr>
          <p:cNvPr id="5" name="Text 2"/>
          <p:cNvSpPr/>
          <p:nvPr/>
        </p:nvSpPr>
        <p:spPr>
          <a:xfrm>
            <a:off x="319980" y="199058"/>
            <a:ext cx="6141311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80" b="1" spc="-40" kern="0" dirty="0">
                <a:solidFill>
                  <a:srgbClr val="E8F1F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SaaS or On-Prem? — Operated as SaaS in Every Tier</a:t>
            </a:r>
            <a:endParaRPr lang="en-US" sz="1580" dirty="0"/>
          </a:p>
        </p:txBody>
      </p:sp>
      <p:sp>
        <p:nvSpPr>
          <p:cNvPr id="6" name="Text 3"/>
          <p:cNvSpPr/>
          <p:nvPr/>
        </p:nvSpPr>
        <p:spPr>
          <a:xfrm>
            <a:off x="6294686" y="294308"/>
            <a:ext cx="3345284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real question is where the boundary of your data sits</a:t>
            </a:r>
            <a:endParaRPr lang="en-US" sz="790" dirty="0"/>
          </a:p>
        </p:txBody>
      </p:sp>
      <p:sp>
        <p:nvSpPr>
          <p:cNvPr id="7" name="Shape 4"/>
          <p:cNvSpPr/>
          <p:nvPr/>
        </p:nvSpPr>
        <p:spPr>
          <a:xfrm>
            <a:off x="320687" y="574365"/>
            <a:ext cx="4195762" cy="1552575"/>
          </a:xfrm>
          <a:prstGeom prst="roundRect">
            <a:avLst>
              <a:gd name="adj" fmla="val 3534"/>
            </a:avLst>
          </a:prstGeom>
          <a:solidFill>
            <a:srgbClr val="0E2440"/>
          </a:solidFill>
          <a:ln w="4763">
            <a:solidFill>
              <a:srgbClr val="2F5C9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34429" y="650230"/>
            <a:ext cx="3461951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0" b="1" dirty="0">
                <a:solidFill>
                  <a:srgbClr val="7AC9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Why the platform must be operated as SaaS</a:t>
            </a:r>
            <a:endParaRPr lang="en-US" sz="970" dirty="0"/>
          </a:p>
        </p:txBody>
      </p:sp>
      <p:sp>
        <p:nvSpPr>
          <p:cNvPr id="9" name="Text 6"/>
          <p:cNvSpPr/>
          <p:nvPr/>
        </p:nvSpPr>
        <p:spPr>
          <a:xfrm>
            <a:off x="434429" y="866924"/>
            <a:ext cx="5021081" cy="26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780" b="1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product improves weekly</a:t>
            </a:r>
            <a:pPr algn="l" indent="0" marL="0">
              <a:lnSpc>
                <a:spcPts val="1069"/>
              </a:lnSpc>
              <a:buNone/>
            </a:pPr>
            <a:r>
              <a:rPr lang="en-US" sz="78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</a:t>
            </a:r>
            <a:pPr algn="l" indent="0" marL="0">
              <a:lnSpc>
                <a:spcPts val="1069"/>
              </a:lnSpc>
              <a:buNone/>
            </a:pPr>
            <a:r>
              <a:rPr lang="en-US" sz="78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agent quality depends on continuous evals, prompt &amp;</a:t>
            </a:r>
            <a:endParaRPr lang="en-US" sz="780" dirty="0"/>
          </a:p>
          <a:p>
            <a:pPr algn="l" indent="0" marL="0">
              <a:lnSpc>
                <a:spcPts val="1069"/>
              </a:lnSpc>
              <a:buNone/>
            </a:pPr>
            <a:r>
              <a:rPr lang="en-US" sz="78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guardrail updates — a frozen on-prem install degrades from day one</a:t>
            </a:r>
            <a:endParaRPr lang="en-US" sz="780" dirty="0"/>
          </a:p>
        </p:txBody>
      </p:sp>
      <p:sp>
        <p:nvSpPr>
          <p:cNvPr id="10" name="Text 7"/>
          <p:cNvSpPr/>
          <p:nvPr/>
        </p:nvSpPr>
        <p:spPr>
          <a:xfrm>
            <a:off x="434429" y="1174328"/>
            <a:ext cx="4815416" cy="26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780" b="1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Frontier models don’t live on-prem</a:t>
            </a:r>
            <a:pPr algn="l" indent="0" marL="0">
              <a:lnSpc>
                <a:spcPts val="1069"/>
              </a:lnSpc>
              <a:buNone/>
            </a:pPr>
            <a:r>
              <a:rPr lang="en-US" sz="78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</a:t>
            </a:r>
            <a:pPr algn="l" indent="0" marL="0">
              <a:lnSpc>
                <a:spcPts val="1069"/>
              </a:lnSpc>
              <a:buNone/>
            </a:pPr>
            <a:r>
              <a:rPr lang="en-US" sz="78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deep reasoning needs top-tier Azure-served</a:t>
            </a:r>
            <a:endParaRPr lang="en-US" sz="780" dirty="0"/>
          </a:p>
          <a:p>
            <a:pPr algn="l" indent="0" marL="0">
              <a:lnSpc>
                <a:spcPts val="1069"/>
              </a:lnSpc>
              <a:buNone/>
            </a:pPr>
            <a:r>
              <a:rPr lang="en-US" sz="78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models; disconnected installs are limited to weaker local models</a:t>
            </a:r>
            <a:endParaRPr lang="en-US" sz="780" dirty="0"/>
          </a:p>
        </p:txBody>
      </p:sp>
      <p:sp>
        <p:nvSpPr>
          <p:cNvPr id="11" name="Text 8"/>
          <p:cNvSpPr/>
          <p:nvPr/>
        </p:nvSpPr>
        <p:spPr>
          <a:xfrm>
            <a:off x="434429" y="1481733"/>
            <a:ext cx="5046814" cy="26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780" b="1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Safety is a 24/7 operation</a:t>
            </a:r>
            <a:pPr algn="l" indent="0" marL="0">
              <a:lnSpc>
                <a:spcPts val="1069"/>
              </a:lnSpc>
              <a:buNone/>
            </a:pPr>
            <a:r>
              <a:rPr lang="en-US" sz="78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</a:t>
            </a:r>
            <a:pPr algn="l" indent="0" marL="0">
              <a:lnSpc>
                <a:spcPts val="1069"/>
              </a:lnSpc>
              <a:buNone/>
            </a:pPr>
            <a:r>
              <a:rPr lang="en-US" sz="78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red teaming, jailbreak patching and incident response are</a:t>
            </a:r>
            <a:endParaRPr lang="en-US" sz="780" dirty="0"/>
          </a:p>
          <a:p>
            <a:pPr algn="l" indent="0" marL="0">
              <a:lnSpc>
                <a:spcPts val="1069"/>
              </a:lnSpc>
              <a:buNone/>
            </a:pPr>
            <a:r>
              <a:rPr lang="en-US" sz="78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provider duties — not a client IT workload</a:t>
            </a:r>
            <a:endParaRPr lang="en-US" sz="780" dirty="0"/>
          </a:p>
        </p:txBody>
      </p:sp>
      <p:sp>
        <p:nvSpPr>
          <p:cNvPr id="12" name="Text 9"/>
          <p:cNvSpPr/>
          <p:nvPr/>
        </p:nvSpPr>
        <p:spPr>
          <a:xfrm>
            <a:off x="434429" y="1789137"/>
            <a:ext cx="5130396" cy="26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780" b="1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Economics only work pooled</a:t>
            </a:r>
            <a:pPr algn="l" indent="0" marL="0">
              <a:lnSpc>
                <a:spcPts val="1069"/>
              </a:lnSpc>
              <a:buNone/>
            </a:pPr>
            <a:r>
              <a:rPr lang="en-US" sz="78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</a:t>
            </a:r>
            <a:pPr algn="l" indent="0" marL="0">
              <a:lnSpc>
                <a:spcPts val="1069"/>
              </a:lnSpc>
              <a:buNone/>
            </a:pPr>
            <a:r>
              <a:rPr lang="en-US" sz="78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shared model pool, gateway and runtime are what make</a:t>
            </a:r>
            <a:endParaRPr lang="en-US" sz="780" dirty="0"/>
          </a:p>
          <a:p>
            <a:pPr algn="l" indent="0" marL="0">
              <a:lnSpc>
                <a:spcPts val="1069"/>
              </a:lnSpc>
              <a:buNone/>
            </a:pPr>
            <a:r>
              <a:rPr lang="en-US" sz="78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per-employee pricing viable</a:t>
            </a:r>
            <a:endParaRPr lang="en-US" sz="780" dirty="0"/>
          </a:p>
        </p:txBody>
      </p:sp>
      <p:sp>
        <p:nvSpPr>
          <p:cNvPr id="13" name="Shape 10"/>
          <p:cNvSpPr/>
          <p:nvPr/>
        </p:nvSpPr>
        <p:spPr>
          <a:xfrm>
            <a:off x="4627550" y="574365"/>
            <a:ext cx="4195762" cy="1552575"/>
          </a:xfrm>
          <a:prstGeom prst="roundRect">
            <a:avLst>
              <a:gd name="adj" fmla="val 3534"/>
            </a:avLst>
          </a:prstGeom>
          <a:solidFill>
            <a:srgbClr val="111F38"/>
          </a:solidFill>
          <a:ln w="4763">
            <a:solidFill>
              <a:srgbClr val="24406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741292" y="650230"/>
            <a:ext cx="456467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0" b="1" dirty="0">
                <a:solidFill>
                  <a:srgbClr val="D9B36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What “we need on-prem” usually means — and the answer</a:t>
            </a:r>
            <a:endParaRPr lang="en-US" sz="970" dirty="0"/>
          </a:p>
        </p:txBody>
      </p:sp>
      <p:sp>
        <p:nvSpPr>
          <p:cNvPr id="15" name="Text 12"/>
          <p:cNvSpPr/>
          <p:nvPr/>
        </p:nvSpPr>
        <p:spPr>
          <a:xfrm>
            <a:off x="4741292" y="866924"/>
            <a:ext cx="4633354" cy="26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780" b="1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“Our data can’t leave”</a:t>
            </a:r>
            <a:pPr algn="l" indent="0" marL="0">
              <a:lnSpc>
                <a:spcPts val="1069"/>
              </a:lnSpc>
              <a:buNone/>
            </a:pPr>
            <a:r>
              <a:rPr lang="en-US" sz="78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</a:t>
            </a:r>
            <a:pPr algn="l" indent="0" marL="0">
              <a:lnSpc>
                <a:spcPts val="1069"/>
              </a:lnSpc>
              <a:buNone/>
            </a:pPr>
            <a:r>
              <a:rPr lang="en-US" sz="78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Tier 2/3: data pinned to your region or your own Azure</a:t>
            </a:r>
            <a:endParaRPr lang="en-US" sz="780" dirty="0"/>
          </a:p>
          <a:p>
            <a:pPr algn="l" indent="0" marL="0">
              <a:lnSpc>
                <a:spcPts val="1069"/>
              </a:lnSpc>
              <a:buNone/>
            </a:pPr>
            <a:r>
              <a:rPr lang="en-US" sz="78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subscription — provider never holds it pooled</a:t>
            </a:r>
            <a:endParaRPr lang="en-US" sz="780" dirty="0"/>
          </a:p>
        </p:txBody>
      </p:sp>
      <p:sp>
        <p:nvSpPr>
          <p:cNvPr id="16" name="Text 13"/>
          <p:cNvSpPr/>
          <p:nvPr/>
        </p:nvSpPr>
        <p:spPr>
          <a:xfrm>
            <a:off x="4741292" y="1174328"/>
            <a:ext cx="4953945" cy="26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780" b="1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“We control the keys”</a:t>
            </a:r>
            <a:pPr algn="l" indent="0" marL="0">
              <a:lnSpc>
                <a:spcPts val="1069"/>
              </a:lnSpc>
              <a:buNone/>
            </a:pPr>
            <a:r>
              <a:rPr lang="en-US" sz="78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</a:t>
            </a:r>
            <a:pPr algn="l" indent="0" marL="0">
              <a:lnSpc>
                <a:spcPts val="1069"/>
              </a:lnSpc>
              <a:buNone/>
            </a:pPr>
            <a:r>
              <a:rPr lang="en-US" sz="78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BYOK / client-managed keys in every dedicated tier · private</a:t>
            </a:r>
            <a:endParaRPr lang="en-US" sz="780" dirty="0"/>
          </a:p>
          <a:p>
            <a:pPr algn="l" indent="0" marL="0">
              <a:lnSpc>
                <a:spcPts val="1069"/>
              </a:lnSpc>
              <a:buNone/>
            </a:pPr>
            <a:r>
              <a:rPr lang="en-US" sz="78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endpoints, no public network path</a:t>
            </a:r>
            <a:endParaRPr lang="en-US" sz="780" dirty="0"/>
          </a:p>
        </p:txBody>
      </p:sp>
      <p:sp>
        <p:nvSpPr>
          <p:cNvPr id="17" name="Text 14"/>
          <p:cNvSpPr/>
          <p:nvPr/>
        </p:nvSpPr>
        <p:spPr>
          <a:xfrm>
            <a:off x="4741292" y="1481733"/>
            <a:ext cx="5075448" cy="26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780" b="1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“Auditors must inspect it”</a:t>
            </a:r>
            <a:pPr algn="l" indent="0" marL="0">
              <a:lnSpc>
                <a:spcPts val="1069"/>
              </a:lnSpc>
              <a:buNone/>
            </a:pPr>
            <a:r>
              <a:rPr lang="en-US" sz="78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</a:t>
            </a:r>
            <a:pPr algn="l" indent="0" marL="0">
              <a:lnSpc>
                <a:spcPts val="1069"/>
              </a:lnSpc>
              <a:buNone/>
            </a:pPr>
            <a:r>
              <a:rPr lang="en-US" sz="78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dedicated tier grants auditor access, full audit trail, model</a:t>
            </a:r>
            <a:endParaRPr lang="en-US" sz="780" dirty="0"/>
          </a:p>
          <a:p>
            <a:pPr algn="l" indent="0" marL="0">
              <a:lnSpc>
                <a:spcPts val="1069"/>
              </a:lnSpc>
              <a:buNone/>
            </a:pPr>
            <a:r>
              <a:rPr lang="en-US" sz="78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cards &amp; explainability reports</a:t>
            </a:r>
            <a:endParaRPr lang="en-US" sz="780" dirty="0"/>
          </a:p>
        </p:txBody>
      </p:sp>
      <p:sp>
        <p:nvSpPr>
          <p:cNvPr id="18" name="Text 15"/>
          <p:cNvSpPr/>
          <p:nvPr/>
        </p:nvSpPr>
        <p:spPr>
          <a:xfrm>
            <a:off x="4741292" y="1789137"/>
            <a:ext cx="4677564" cy="26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780" b="1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“No shared infrastructure”</a:t>
            </a:r>
            <a:pPr algn="l" indent="0" marL="0">
              <a:lnSpc>
                <a:spcPts val="1069"/>
              </a:lnSpc>
              <a:buNone/>
            </a:pPr>
            <a:r>
              <a:rPr lang="en-US" sz="78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</a:t>
            </a:r>
            <a:pPr algn="l" indent="0" marL="0">
              <a:lnSpc>
                <a:spcPts val="1069"/>
              </a:lnSpc>
              <a:buNone/>
            </a:pPr>
            <a:r>
              <a:rPr lang="en-US" sz="78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Tier 3 deploys the entire stack into a client-owned</a:t>
            </a:r>
            <a:endParaRPr lang="en-US" sz="780" dirty="0"/>
          </a:p>
          <a:p>
            <a:pPr algn="l" indent="0" marL="0">
              <a:lnSpc>
                <a:spcPts val="1069"/>
              </a:lnSpc>
              <a:buNone/>
            </a:pPr>
            <a:r>
              <a:rPr lang="en-US" sz="78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subscription — private SaaS, still provider-operated</a:t>
            </a:r>
            <a:endParaRPr lang="en-US" sz="780" dirty="0"/>
          </a:p>
        </p:txBody>
      </p:sp>
      <p:sp>
        <p:nvSpPr>
          <p:cNvPr id="19" name="Shape 16"/>
          <p:cNvSpPr/>
          <p:nvPr/>
        </p:nvSpPr>
        <p:spPr>
          <a:xfrm>
            <a:off x="319088" y="2188183"/>
            <a:ext cx="8505825" cy="2590800"/>
          </a:xfrm>
          <a:prstGeom prst="roundRect">
            <a:avLst>
              <a:gd name="adj" fmla="val 2118"/>
            </a:avLst>
          </a:prstGeom>
          <a:solidFill>
            <a:srgbClr val="0F2A47"/>
          </a:solidFill>
          <a:ln w="4763">
            <a:solidFill>
              <a:srgbClr val="2F5C9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34429" y="2254448"/>
            <a:ext cx="3140296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0" b="1" dirty="0">
                <a:solidFill>
                  <a:srgbClr val="7AC9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legitimate hybrid — split data plane</a:t>
            </a:r>
            <a:endParaRPr lang="en-US" sz="970" dirty="0"/>
          </a:p>
        </p:txBody>
      </p:sp>
      <p:sp>
        <p:nvSpPr>
          <p:cNvPr id="21" name="Text 18"/>
          <p:cNvSpPr/>
          <p:nvPr/>
        </p:nvSpPr>
        <p:spPr>
          <a:xfrm>
            <a:off x="6439644" y="2270224"/>
            <a:ext cx="300805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6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defuses data sovereignty without forking the product</a:t>
            </a:r>
            <a:endParaRPr lang="en-US" sz="760" dirty="0"/>
          </a:p>
        </p:txBody>
      </p:sp>
      <p:sp>
        <p:nvSpPr>
          <p:cNvPr id="22" name="Shape 19"/>
          <p:cNvSpPr/>
          <p:nvPr/>
        </p:nvSpPr>
        <p:spPr>
          <a:xfrm>
            <a:off x="434094" y="2470361"/>
            <a:ext cx="3390900" cy="2252663"/>
          </a:xfrm>
          <a:prstGeom prst="roundRect">
            <a:avLst>
              <a:gd name="adj" fmla="val 2030"/>
            </a:avLst>
          </a:prstGeom>
          <a:solidFill>
            <a:srgbClr val="12233F"/>
          </a:solidFill>
          <a:ln w="4763">
            <a:solidFill>
              <a:srgbClr val="8FD6A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30572" y="3395439"/>
            <a:ext cx="1308363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8FD6A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Client environment</a:t>
            </a:r>
            <a:endParaRPr lang="en-US" sz="830" dirty="0"/>
          </a:p>
        </p:txBody>
      </p:sp>
      <p:sp>
        <p:nvSpPr>
          <p:cNvPr id="24" name="Text 21"/>
          <p:cNvSpPr/>
          <p:nvPr/>
        </p:nvSpPr>
        <p:spPr>
          <a:xfrm>
            <a:off x="530572" y="3543598"/>
            <a:ext cx="4118900" cy="260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39"/>
              </a:lnSpc>
              <a:buNone/>
            </a:pPr>
            <a:r>
              <a:rPr lang="en-US" sz="760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HR data, case files, memory, policy library, HCM connectors — everything</a:t>
            </a:r>
            <a:endParaRPr lang="en-US" sz="760" dirty="0"/>
          </a:p>
          <a:p>
            <a:pPr algn="l" indent="0" marL="0">
              <a:lnSpc>
                <a:spcPts val="1039"/>
              </a:lnSpc>
              <a:buNone/>
            </a:pPr>
            <a:r>
              <a:rPr lang="en-US" sz="760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stateful stays inside the client boundary</a:t>
            </a:r>
            <a:endParaRPr lang="en-US" sz="760" dirty="0"/>
          </a:p>
        </p:txBody>
      </p:sp>
      <p:sp>
        <p:nvSpPr>
          <p:cNvPr id="25" name="Text 22"/>
          <p:cNvSpPr/>
          <p:nvPr/>
        </p:nvSpPr>
        <p:spPr>
          <a:xfrm>
            <a:off x="3666965" y="3464347"/>
            <a:ext cx="1810144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60" dirty="0">
                <a:solidFill>
                  <a:srgbClr val="7AC9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PII redacted at the boundary →</a:t>
            </a:r>
            <a:endParaRPr lang="en-US" sz="760" dirty="0"/>
          </a:p>
        </p:txBody>
      </p:sp>
      <p:sp>
        <p:nvSpPr>
          <p:cNvPr id="26" name="Text 23"/>
          <p:cNvSpPr/>
          <p:nvPr/>
        </p:nvSpPr>
        <p:spPr>
          <a:xfrm>
            <a:off x="4151430" y="3608338"/>
            <a:ext cx="841214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← answers only</a:t>
            </a:r>
            <a:endParaRPr lang="en-US" sz="680" dirty="0"/>
          </a:p>
        </p:txBody>
      </p:sp>
      <p:sp>
        <p:nvSpPr>
          <p:cNvPr id="27" name="Shape 24"/>
          <p:cNvSpPr/>
          <p:nvPr/>
        </p:nvSpPr>
        <p:spPr>
          <a:xfrm>
            <a:off x="5319080" y="2470361"/>
            <a:ext cx="3390900" cy="2252663"/>
          </a:xfrm>
          <a:prstGeom prst="roundRect">
            <a:avLst>
              <a:gd name="adj" fmla="val 2030"/>
            </a:avLst>
          </a:prstGeom>
          <a:solidFill>
            <a:srgbClr val="12233F"/>
          </a:solidFill>
          <a:ln w="4763">
            <a:solidFill>
              <a:srgbClr val="7AC9F5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415558" y="3395439"/>
            <a:ext cx="1367760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7AC9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Provider model pool</a:t>
            </a:r>
            <a:endParaRPr lang="en-US" sz="830" dirty="0"/>
          </a:p>
        </p:txBody>
      </p:sp>
      <p:sp>
        <p:nvSpPr>
          <p:cNvPr id="29" name="Text 26"/>
          <p:cNvSpPr/>
          <p:nvPr/>
        </p:nvSpPr>
        <p:spPr>
          <a:xfrm>
            <a:off x="5415558" y="3543598"/>
            <a:ext cx="4016841" cy="260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39"/>
              </a:lnSpc>
              <a:buNone/>
            </a:pPr>
            <a:r>
              <a:rPr lang="en-US" sz="760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stateless reasoning calls only — no retention, no training on client data,</a:t>
            </a:r>
            <a:endParaRPr lang="en-US" sz="760" dirty="0"/>
          </a:p>
          <a:p>
            <a:pPr algn="l" indent="0" marL="0">
              <a:lnSpc>
                <a:spcPts val="1039"/>
              </a:lnSpc>
              <a:buNone/>
            </a:pPr>
            <a:r>
              <a:rPr lang="en-US" sz="760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frontier models always current</a:t>
            </a:r>
            <a:endParaRPr lang="en-US" sz="760" dirty="0"/>
          </a:p>
        </p:txBody>
      </p:sp>
      <p:sp>
        <p:nvSpPr>
          <p:cNvPr id="30" name="Text 27"/>
          <p:cNvSpPr/>
          <p:nvPr/>
        </p:nvSpPr>
        <p:spPr>
          <a:xfrm>
            <a:off x="992885" y="4824264"/>
            <a:ext cx="783113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spcBef>
                <a:spcPts val="324"/>
              </a:spcBef>
              <a:buNone/>
            </a:pPr>
            <a:r>
              <a:rPr lang="en-US" sz="76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Position: </a:t>
            </a:r>
            <a:pPr algn="r" indent="0" marL="0">
              <a:buNone/>
            </a:pPr>
            <a:r>
              <a:rPr lang="en-US" sz="760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SaaS-first · “private SaaS in your cloud” for regulated clients · classic disconnected on-prem is a worse product, not a cheaper one</a:t>
            </a:r>
            <a:endParaRPr lang="en-US" sz="76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52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-484" y="-484"/>
            <a:ext cx="9053513" cy="52388"/>
          </a:xfrm>
          <a:prstGeom prst="rect">
            <a:avLst/>
          </a:prstGeom>
          <a:solidFill>
            <a:srgbClr val="2F81F7"/>
          </a:solidFill>
          <a:ln/>
        </p:spPr>
      </p:sp>
      <p:sp>
        <p:nvSpPr>
          <p:cNvPr id="5" name="Text 2"/>
          <p:cNvSpPr/>
          <p:nvPr/>
        </p:nvSpPr>
        <p:spPr>
          <a:xfrm>
            <a:off x="274290" y="183579"/>
            <a:ext cx="6115482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80" b="1" spc="-40" kern="0" dirty="0">
                <a:solidFill>
                  <a:srgbClr val="E8F1F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Hardware, Software &amp; Infrastructure Requirements</a:t>
            </a:r>
            <a:endParaRPr lang="en-US" sz="1580" dirty="0"/>
          </a:p>
        </p:txBody>
      </p:sp>
      <p:sp>
        <p:nvSpPr>
          <p:cNvPr id="6" name="Text 3"/>
          <p:cNvSpPr/>
          <p:nvPr/>
        </p:nvSpPr>
        <p:spPr>
          <a:xfrm>
            <a:off x="5482530" y="278829"/>
            <a:ext cx="4460483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everything runs on Azure — clients bring identity, channels &amp; system access</a:t>
            </a:r>
            <a:endParaRPr lang="en-US" sz="790" dirty="0"/>
          </a:p>
        </p:txBody>
      </p:sp>
      <p:sp>
        <p:nvSpPr>
          <p:cNvPr id="7" name="Shape 4"/>
          <p:cNvSpPr/>
          <p:nvPr/>
        </p:nvSpPr>
        <p:spPr>
          <a:xfrm>
            <a:off x="274886" y="549139"/>
            <a:ext cx="2085975" cy="4429125"/>
          </a:xfrm>
          <a:prstGeom prst="roundRect">
            <a:avLst>
              <a:gd name="adj" fmla="val 2630"/>
            </a:avLst>
          </a:prstGeom>
          <a:solidFill>
            <a:srgbClr val="0D1E36"/>
          </a:solidFill>
          <a:ln w="4763">
            <a:solidFill>
              <a:srgbClr val="7AC9F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1280" y="609005"/>
            <a:ext cx="1485684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7AC9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Hardware &amp; Capacity</a:t>
            </a:r>
            <a:endParaRPr lang="en-US" sz="860" dirty="0"/>
          </a:p>
        </p:txBody>
      </p:sp>
      <p:sp>
        <p:nvSpPr>
          <p:cNvPr id="9" name="Shape 6"/>
          <p:cNvSpPr/>
          <p:nvPr/>
        </p:nvSpPr>
        <p:spPr>
          <a:xfrm>
            <a:off x="360611" y="795821"/>
            <a:ext cx="1914525" cy="800100"/>
          </a:xfrm>
          <a:prstGeom prst="roundRect">
            <a:avLst>
              <a:gd name="adj" fmla="val 4571"/>
            </a:avLst>
          </a:prstGeom>
          <a:solidFill>
            <a:srgbClr val="12233F"/>
          </a:solidFill>
          <a:ln w="4763">
            <a:solidFill>
              <a:srgbClr val="24406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30039" y="1012701"/>
            <a:ext cx="1873411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E8F1F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 client hardware in SaaS tiers</a:t>
            </a:r>
            <a:endParaRPr lang="en-US" sz="720" dirty="0"/>
          </a:p>
        </p:txBody>
      </p:sp>
      <p:sp>
        <p:nvSpPr>
          <p:cNvPr id="11" name="Text 8"/>
          <p:cNvSpPr/>
          <p:nvPr/>
        </p:nvSpPr>
        <p:spPr>
          <a:xfrm>
            <a:off x="430039" y="1145084"/>
            <a:ext cx="2317246" cy="233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0"/>
              </a:lnSpc>
              <a:buNone/>
            </a:pPr>
            <a:r>
              <a:rPr lang="en-US" sz="68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all compute is cloud-hosted; employees only</a:t>
            </a:r>
            <a:endParaRPr lang="en-US" sz="680" dirty="0"/>
          </a:p>
          <a:p>
            <a:pPr algn="l" indent="0" marL="0">
              <a:lnSpc>
                <a:spcPts val="940"/>
              </a:lnSpc>
              <a:buNone/>
            </a:pPr>
            <a:r>
              <a:rPr lang="en-US" sz="68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need a browser or Teams</a:t>
            </a:r>
            <a:endParaRPr lang="en-US" sz="680" dirty="0"/>
          </a:p>
        </p:txBody>
      </p:sp>
      <p:sp>
        <p:nvSpPr>
          <p:cNvPr id="12" name="Shape 9"/>
          <p:cNvSpPr/>
          <p:nvPr/>
        </p:nvSpPr>
        <p:spPr>
          <a:xfrm>
            <a:off x="360611" y="1628589"/>
            <a:ext cx="1914525" cy="800100"/>
          </a:xfrm>
          <a:prstGeom prst="roundRect">
            <a:avLst>
              <a:gd name="adj" fmla="val 4571"/>
            </a:avLst>
          </a:prstGeom>
          <a:solidFill>
            <a:srgbClr val="12233F"/>
          </a:solidFill>
          <a:ln w="4763">
            <a:solidFill>
              <a:srgbClr val="24406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30039" y="1785789"/>
            <a:ext cx="950915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E8F1F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Model capacity</a:t>
            </a:r>
            <a:endParaRPr lang="en-US" sz="720" dirty="0"/>
          </a:p>
        </p:txBody>
      </p:sp>
      <p:sp>
        <p:nvSpPr>
          <p:cNvPr id="14" name="Text 11"/>
          <p:cNvSpPr/>
          <p:nvPr/>
        </p:nvSpPr>
        <p:spPr>
          <a:xfrm>
            <a:off x="430039" y="1918171"/>
            <a:ext cx="2312893" cy="353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0"/>
              </a:lnSpc>
              <a:buNone/>
            </a:pPr>
            <a:r>
              <a:rPr lang="en-US" sz="68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Azure OpenAI provisioned throughput (PTU)</a:t>
            </a:r>
            <a:endParaRPr lang="en-US" sz="680" dirty="0"/>
          </a:p>
          <a:p>
            <a:pPr algn="l" indent="0" marL="0">
              <a:lnSpc>
                <a:spcPts val="940"/>
              </a:lnSpc>
              <a:buNone/>
            </a:pPr>
            <a:r>
              <a:rPr lang="en-US" sz="68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for predictable latency · pay-as-you-go burst</a:t>
            </a:r>
            <a:endParaRPr lang="en-US" sz="680" dirty="0"/>
          </a:p>
          <a:p>
            <a:pPr algn="l" indent="0" marL="0">
              <a:lnSpc>
                <a:spcPts val="940"/>
              </a:lnSpc>
              <a:buNone/>
            </a:pPr>
            <a:r>
              <a:rPr lang="en-US" sz="68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for peaks</a:t>
            </a:r>
            <a:endParaRPr lang="en-US" sz="680" dirty="0"/>
          </a:p>
        </p:txBody>
      </p:sp>
      <p:sp>
        <p:nvSpPr>
          <p:cNvPr id="15" name="Shape 12"/>
          <p:cNvSpPr/>
          <p:nvPr/>
        </p:nvSpPr>
        <p:spPr>
          <a:xfrm>
            <a:off x="360611" y="2461357"/>
            <a:ext cx="1914525" cy="800100"/>
          </a:xfrm>
          <a:prstGeom prst="roundRect">
            <a:avLst>
              <a:gd name="adj" fmla="val 4571"/>
            </a:avLst>
          </a:prstGeom>
          <a:solidFill>
            <a:srgbClr val="12233F"/>
          </a:solidFill>
          <a:ln w="4763">
            <a:solidFill>
              <a:srgbClr val="24406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30039" y="2618556"/>
            <a:ext cx="827574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E8F1F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App compute</a:t>
            </a:r>
            <a:endParaRPr lang="en-US" sz="720" dirty="0"/>
          </a:p>
        </p:txBody>
      </p:sp>
      <p:sp>
        <p:nvSpPr>
          <p:cNvPr id="17" name="Text 14"/>
          <p:cNvSpPr/>
          <p:nvPr/>
        </p:nvSpPr>
        <p:spPr>
          <a:xfrm>
            <a:off x="430039" y="2750939"/>
            <a:ext cx="2335530" cy="353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0"/>
              </a:lnSpc>
              <a:buNone/>
            </a:pPr>
            <a:r>
              <a:rPr lang="en-US" sz="68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AKS / Container Apps — autoscaling agent</a:t>
            </a:r>
            <a:endParaRPr lang="en-US" sz="680" dirty="0"/>
          </a:p>
          <a:p>
            <a:pPr algn="l" indent="0" marL="0">
              <a:lnSpc>
                <a:spcPts val="940"/>
              </a:lnSpc>
              <a:buNone/>
            </a:pPr>
            <a:r>
              <a:rPr lang="en-US" sz="68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runtime, ~2–4 vCPU per 1k active employees</a:t>
            </a:r>
            <a:endParaRPr lang="en-US" sz="680" dirty="0"/>
          </a:p>
          <a:p>
            <a:pPr algn="l" indent="0" marL="0">
              <a:lnSpc>
                <a:spcPts val="940"/>
              </a:lnSpc>
              <a:buNone/>
            </a:pPr>
            <a:r>
              <a:rPr lang="en-US" sz="68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as a starting point</a:t>
            </a:r>
            <a:endParaRPr lang="en-US" sz="680" dirty="0"/>
          </a:p>
        </p:txBody>
      </p:sp>
      <p:sp>
        <p:nvSpPr>
          <p:cNvPr id="18" name="Shape 15"/>
          <p:cNvSpPr/>
          <p:nvPr/>
        </p:nvSpPr>
        <p:spPr>
          <a:xfrm>
            <a:off x="360611" y="3294125"/>
            <a:ext cx="1914525" cy="800100"/>
          </a:xfrm>
          <a:prstGeom prst="roundRect">
            <a:avLst>
              <a:gd name="adj" fmla="val 4571"/>
            </a:avLst>
          </a:prstGeom>
          <a:solidFill>
            <a:srgbClr val="12233F"/>
          </a:solidFill>
          <a:ln w="4763">
            <a:solidFill>
              <a:srgbClr val="24406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30039" y="3511004"/>
            <a:ext cx="287387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E8F1F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GPU</a:t>
            </a:r>
            <a:endParaRPr lang="en-US" sz="720" dirty="0"/>
          </a:p>
        </p:txBody>
      </p:sp>
      <p:sp>
        <p:nvSpPr>
          <p:cNvPr id="20" name="Text 17"/>
          <p:cNvSpPr/>
          <p:nvPr/>
        </p:nvSpPr>
        <p:spPr>
          <a:xfrm>
            <a:off x="430039" y="3643387"/>
            <a:ext cx="2071144" cy="233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0"/>
              </a:lnSpc>
              <a:buNone/>
            </a:pPr>
            <a:r>
              <a:rPr lang="en-US" sz="68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none owned — GPU is consumed via the</a:t>
            </a:r>
            <a:endParaRPr lang="en-US" sz="680" dirty="0"/>
          </a:p>
          <a:p>
            <a:pPr algn="l" indent="0" marL="0">
              <a:lnSpc>
                <a:spcPts val="940"/>
              </a:lnSpc>
              <a:buNone/>
            </a:pPr>
            <a:r>
              <a:rPr lang="en-US" sz="68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model services, never managed directly</a:t>
            </a:r>
            <a:endParaRPr lang="en-US" sz="680" dirty="0"/>
          </a:p>
        </p:txBody>
      </p:sp>
      <p:sp>
        <p:nvSpPr>
          <p:cNvPr id="21" name="Shape 18"/>
          <p:cNvSpPr/>
          <p:nvPr/>
        </p:nvSpPr>
        <p:spPr>
          <a:xfrm>
            <a:off x="360611" y="4126892"/>
            <a:ext cx="1914525" cy="800100"/>
          </a:xfrm>
          <a:prstGeom prst="roundRect">
            <a:avLst>
              <a:gd name="adj" fmla="val 4571"/>
            </a:avLst>
          </a:prstGeom>
          <a:solidFill>
            <a:srgbClr val="12233F"/>
          </a:solidFill>
          <a:ln w="4763">
            <a:solidFill>
              <a:srgbClr val="24406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30039" y="4343772"/>
            <a:ext cx="1240259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E8F1F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Dedicated tier sizing</a:t>
            </a:r>
            <a:endParaRPr lang="en-US" sz="720" dirty="0"/>
          </a:p>
        </p:txBody>
      </p:sp>
      <p:sp>
        <p:nvSpPr>
          <p:cNvPr id="23" name="Text 20"/>
          <p:cNvSpPr/>
          <p:nvPr/>
        </p:nvSpPr>
        <p:spPr>
          <a:xfrm>
            <a:off x="430039" y="4476155"/>
            <a:ext cx="1986692" cy="233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0"/>
              </a:lnSpc>
              <a:buNone/>
            </a:pPr>
            <a:r>
              <a:rPr lang="en-US" sz="68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sized per client: employee count, case</a:t>
            </a:r>
            <a:endParaRPr lang="en-US" sz="680" dirty="0"/>
          </a:p>
          <a:p>
            <a:pPr algn="l" indent="0" marL="0">
              <a:lnSpc>
                <a:spcPts val="940"/>
              </a:lnSpc>
              <a:buNone/>
            </a:pPr>
            <a:r>
              <a:rPr lang="en-US" sz="68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volume, document OCR load</a:t>
            </a:r>
            <a:endParaRPr lang="en-US" sz="680" dirty="0"/>
          </a:p>
        </p:txBody>
      </p:sp>
      <p:sp>
        <p:nvSpPr>
          <p:cNvPr id="24" name="Shape 21"/>
          <p:cNvSpPr/>
          <p:nvPr/>
        </p:nvSpPr>
        <p:spPr>
          <a:xfrm>
            <a:off x="2444279" y="549139"/>
            <a:ext cx="2085975" cy="4429125"/>
          </a:xfrm>
          <a:prstGeom prst="roundRect">
            <a:avLst>
              <a:gd name="adj" fmla="val 2630"/>
            </a:avLst>
          </a:prstGeom>
          <a:solidFill>
            <a:srgbClr val="0D1E36"/>
          </a:solidFill>
          <a:ln w="4763">
            <a:solidFill>
              <a:srgbClr val="8FD6A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530673" y="609005"/>
            <a:ext cx="1117402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8FD6A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Software Stack</a:t>
            </a:r>
            <a:endParaRPr lang="en-US" sz="860" dirty="0"/>
          </a:p>
        </p:txBody>
      </p:sp>
      <p:sp>
        <p:nvSpPr>
          <p:cNvPr id="26" name="Shape 23"/>
          <p:cNvSpPr/>
          <p:nvPr/>
        </p:nvSpPr>
        <p:spPr>
          <a:xfrm>
            <a:off x="2530004" y="795821"/>
            <a:ext cx="1914525" cy="800100"/>
          </a:xfrm>
          <a:prstGeom prst="roundRect">
            <a:avLst>
              <a:gd name="adj" fmla="val 4571"/>
            </a:avLst>
          </a:prstGeom>
          <a:solidFill>
            <a:srgbClr val="12233F"/>
          </a:solidFill>
          <a:ln w="4763">
            <a:solidFill>
              <a:srgbClr val="24406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2599432" y="953021"/>
            <a:ext cx="688271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E8F1F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AI platform</a:t>
            </a:r>
            <a:endParaRPr lang="en-US" sz="720" dirty="0"/>
          </a:p>
        </p:txBody>
      </p:sp>
      <p:sp>
        <p:nvSpPr>
          <p:cNvPr id="28" name="Text 25"/>
          <p:cNvSpPr/>
          <p:nvPr/>
        </p:nvSpPr>
        <p:spPr>
          <a:xfrm>
            <a:off x="2599432" y="1085404"/>
            <a:ext cx="2219251" cy="353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0"/>
              </a:lnSpc>
              <a:buNone/>
            </a:pPr>
            <a:r>
              <a:rPr lang="en-US" sz="68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Azure AI Foundry (agents, evals) · Azure</a:t>
            </a:r>
            <a:endParaRPr lang="en-US" sz="680" dirty="0"/>
          </a:p>
          <a:p>
            <a:pPr algn="l" indent="0" marL="0">
              <a:lnSpc>
                <a:spcPts val="940"/>
              </a:lnSpc>
              <a:buNone/>
            </a:pPr>
            <a:r>
              <a:rPr lang="en-US" sz="68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OpenAI · Document Intelligence · Speech ·</a:t>
            </a:r>
            <a:endParaRPr lang="en-US" sz="680" dirty="0"/>
          </a:p>
          <a:p>
            <a:pPr algn="l" indent="0" marL="0">
              <a:lnSpc>
                <a:spcPts val="940"/>
              </a:lnSpc>
              <a:buNone/>
            </a:pPr>
            <a:r>
              <a:rPr lang="en-US" sz="68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Content Safety</a:t>
            </a:r>
            <a:endParaRPr lang="en-US" sz="680" dirty="0"/>
          </a:p>
        </p:txBody>
      </p:sp>
      <p:sp>
        <p:nvSpPr>
          <p:cNvPr id="29" name="Shape 26"/>
          <p:cNvSpPr/>
          <p:nvPr/>
        </p:nvSpPr>
        <p:spPr>
          <a:xfrm>
            <a:off x="2530004" y="1628589"/>
            <a:ext cx="1914525" cy="800100"/>
          </a:xfrm>
          <a:prstGeom prst="roundRect">
            <a:avLst>
              <a:gd name="adj" fmla="val 4571"/>
            </a:avLst>
          </a:prstGeom>
          <a:solidFill>
            <a:srgbClr val="12233F"/>
          </a:solidFill>
          <a:ln w="4763">
            <a:solidFill>
              <a:srgbClr val="24406B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599432" y="1845469"/>
            <a:ext cx="1449117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E8F1F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Runtime &amp; orchestration</a:t>
            </a:r>
            <a:endParaRPr lang="en-US" sz="720" dirty="0"/>
          </a:p>
        </p:txBody>
      </p:sp>
      <p:sp>
        <p:nvSpPr>
          <p:cNvPr id="31" name="Text 28"/>
          <p:cNvSpPr/>
          <p:nvPr/>
        </p:nvSpPr>
        <p:spPr>
          <a:xfrm>
            <a:off x="2599432" y="1977851"/>
            <a:ext cx="2329532" cy="233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0"/>
              </a:lnSpc>
              <a:buNone/>
            </a:pPr>
            <a:r>
              <a:rPr lang="en-US" sz="68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Semantic Kernel / Foundry Agent Service ·</a:t>
            </a:r>
            <a:endParaRPr lang="en-US" sz="680" dirty="0"/>
          </a:p>
          <a:p>
            <a:pPr algn="l" indent="0" marL="0">
              <a:lnSpc>
                <a:spcPts val="940"/>
              </a:lnSpc>
              <a:buNone/>
            </a:pPr>
            <a:r>
              <a:rPr lang="en-US" sz="68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MCP servers · A2A messaging on Service Bus</a:t>
            </a:r>
            <a:endParaRPr lang="en-US" sz="680" dirty="0"/>
          </a:p>
        </p:txBody>
      </p:sp>
      <p:sp>
        <p:nvSpPr>
          <p:cNvPr id="32" name="Shape 29"/>
          <p:cNvSpPr/>
          <p:nvPr/>
        </p:nvSpPr>
        <p:spPr>
          <a:xfrm>
            <a:off x="2530004" y="2461357"/>
            <a:ext cx="1914525" cy="800100"/>
          </a:xfrm>
          <a:prstGeom prst="roundRect">
            <a:avLst>
              <a:gd name="adj" fmla="val 4571"/>
            </a:avLst>
          </a:prstGeom>
          <a:solidFill>
            <a:srgbClr val="12233F"/>
          </a:solidFill>
          <a:ln w="4763">
            <a:solidFill>
              <a:srgbClr val="24406B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2599432" y="2618556"/>
            <a:ext cx="641062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E8F1F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Data layer</a:t>
            </a:r>
            <a:endParaRPr lang="en-US" sz="720" dirty="0"/>
          </a:p>
        </p:txBody>
      </p:sp>
      <p:sp>
        <p:nvSpPr>
          <p:cNvPr id="34" name="Text 31"/>
          <p:cNvSpPr/>
          <p:nvPr/>
        </p:nvSpPr>
        <p:spPr>
          <a:xfrm>
            <a:off x="2599432" y="2750939"/>
            <a:ext cx="2166431" cy="353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0"/>
              </a:lnSpc>
              <a:buNone/>
            </a:pPr>
            <a:r>
              <a:rPr lang="en-US" sz="68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Cosmos DB (memory &amp; cases) · AI Search</a:t>
            </a:r>
            <a:endParaRPr lang="en-US" sz="680" dirty="0"/>
          </a:p>
          <a:p>
            <a:pPr algn="l" indent="0" marL="0">
              <a:lnSpc>
                <a:spcPts val="940"/>
              </a:lnSpc>
              <a:buNone/>
            </a:pPr>
            <a:r>
              <a:rPr lang="en-US" sz="68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(vectors &amp; policy index) · Blob storage</a:t>
            </a:r>
            <a:endParaRPr lang="en-US" sz="680" dirty="0"/>
          </a:p>
          <a:p>
            <a:pPr algn="l" indent="0" marL="0">
              <a:lnSpc>
                <a:spcPts val="940"/>
              </a:lnSpc>
              <a:buNone/>
            </a:pPr>
            <a:r>
              <a:rPr lang="en-US" sz="68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(documents)</a:t>
            </a:r>
            <a:endParaRPr lang="en-US" sz="680" dirty="0"/>
          </a:p>
        </p:txBody>
      </p:sp>
      <p:sp>
        <p:nvSpPr>
          <p:cNvPr id="35" name="Shape 32"/>
          <p:cNvSpPr/>
          <p:nvPr/>
        </p:nvSpPr>
        <p:spPr>
          <a:xfrm>
            <a:off x="2530004" y="3294125"/>
            <a:ext cx="1914525" cy="800100"/>
          </a:xfrm>
          <a:prstGeom prst="roundRect">
            <a:avLst>
              <a:gd name="adj" fmla="val 4571"/>
            </a:avLst>
          </a:prstGeom>
          <a:solidFill>
            <a:srgbClr val="12233F"/>
          </a:solidFill>
          <a:ln w="4763">
            <a:solidFill>
              <a:srgbClr val="24406B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2599432" y="3511004"/>
            <a:ext cx="698041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E8F1F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Integration</a:t>
            </a:r>
            <a:endParaRPr lang="en-US" sz="720" dirty="0"/>
          </a:p>
        </p:txBody>
      </p:sp>
      <p:sp>
        <p:nvSpPr>
          <p:cNvPr id="37" name="Text 34"/>
          <p:cNvSpPr/>
          <p:nvPr/>
        </p:nvSpPr>
        <p:spPr>
          <a:xfrm>
            <a:off x="2599432" y="3643387"/>
            <a:ext cx="2205417" cy="233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0"/>
              </a:lnSpc>
              <a:buNone/>
            </a:pPr>
            <a:r>
              <a:rPr lang="en-US" sz="68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API Management (gateway) · Logic Apps</a:t>
            </a:r>
            <a:endParaRPr lang="en-US" sz="680" dirty="0"/>
          </a:p>
          <a:p>
            <a:pPr algn="l" indent="0" marL="0">
              <a:lnSpc>
                <a:spcPts val="940"/>
              </a:lnSpc>
              <a:buNone/>
            </a:pPr>
            <a:r>
              <a:rPr lang="en-US" sz="68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connectors · certified HCM connector pack</a:t>
            </a:r>
            <a:endParaRPr lang="en-US" sz="680" dirty="0"/>
          </a:p>
        </p:txBody>
      </p:sp>
      <p:sp>
        <p:nvSpPr>
          <p:cNvPr id="38" name="Shape 35"/>
          <p:cNvSpPr/>
          <p:nvPr/>
        </p:nvSpPr>
        <p:spPr>
          <a:xfrm>
            <a:off x="2530004" y="4126892"/>
            <a:ext cx="1914525" cy="800100"/>
          </a:xfrm>
          <a:prstGeom prst="roundRect">
            <a:avLst>
              <a:gd name="adj" fmla="val 4571"/>
            </a:avLst>
          </a:prstGeom>
          <a:solidFill>
            <a:srgbClr val="12233F"/>
          </a:solidFill>
          <a:ln w="4763">
            <a:solidFill>
              <a:srgbClr val="24406B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2599432" y="4343772"/>
            <a:ext cx="798359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E8F1F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Insight &amp; ops</a:t>
            </a:r>
            <a:endParaRPr lang="en-US" sz="720" dirty="0"/>
          </a:p>
        </p:txBody>
      </p:sp>
      <p:sp>
        <p:nvSpPr>
          <p:cNvPr id="40" name="Text 37"/>
          <p:cNvSpPr/>
          <p:nvPr/>
        </p:nvSpPr>
        <p:spPr>
          <a:xfrm>
            <a:off x="2599432" y="4476155"/>
            <a:ext cx="2349073" cy="233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0"/>
              </a:lnSpc>
              <a:buNone/>
            </a:pPr>
            <a:r>
              <a:rPr lang="en-US" sz="68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Microsoft Fabric + Power BI · Azure Monitor +</a:t>
            </a:r>
            <a:endParaRPr lang="en-US" sz="680" dirty="0"/>
          </a:p>
          <a:p>
            <a:pPr algn="l" indent="0" marL="0">
              <a:lnSpc>
                <a:spcPts val="940"/>
              </a:lnSpc>
              <a:buNone/>
            </a:pPr>
            <a:r>
              <a:rPr lang="en-US" sz="68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App Insights · IaC via Bicep/Terraform</a:t>
            </a:r>
            <a:endParaRPr lang="en-US" sz="680" dirty="0"/>
          </a:p>
        </p:txBody>
      </p:sp>
      <p:sp>
        <p:nvSpPr>
          <p:cNvPr id="41" name="Shape 38"/>
          <p:cNvSpPr/>
          <p:nvPr/>
        </p:nvSpPr>
        <p:spPr>
          <a:xfrm>
            <a:off x="4613672" y="549139"/>
            <a:ext cx="2085975" cy="4429125"/>
          </a:xfrm>
          <a:prstGeom prst="roundRect">
            <a:avLst>
              <a:gd name="adj" fmla="val 2630"/>
            </a:avLst>
          </a:prstGeom>
          <a:solidFill>
            <a:srgbClr val="0D1E36"/>
          </a:solidFill>
          <a:ln w="4763">
            <a:solidFill>
              <a:srgbClr val="D9B36A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700067" y="609005"/>
            <a:ext cx="1112952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D9B36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Infra &amp; Network</a:t>
            </a:r>
            <a:endParaRPr lang="en-US" sz="860" dirty="0"/>
          </a:p>
        </p:txBody>
      </p:sp>
      <p:sp>
        <p:nvSpPr>
          <p:cNvPr id="43" name="Shape 40"/>
          <p:cNvSpPr/>
          <p:nvPr/>
        </p:nvSpPr>
        <p:spPr>
          <a:xfrm>
            <a:off x="4699397" y="795821"/>
            <a:ext cx="1914525" cy="800100"/>
          </a:xfrm>
          <a:prstGeom prst="roundRect">
            <a:avLst>
              <a:gd name="adj" fmla="val 4571"/>
            </a:avLst>
          </a:prstGeom>
          <a:solidFill>
            <a:srgbClr val="12233F"/>
          </a:solidFill>
          <a:ln w="4763">
            <a:solidFill>
              <a:srgbClr val="24406B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4768825" y="953021"/>
            <a:ext cx="824962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E8F1F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Landing zone</a:t>
            </a:r>
            <a:endParaRPr lang="en-US" sz="720" dirty="0"/>
          </a:p>
        </p:txBody>
      </p:sp>
      <p:sp>
        <p:nvSpPr>
          <p:cNvPr id="45" name="Text 42"/>
          <p:cNvSpPr/>
          <p:nvPr/>
        </p:nvSpPr>
        <p:spPr>
          <a:xfrm>
            <a:off x="4768825" y="1085404"/>
            <a:ext cx="2024033" cy="353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0"/>
              </a:lnSpc>
              <a:buNone/>
            </a:pPr>
            <a:r>
              <a:rPr lang="en-US" sz="68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per-region Azure landing zone ·</a:t>
            </a:r>
            <a:endParaRPr lang="en-US" sz="680" dirty="0"/>
          </a:p>
          <a:p>
            <a:pPr algn="l" indent="0" marL="0">
              <a:lnSpc>
                <a:spcPts val="940"/>
              </a:lnSpc>
              <a:buNone/>
            </a:pPr>
            <a:r>
              <a:rPr lang="en-US" sz="68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tenant-tagged resources · release rings across</a:t>
            </a:r>
            <a:endParaRPr lang="en-US" sz="680" dirty="0"/>
          </a:p>
          <a:p>
            <a:pPr algn="l" indent="0" marL="0">
              <a:lnSpc>
                <a:spcPts val="940"/>
              </a:lnSpc>
              <a:buNone/>
            </a:pPr>
            <a:r>
              <a:rPr lang="en-US" sz="68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regions</a:t>
            </a:r>
            <a:endParaRPr lang="en-US" sz="680" dirty="0"/>
          </a:p>
        </p:txBody>
      </p:sp>
      <p:sp>
        <p:nvSpPr>
          <p:cNvPr id="46" name="Shape 43"/>
          <p:cNvSpPr/>
          <p:nvPr/>
        </p:nvSpPr>
        <p:spPr>
          <a:xfrm>
            <a:off x="4699397" y="1628589"/>
            <a:ext cx="1914525" cy="800100"/>
          </a:xfrm>
          <a:prstGeom prst="roundRect">
            <a:avLst>
              <a:gd name="adj" fmla="val 4571"/>
            </a:avLst>
          </a:prstGeom>
          <a:solidFill>
            <a:srgbClr val="12233F"/>
          </a:solidFill>
          <a:ln w="4763">
            <a:solidFill>
              <a:srgbClr val="24406B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4768825" y="1845469"/>
            <a:ext cx="537262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E8F1F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Network</a:t>
            </a:r>
            <a:endParaRPr lang="en-US" sz="720" dirty="0"/>
          </a:p>
        </p:txBody>
      </p:sp>
      <p:sp>
        <p:nvSpPr>
          <p:cNvPr id="48" name="Text 45"/>
          <p:cNvSpPr/>
          <p:nvPr/>
        </p:nvSpPr>
        <p:spPr>
          <a:xfrm>
            <a:off x="4768825" y="1977851"/>
            <a:ext cx="2319375" cy="233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0"/>
              </a:lnSpc>
              <a:buNone/>
            </a:pPr>
            <a:r>
              <a:rPr lang="en-US" sz="68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private endpoints &amp; VNet integration · no</a:t>
            </a:r>
            <a:endParaRPr lang="en-US" sz="680" dirty="0"/>
          </a:p>
          <a:p>
            <a:pPr algn="l" indent="0" marL="0">
              <a:lnSpc>
                <a:spcPts val="940"/>
              </a:lnSpc>
              <a:buNone/>
            </a:pPr>
            <a:r>
              <a:rPr lang="en-US" sz="68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public data path in Tier 2/3 · TLS everywhere</a:t>
            </a:r>
            <a:endParaRPr lang="en-US" sz="680" dirty="0"/>
          </a:p>
        </p:txBody>
      </p:sp>
      <p:sp>
        <p:nvSpPr>
          <p:cNvPr id="49" name="Shape 46"/>
          <p:cNvSpPr/>
          <p:nvPr/>
        </p:nvSpPr>
        <p:spPr>
          <a:xfrm>
            <a:off x="4699397" y="2461357"/>
            <a:ext cx="1914525" cy="800100"/>
          </a:xfrm>
          <a:prstGeom prst="roundRect">
            <a:avLst>
              <a:gd name="adj" fmla="val 4571"/>
            </a:avLst>
          </a:prstGeom>
          <a:solidFill>
            <a:srgbClr val="12233F"/>
          </a:solidFill>
          <a:ln w="4763">
            <a:solidFill>
              <a:srgbClr val="24406B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4768825" y="2618556"/>
            <a:ext cx="517527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E8F1F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Identity</a:t>
            </a:r>
            <a:endParaRPr lang="en-US" sz="720" dirty="0"/>
          </a:p>
        </p:txBody>
      </p:sp>
      <p:sp>
        <p:nvSpPr>
          <p:cNvPr id="51" name="Text 48"/>
          <p:cNvSpPr/>
          <p:nvPr/>
        </p:nvSpPr>
        <p:spPr>
          <a:xfrm>
            <a:off x="4768825" y="2750939"/>
            <a:ext cx="2214123" cy="353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0"/>
              </a:lnSpc>
              <a:buNone/>
            </a:pPr>
            <a:r>
              <a:rPr lang="en-US" sz="68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Entra ID federation with client IdP (SSO) ·</a:t>
            </a:r>
            <a:endParaRPr lang="en-US" sz="680" dirty="0"/>
          </a:p>
          <a:p>
            <a:pPr algn="l" indent="0" marL="0">
              <a:lnSpc>
                <a:spcPts val="940"/>
              </a:lnSpc>
              <a:buNone/>
            </a:pPr>
            <a:r>
              <a:rPr lang="en-US" sz="68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Entra Agent ID for every agent · Key Vault /</a:t>
            </a:r>
            <a:endParaRPr lang="en-US" sz="680" dirty="0"/>
          </a:p>
          <a:p>
            <a:pPr algn="l" indent="0" marL="0">
              <a:lnSpc>
                <a:spcPts val="940"/>
              </a:lnSpc>
              <a:buNone/>
            </a:pPr>
            <a:r>
              <a:rPr lang="en-US" sz="68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BYOK</a:t>
            </a:r>
            <a:endParaRPr lang="en-US" sz="680" dirty="0"/>
          </a:p>
        </p:txBody>
      </p:sp>
      <p:sp>
        <p:nvSpPr>
          <p:cNvPr id="52" name="Shape 49"/>
          <p:cNvSpPr/>
          <p:nvPr/>
        </p:nvSpPr>
        <p:spPr>
          <a:xfrm>
            <a:off x="4699397" y="3294125"/>
            <a:ext cx="1914525" cy="800100"/>
          </a:xfrm>
          <a:prstGeom prst="roundRect">
            <a:avLst>
              <a:gd name="adj" fmla="val 4571"/>
            </a:avLst>
          </a:prstGeom>
          <a:solidFill>
            <a:srgbClr val="12233F"/>
          </a:solidFill>
          <a:ln w="4763">
            <a:solidFill>
              <a:srgbClr val="24406B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4768825" y="3511004"/>
            <a:ext cx="637773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E8F1F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Resilience</a:t>
            </a:r>
            <a:endParaRPr lang="en-US" sz="720" dirty="0"/>
          </a:p>
        </p:txBody>
      </p:sp>
      <p:sp>
        <p:nvSpPr>
          <p:cNvPr id="54" name="Text 51"/>
          <p:cNvSpPr/>
          <p:nvPr/>
        </p:nvSpPr>
        <p:spPr>
          <a:xfrm>
            <a:off x="4768825" y="3643387"/>
            <a:ext cx="2209867" cy="233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0"/>
              </a:lnSpc>
              <a:buNone/>
            </a:pPr>
            <a:r>
              <a:rPr lang="en-US" sz="68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zone-redundant services · cross-region DR</a:t>
            </a:r>
            <a:endParaRPr lang="en-US" sz="680" dirty="0"/>
          </a:p>
          <a:p>
            <a:pPr algn="l" indent="0" marL="0">
              <a:lnSpc>
                <a:spcPts val="940"/>
              </a:lnSpc>
              <a:buNone/>
            </a:pPr>
            <a:r>
              <a:rPr lang="en-US" sz="68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for dedicated tiers · RPO/RTO per SLA tier</a:t>
            </a:r>
            <a:endParaRPr lang="en-US" sz="680" dirty="0"/>
          </a:p>
        </p:txBody>
      </p:sp>
      <p:sp>
        <p:nvSpPr>
          <p:cNvPr id="55" name="Shape 52"/>
          <p:cNvSpPr/>
          <p:nvPr/>
        </p:nvSpPr>
        <p:spPr>
          <a:xfrm>
            <a:off x="4699397" y="4126892"/>
            <a:ext cx="1914525" cy="800100"/>
          </a:xfrm>
          <a:prstGeom prst="roundRect">
            <a:avLst>
              <a:gd name="adj" fmla="val 4571"/>
            </a:avLst>
          </a:prstGeom>
          <a:solidFill>
            <a:srgbClr val="12233F"/>
          </a:solidFill>
          <a:ln w="4763">
            <a:solidFill>
              <a:srgbClr val="24406B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4768825" y="4343772"/>
            <a:ext cx="839956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E8F1F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Environments</a:t>
            </a:r>
            <a:endParaRPr lang="en-US" sz="720" dirty="0"/>
          </a:p>
        </p:txBody>
      </p:sp>
      <p:sp>
        <p:nvSpPr>
          <p:cNvPr id="57" name="Text 54"/>
          <p:cNvSpPr/>
          <p:nvPr/>
        </p:nvSpPr>
        <p:spPr>
          <a:xfrm>
            <a:off x="4768825" y="4476155"/>
            <a:ext cx="2267426" cy="233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0"/>
              </a:lnSpc>
              <a:buNone/>
            </a:pPr>
            <a:r>
              <a:rPr lang="en-US" sz="68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dev / staging / prod per release ring · tenant</a:t>
            </a:r>
            <a:endParaRPr lang="en-US" sz="680" dirty="0"/>
          </a:p>
          <a:p>
            <a:pPr algn="l" indent="0" marL="0">
              <a:lnSpc>
                <a:spcPts val="940"/>
              </a:lnSpc>
              <a:buNone/>
            </a:pPr>
            <a:r>
              <a:rPr lang="en-US" sz="68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sandbox for client UAT before go-live</a:t>
            </a:r>
            <a:endParaRPr lang="en-US" sz="680" dirty="0"/>
          </a:p>
        </p:txBody>
      </p:sp>
      <p:sp>
        <p:nvSpPr>
          <p:cNvPr id="58" name="Shape 55"/>
          <p:cNvSpPr/>
          <p:nvPr/>
        </p:nvSpPr>
        <p:spPr>
          <a:xfrm>
            <a:off x="6783102" y="549139"/>
            <a:ext cx="2085975" cy="4429125"/>
          </a:xfrm>
          <a:prstGeom prst="roundRect">
            <a:avLst>
              <a:gd name="adj" fmla="val 2630"/>
            </a:avLst>
          </a:prstGeom>
          <a:solidFill>
            <a:srgbClr val="0D1E36"/>
          </a:solidFill>
          <a:ln w="4763">
            <a:solidFill>
              <a:srgbClr val="E08A8A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6869460" y="609005"/>
            <a:ext cx="1757906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E08A8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Client-Side Prerequisites</a:t>
            </a:r>
            <a:endParaRPr lang="en-US" sz="860" dirty="0"/>
          </a:p>
        </p:txBody>
      </p:sp>
      <p:sp>
        <p:nvSpPr>
          <p:cNvPr id="60" name="Shape 57"/>
          <p:cNvSpPr/>
          <p:nvPr/>
        </p:nvSpPr>
        <p:spPr>
          <a:xfrm>
            <a:off x="6868827" y="795821"/>
            <a:ext cx="1914525" cy="800100"/>
          </a:xfrm>
          <a:prstGeom prst="roundRect">
            <a:avLst>
              <a:gd name="adj" fmla="val 4571"/>
            </a:avLst>
          </a:prstGeom>
          <a:solidFill>
            <a:srgbClr val="12233F"/>
          </a:solidFill>
          <a:ln w="4763">
            <a:solidFill>
              <a:srgbClr val="24406B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6938218" y="1012701"/>
            <a:ext cx="584277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E8F1F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Channels</a:t>
            </a:r>
            <a:endParaRPr lang="en-US" sz="720" dirty="0"/>
          </a:p>
        </p:txBody>
      </p:sp>
      <p:sp>
        <p:nvSpPr>
          <p:cNvPr id="62" name="Text 59"/>
          <p:cNvSpPr/>
          <p:nvPr/>
        </p:nvSpPr>
        <p:spPr>
          <a:xfrm>
            <a:off x="6938218" y="1145084"/>
            <a:ext cx="2284065" cy="233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0"/>
              </a:lnSpc>
              <a:buNone/>
            </a:pPr>
            <a:r>
              <a:rPr lang="en-US" sz="68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Microsoft 365 with Teams (or web portal</a:t>
            </a:r>
            <a:endParaRPr lang="en-US" sz="680" dirty="0"/>
          </a:p>
          <a:p>
            <a:pPr algn="l" indent="0" marL="0">
              <a:lnSpc>
                <a:spcPts val="940"/>
              </a:lnSpc>
              <a:buNone/>
            </a:pPr>
            <a:r>
              <a:rPr lang="en-US" sz="68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fallback) · mail routing for the email channel</a:t>
            </a:r>
            <a:endParaRPr lang="en-US" sz="680" dirty="0"/>
          </a:p>
        </p:txBody>
      </p:sp>
      <p:sp>
        <p:nvSpPr>
          <p:cNvPr id="63" name="Shape 60"/>
          <p:cNvSpPr/>
          <p:nvPr/>
        </p:nvSpPr>
        <p:spPr>
          <a:xfrm>
            <a:off x="6868827" y="1628589"/>
            <a:ext cx="1914525" cy="800100"/>
          </a:xfrm>
          <a:prstGeom prst="roundRect">
            <a:avLst>
              <a:gd name="adj" fmla="val 4571"/>
            </a:avLst>
          </a:prstGeom>
          <a:solidFill>
            <a:srgbClr val="12233F"/>
          </a:solidFill>
          <a:ln w="4763">
            <a:solidFill>
              <a:srgbClr val="24406B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6938218" y="1845469"/>
            <a:ext cx="517527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E8F1F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Identity</a:t>
            </a:r>
            <a:endParaRPr lang="en-US" sz="720" dirty="0"/>
          </a:p>
        </p:txBody>
      </p:sp>
      <p:sp>
        <p:nvSpPr>
          <p:cNvPr id="65" name="Text 62"/>
          <p:cNvSpPr/>
          <p:nvPr/>
        </p:nvSpPr>
        <p:spPr>
          <a:xfrm>
            <a:off x="6938218" y="1977851"/>
            <a:ext cx="2360102" cy="233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0"/>
              </a:lnSpc>
              <a:buNone/>
            </a:pPr>
            <a:r>
              <a:rPr lang="en-US" sz="68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Entra ID (or SAML/OIDC IdP) for SSO · agreed</a:t>
            </a:r>
            <a:endParaRPr lang="en-US" sz="680" dirty="0"/>
          </a:p>
          <a:p>
            <a:pPr algn="l" indent="0" marL="0">
              <a:lnSpc>
                <a:spcPts val="940"/>
              </a:lnSpc>
              <a:buNone/>
            </a:pPr>
            <a:r>
              <a:rPr lang="en-US" sz="68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role mapping for HITL approvers</a:t>
            </a:r>
            <a:endParaRPr lang="en-US" sz="680" dirty="0"/>
          </a:p>
        </p:txBody>
      </p:sp>
      <p:sp>
        <p:nvSpPr>
          <p:cNvPr id="66" name="Shape 63"/>
          <p:cNvSpPr/>
          <p:nvPr/>
        </p:nvSpPr>
        <p:spPr>
          <a:xfrm>
            <a:off x="6868827" y="2461357"/>
            <a:ext cx="1914525" cy="800100"/>
          </a:xfrm>
          <a:prstGeom prst="roundRect">
            <a:avLst>
              <a:gd name="adj" fmla="val 4571"/>
            </a:avLst>
          </a:prstGeom>
          <a:solidFill>
            <a:srgbClr val="12233F"/>
          </a:solidFill>
          <a:ln w="4763">
            <a:solidFill>
              <a:srgbClr val="24406B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6938218" y="2678237"/>
            <a:ext cx="915412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E8F1F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System access</a:t>
            </a:r>
            <a:endParaRPr lang="en-US" sz="720" dirty="0"/>
          </a:p>
        </p:txBody>
      </p:sp>
      <p:sp>
        <p:nvSpPr>
          <p:cNvPr id="68" name="Text 65"/>
          <p:cNvSpPr/>
          <p:nvPr/>
        </p:nvSpPr>
        <p:spPr>
          <a:xfrm>
            <a:off x="6938218" y="2810619"/>
            <a:ext cx="2229602" cy="233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0"/>
              </a:lnSpc>
              <a:buNone/>
            </a:pPr>
            <a:r>
              <a:rPr lang="en-US" sz="68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API credentials for HCM, payroll, benefits,</a:t>
            </a:r>
            <a:endParaRPr lang="en-US" sz="680" dirty="0"/>
          </a:p>
          <a:p>
            <a:pPr algn="l" indent="0" marL="0">
              <a:lnSpc>
                <a:spcPts val="940"/>
              </a:lnSpc>
              <a:buNone/>
            </a:pPr>
            <a:r>
              <a:rPr lang="en-US" sz="68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ticketing — least-privilege service accounts</a:t>
            </a:r>
            <a:endParaRPr lang="en-US" sz="680" dirty="0"/>
          </a:p>
        </p:txBody>
      </p:sp>
      <p:sp>
        <p:nvSpPr>
          <p:cNvPr id="69" name="Shape 66"/>
          <p:cNvSpPr/>
          <p:nvPr/>
        </p:nvSpPr>
        <p:spPr>
          <a:xfrm>
            <a:off x="6868827" y="3294125"/>
            <a:ext cx="1914525" cy="800100"/>
          </a:xfrm>
          <a:prstGeom prst="roundRect">
            <a:avLst>
              <a:gd name="adj" fmla="val 4571"/>
            </a:avLst>
          </a:prstGeom>
          <a:solidFill>
            <a:srgbClr val="12233F"/>
          </a:solidFill>
          <a:ln w="4763">
            <a:solidFill>
              <a:srgbClr val="24406B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6938218" y="3511004"/>
            <a:ext cx="678693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E8F1F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Data feeds</a:t>
            </a:r>
            <a:endParaRPr lang="en-US" sz="720" dirty="0"/>
          </a:p>
        </p:txBody>
      </p:sp>
      <p:sp>
        <p:nvSpPr>
          <p:cNvPr id="71" name="Text 68"/>
          <p:cNvSpPr/>
          <p:nvPr/>
        </p:nvSpPr>
        <p:spPr>
          <a:xfrm>
            <a:off x="6938218" y="3643387"/>
            <a:ext cx="2097167" cy="233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0"/>
              </a:lnSpc>
              <a:buNone/>
            </a:pPr>
            <a:r>
              <a:rPr lang="en-US" sz="68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HR policy documents per country · org &amp;</a:t>
            </a:r>
            <a:endParaRPr lang="en-US" sz="680" dirty="0"/>
          </a:p>
          <a:p>
            <a:pPr algn="l" indent="0" marL="0">
              <a:lnSpc>
                <a:spcPts val="940"/>
              </a:lnSpc>
              <a:buNone/>
            </a:pPr>
            <a:r>
              <a:rPr lang="en-US" sz="68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employee master data sync</a:t>
            </a:r>
            <a:endParaRPr lang="en-US" sz="680" dirty="0"/>
          </a:p>
        </p:txBody>
      </p:sp>
      <p:sp>
        <p:nvSpPr>
          <p:cNvPr id="72" name="Shape 69"/>
          <p:cNvSpPr/>
          <p:nvPr/>
        </p:nvSpPr>
        <p:spPr>
          <a:xfrm>
            <a:off x="6868827" y="4126892"/>
            <a:ext cx="1914525" cy="800100"/>
          </a:xfrm>
          <a:prstGeom prst="roundRect">
            <a:avLst>
              <a:gd name="adj" fmla="val 4571"/>
            </a:avLst>
          </a:prstGeom>
          <a:solidFill>
            <a:srgbClr val="12233F"/>
          </a:solidFill>
          <a:ln w="4763">
            <a:solidFill>
              <a:srgbClr val="24406B"/>
            </a:solidFill>
            <a:prstDash val="solid"/>
          </a:ln>
        </p:spPr>
      </p:sp>
      <p:sp>
        <p:nvSpPr>
          <p:cNvPr id="73" name="Text 70"/>
          <p:cNvSpPr/>
          <p:nvPr/>
        </p:nvSpPr>
        <p:spPr>
          <a:xfrm>
            <a:off x="6938218" y="4343772"/>
            <a:ext cx="537262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E8F1F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Network</a:t>
            </a:r>
            <a:endParaRPr lang="en-US" sz="720" dirty="0"/>
          </a:p>
        </p:txBody>
      </p:sp>
      <p:sp>
        <p:nvSpPr>
          <p:cNvPr id="74" name="Text 71"/>
          <p:cNvSpPr/>
          <p:nvPr/>
        </p:nvSpPr>
        <p:spPr>
          <a:xfrm>
            <a:off x="6938218" y="4476155"/>
            <a:ext cx="2186940" cy="233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0"/>
              </a:lnSpc>
              <a:buNone/>
            </a:pPr>
            <a:r>
              <a:rPr lang="en-US" sz="68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egress allow-listing or private connectivity</a:t>
            </a:r>
            <a:endParaRPr lang="en-US" sz="680" dirty="0"/>
          </a:p>
          <a:p>
            <a:pPr algn="l" indent="0" marL="0">
              <a:lnSpc>
                <a:spcPts val="940"/>
              </a:lnSpc>
              <a:buNone/>
            </a:pPr>
            <a:r>
              <a:rPr lang="en-US" sz="68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(ExpressRoute / VPN) for Tier 2/3</a:t>
            </a:r>
            <a:endParaRPr lang="en-US" sz="68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52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-484" y="-484"/>
            <a:ext cx="9053513" cy="52388"/>
          </a:xfrm>
          <a:prstGeom prst="rect">
            <a:avLst/>
          </a:prstGeom>
          <a:solidFill>
            <a:srgbClr val="2F81F7"/>
          </a:solidFill>
          <a:ln/>
        </p:spPr>
      </p:sp>
      <p:sp>
        <p:nvSpPr>
          <p:cNvPr id="5" name="Text 2"/>
          <p:cNvSpPr/>
          <p:nvPr/>
        </p:nvSpPr>
        <p:spPr>
          <a:xfrm>
            <a:off x="319980" y="183579"/>
            <a:ext cx="3037076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80" b="1" spc="-40" kern="0" dirty="0">
                <a:solidFill>
                  <a:srgbClr val="E8F1F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Pricing Models &amp; Options</a:t>
            </a:r>
            <a:endParaRPr lang="en-US" sz="1580" dirty="0"/>
          </a:p>
        </p:txBody>
      </p:sp>
      <p:sp>
        <p:nvSpPr>
          <p:cNvPr id="6" name="Text 3"/>
          <p:cNvSpPr/>
          <p:nvPr/>
        </p:nvSpPr>
        <p:spPr>
          <a:xfrm>
            <a:off x="6417692" y="278829"/>
            <a:ext cx="3185376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price the outcome, meter the cost, protect the margin</a:t>
            </a:r>
            <a:endParaRPr lang="en-US" sz="790" dirty="0"/>
          </a:p>
        </p:txBody>
      </p:sp>
      <p:sp>
        <p:nvSpPr>
          <p:cNvPr id="7" name="Shape 4"/>
          <p:cNvSpPr/>
          <p:nvPr/>
        </p:nvSpPr>
        <p:spPr>
          <a:xfrm>
            <a:off x="320948" y="547725"/>
            <a:ext cx="2771775" cy="2628900"/>
          </a:xfrm>
          <a:prstGeom prst="roundRect">
            <a:avLst>
              <a:gd name="adj" fmla="val 2087"/>
            </a:avLst>
          </a:prstGeom>
          <a:solidFill>
            <a:srgbClr val="0D1E36"/>
          </a:solidFill>
          <a:ln w="4763">
            <a:solidFill>
              <a:srgbClr val="7AC9F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6123" y="614139"/>
            <a:ext cx="1463338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7AC9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PEPM Subscription</a:t>
            </a:r>
            <a:endParaRPr lang="en-US" sz="940" dirty="0"/>
          </a:p>
        </p:txBody>
      </p:sp>
      <p:sp>
        <p:nvSpPr>
          <p:cNvPr id="9" name="Shape 6"/>
          <p:cNvSpPr/>
          <p:nvPr/>
        </p:nvSpPr>
        <p:spPr>
          <a:xfrm>
            <a:off x="2320677" y="617525"/>
            <a:ext cx="676275" cy="152400"/>
          </a:xfrm>
          <a:prstGeom prst="roundRect">
            <a:avLst>
              <a:gd name="adj" fmla="val 50000"/>
            </a:avLst>
          </a:prstGeom>
          <a:ln w="4763">
            <a:solidFill>
              <a:srgbClr val="7AC9F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388840" y="636761"/>
            <a:ext cx="759083" cy="1095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7AC9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Primary model</a:t>
            </a:r>
            <a:endParaRPr lang="en-US" sz="650" dirty="0"/>
          </a:p>
        </p:txBody>
      </p:sp>
      <p:sp>
        <p:nvSpPr>
          <p:cNvPr id="11" name="Text 8"/>
          <p:cNvSpPr/>
          <p:nvPr/>
        </p:nvSpPr>
        <p:spPr>
          <a:xfrm>
            <a:off x="416123" y="813643"/>
            <a:ext cx="3284146" cy="260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39"/>
              </a:lnSpc>
              <a:buNone/>
            </a:pPr>
            <a:r>
              <a:rPr lang="en-US" sz="760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Per employee served, per month — all-you-can-ask within</a:t>
            </a:r>
            <a:endParaRPr lang="en-US" sz="760" dirty="0"/>
          </a:p>
          <a:p>
            <a:pPr algn="l" indent="0" marL="0">
              <a:lnSpc>
                <a:spcPts val="1039"/>
              </a:lnSpc>
              <a:buNone/>
            </a:pPr>
            <a:r>
              <a:rPr lang="en-US" sz="760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fair use</a:t>
            </a:r>
            <a:endParaRPr lang="en-US" sz="760" dirty="0"/>
          </a:p>
        </p:txBody>
      </p:sp>
      <p:sp>
        <p:nvSpPr>
          <p:cNvPr id="12" name="Text 9"/>
          <p:cNvSpPr/>
          <p:nvPr/>
        </p:nvSpPr>
        <p:spPr>
          <a:xfrm>
            <a:off x="416123" y="1108323"/>
            <a:ext cx="3201241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· </a:t>
            </a:r>
            <a:pPr algn="l" indent="0" marL="0">
              <a:buNone/>
            </a:pPr>
            <a:r>
              <a:rPr lang="en-US" sz="72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Predictable for CHRO budgets · scales with workforce size</a:t>
            </a:r>
            <a:endParaRPr lang="en-US" sz="720" dirty="0"/>
          </a:p>
        </p:txBody>
      </p:sp>
      <p:sp>
        <p:nvSpPr>
          <p:cNvPr id="13" name="Text 10"/>
          <p:cNvSpPr/>
          <p:nvPr/>
        </p:nvSpPr>
        <p:spPr>
          <a:xfrm>
            <a:off x="416123" y="1259681"/>
            <a:ext cx="2848823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· </a:t>
            </a:r>
            <a:pPr algn="l" indent="0" marL="0">
              <a:buNone/>
            </a:pPr>
            <a:r>
              <a:rPr lang="en-US" sz="72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Includes standard flows, policy Q&amp;A, case handling</a:t>
            </a:r>
            <a:endParaRPr lang="en-US" sz="720" dirty="0"/>
          </a:p>
        </p:txBody>
      </p:sp>
      <p:sp>
        <p:nvSpPr>
          <p:cNvPr id="14" name="Text 11"/>
          <p:cNvSpPr/>
          <p:nvPr/>
        </p:nvSpPr>
        <p:spPr>
          <a:xfrm>
            <a:off x="416123" y="1411039"/>
            <a:ext cx="2466804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· </a:t>
            </a:r>
            <a:pPr algn="l" indent="0" marL="0">
              <a:buNone/>
            </a:pPr>
            <a:r>
              <a:rPr lang="en-US" sz="72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Fair-use token cap with transparent overage</a:t>
            </a:r>
            <a:endParaRPr lang="en-US" sz="720" dirty="0"/>
          </a:p>
        </p:txBody>
      </p:sp>
      <p:sp>
        <p:nvSpPr>
          <p:cNvPr id="15" name="Text 12"/>
          <p:cNvSpPr/>
          <p:nvPr/>
        </p:nvSpPr>
        <p:spPr>
          <a:xfrm>
            <a:off x="416123" y="2987353"/>
            <a:ext cx="2113322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203"/>
              </a:spcBef>
              <a:buNone/>
            </a:pPr>
            <a:r>
              <a:rPr lang="en-US" sz="720" dirty="0">
                <a:solidFill>
                  <a:srgbClr val="7AC9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Best for: enterprise-wide deployments</a:t>
            </a:r>
            <a:endParaRPr lang="en-US" sz="720" dirty="0"/>
          </a:p>
        </p:txBody>
      </p:sp>
      <p:sp>
        <p:nvSpPr>
          <p:cNvPr id="16" name="Shape 13"/>
          <p:cNvSpPr/>
          <p:nvPr/>
        </p:nvSpPr>
        <p:spPr>
          <a:xfrm>
            <a:off x="3186075" y="547725"/>
            <a:ext cx="2771775" cy="2628900"/>
          </a:xfrm>
          <a:prstGeom prst="roundRect">
            <a:avLst>
              <a:gd name="adj" fmla="val 2087"/>
            </a:avLst>
          </a:prstGeom>
          <a:solidFill>
            <a:srgbClr val="0D1E36"/>
          </a:solidFill>
          <a:ln w="4763">
            <a:solidFill>
              <a:srgbClr val="8FD6A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281214" y="614139"/>
            <a:ext cx="1409261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8FD6A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Per Resolved Case</a:t>
            </a:r>
            <a:endParaRPr lang="en-US" sz="940" dirty="0"/>
          </a:p>
        </p:txBody>
      </p:sp>
      <p:sp>
        <p:nvSpPr>
          <p:cNvPr id="18" name="Shape 15"/>
          <p:cNvSpPr/>
          <p:nvPr/>
        </p:nvSpPr>
        <p:spPr>
          <a:xfrm>
            <a:off x="5129510" y="617525"/>
            <a:ext cx="733425" cy="152400"/>
          </a:xfrm>
          <a:prstGeom prst="roundRect">
            <a:avLst>
              <a:gd name="adj" fmla="val 50000"/>
            </a:avLst>
          </a:prstGeom>
          <a:ln w="4763">
            <a:solidFill>
              <a:srgbClr val="8FD6A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198492" y="636761"/>
            <a:ext cx="831250" cy="1095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FD6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Outcome-based</a:t>
            </a:r>
            <a:endParaRPr lang="en-US" sz="650" dirty="0"/>
          </a:p>
        </p:txBody>
      </p:sp>
      <p:sp>
        <p:nvSpPr>
          <p:cNvPr id="20" name="Text 17"/>
          <p:cNvSpPr/>
          <p:nvPr/>
        </p:nvSpPr>
        <p:spPr>
          <a:xfrm>
            <a:off x="3281214" y="813643"/>
            <a:ext cx="340052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243"/>
              </a:spcBef>
              <a:buNone/>
            </a:pPr>
            <a:r>
              <a:rPr lang="en-US" sz="760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Pay only when the platform fully resolves a case end-to-end</a:t>
            </a:r>
            <a:endParaRPr lang="en-US" sz="760" dirty="0"/>
          </a:p>
        </p:txBody>
      </p:sp>
      <p:sp>
        <p:nvSpPr>
          <p:cNvPr id="21" name="Text 18"/>
          <p:cNvSpPr/>
          <p:nvPr/>
        </p:nvSpPr>
        <p:spPr>
          <a:xfrm>
            <a:off x="3281214" y="976387"/>
            <a:ext cx="2467384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· </a:t>
            </a:r>
            <a:pPr algn="l" indent="0" marL="0">
              <a:buNone/>
            </a:pPr>
            <a:r>
              <a:rPr lang="en-US" sz="72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Zero-risk entry — aligned to deflection value</a:t>
            </a:r>
            <a:endParaRPr lang="en-US" sz="720" dirty="0"/>
          </a:p>
        </p:txBody>
      </p:sp>
      <p:sp>
        <p:nvSpPr>
          <p:cNvPr id="22" name="Text 19"/>
          <p:cNvSpPr/>
          <p:nvPr/>
        </p:nvSpPr>
        <p:spPr>
          <a:xfrm>
            <a:off x="3281214" y="1127745"/>
            <a:ext cx="2664440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· </a:t>
            </a:r>
            <a:pPr algn="l" indent="0" marL="0">
              <a:buNone/>
            </a:pPr>
            <a:r>
              <a:rPr lang="en-US" sz="72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Human-escalated cases billed at a reduced rate</a:t>
            </a:r>
            <a:endParaRPr lang="en-US" sz="720" dirty="0"/>
          </a:p>
        </p:txBody>
      </p:sp>
      <p:sp>
        <p:nvSpPr>
          <p:cNvPr id="23" name="Text 20"/>
          <p:cNvSpPr/>
          <p:nvPr/>
        </p:nvSpPr>
        <p:spPr>
          <a:xfrm>
            <a:off x="3281214" y="1279103"/>
            <a:ext cx="2616942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· </a:t>
            </a:r>
            <a:pPr algn="l" indent="0" marL="0">
              <a:buNone/>
            </a:pPr>
            <a:r>
              <a:rPr lang="en-US" sz="72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Rate card by case complexity (Flow 1 ≠ Flow 4)</a:t>
            </a:r>
            <a:endParaRPr lang="en-US" sz="720" dirty="0"/>
          </a:p>
        </p:txBody>
      </p:sp>
      <p:sp>
        <p:nvSpPr>
          <p:cNvPr id="24" name="Text 21"/>
          <p:cNvSpPr/>
          <p:nvPr/>
        </p:nvSpPr>
        <p:spPr>
          <a:xfrm>
            <a:off x="3281214" y="2987353"/>
            <a:ext cx="1998978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203"/>
              </a:spcBef>
              <a:buNone/>
            </a:pPr>
            <a:r>
              <a:rPr lang="en-US" sz="720" dirty="0">
                <a:solidFill>
                  <a:srgbClr val="7AC9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Best for: pilots &amp; value-proof phases</a:t>
            </a:r>
            <a:endParaRPr lang="en-US" sz="720" dirty="0"/>
          </a:p>
        </p:txBody>
      </p:sp>
      <p:sp>
        <p:nvSpPr>
          <p:cNvPr id="25" name="Shape 22"/>
          <p:cNvSpPr/>
          <p:nvPr/>
        </p:nvSpPr>
        <p:spPr>
          <a:xfrm>
            <a:off x="6051240" y="547725"/>
            <a:ext cx="2771775" cy="2628900"/>
          </a:xfrm>
          <a:prstGeom prst="roundRect">
            <a:avLst>
              <a:gd name="adj" fmla="val 2087"/>
            </a:avLst>
          </a:prstGeom>
          <a:solidFill>
            <a:srgbClr val="0D1E36"/>
          </a:solidFill>
          <a:ln w="4763">
            <a:solidFill>
              <a:srgbClr val="D9B36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146378" y="614139"/>
            <a:ext cx="1328484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D9B36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Platform + Usage</a:t>
            </a:r>
            <a:endParaRPr lang="en-US" sz="940" dirty="0"/>
          </a:p>
        </p:txBody>
      </p:sp>
      <p:sp>
        <p:nvSpPr>
          <p:cNvPr id="27" name="Shape 24"/>
          <p:cNvSpPr/>
          <p:nvPr/>
        </p:nvSpPr>
        <p:spPr>
          <a:xfrm>
            <a:off x="8031733" y="617525"/>
            <a:ext cx="695325" cy="152400"/>
          </a:xfrm>
          <a:prstGeom prst="roundRect">
            <a:avLst>
              <a:gd name="adj" fmla="val 50000"/>
            </a:avLst>
          </a:prstGeom>
          <a:ln w="4763">
            <a:solidFill>
              <a:srgbClr val="D9B36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099673" y="636761"/>
            <a:ext cx="784428" cy="1095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D9B36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Dedicated tiers</a:t>
            </a:r>
            <a:endParaRPr lang="en-US" sz="650" dirty="0"/>
          </a:p>
        </p:txBody>
      </p:sp>
      <p:sp>
        <p:nvSpPr>
          <p:cNvPr id="29" name="Text 26"/>
          <p:cNvSpPr/>
          <p:nvPr/>
        </p:nvSpPr>
        <p:spPr>
          <a:xfrm>
            <a:off x="6146378" y="813643"/>
            <a:ext cx="3000702" cy="260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39"/>
              </a:lnSpc>
              <a:buNone/>
            </a:pPr>
            <a:r>
              <a:rPr lang="en-US" sz="760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Annual platform fee + metered usage (tokens, cases,</a:t>
            </a:r>
            <a:endParaRPr lang="en-US" sz="760" dirty="0"/>
          </a:p>
          <a:p>
            <a:pPr algn="l" indent="0" marL="0">
              <a:lnSpc>
                <a:spcPts val="1039"/>
              </a:lnSpc>
              <a:buNone/>
            </a:pPr>
            <a:r>
              <a:rPr lang="en-US" sz="760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storage)</a:t>
            </a:r>
            <a:endParaRPr lang="en-US" sz="760" dirty="0"/>
          </a:p>
        </p:txBody>
      </p:sp>
      <p:sp>
        <p:nvSpPr>
          <p:cNvPr id="30" name="Text 27"/>
          <p:cNvSpPr/>
          <p:nvPr/>
        </p:nvSpPr>
        <p:spPr>
          <a:xfrm>
            <a:off x="6146378" y="1108323"/>
            <a:ext cx="3082833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· </a:t>
            </a:r>
            <a:pPr algn="l" indent="0" marL="0">
              <a:buNone/>
            </a:pPr>
            <a:r>
              <a:rPr lang="en-US" sz="72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Covers dedicated infrastructure &amp; compliance overhead</a:t>
            </a:r>
            <a:endParaRPr lang="en-US" sz="720" dirty="0"/>
          </a:p>
        </p:txBody>
      </p:sp>
      <p:sp>
        <p:nvSpPr>
          <p:cNvPr id="31" name="Text 28"/>
          <p:cNvSpPr/>
          <p:nvPr/>
        </p:nvSpPr>
        <p:spPr>
          <a:xfrm>
            <a:off x="6146378" y="1259681"/>
            <a:ext cx="2523589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· </a:t>
            </a:r>
            <a:pPr algn="l" indent="0" marL="0">
              <a:buNone/>
            </a:pPr>
            <a:r>
              <a:rPr lang="en-US" sz="72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Minimum commitment · multi-year discounts</a:t>
            </a:r>
            <a:endParaRPr lang="en-US" sz="720" dirty="0"/>
          </a:p>
        </p:txBody>
      </p:sp>
      <p:sp>
        <p:nvSpPr>
          <p:cNvPr id="32" name="Text 29"/>
          <p:cNvSpPr/>
          <p:nvPr/>
        </p:nvSpPr>
        <p:spPr>
          <a:xfrm>
            <a:off x="6146378" y="1411039"/>
            <a:ext cx="2375386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· </a:t>
            </a:r>
            <a:pPr algn="l" indent="0" marL="0">
              <a:buNone/>
            </a:pPr>
            <a:r>
              <a:rPr lang="en-US" sz="72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Client sees the same cost telemetry we do</a:t>
            </a:r>
            <a:endParaRPr lang="en-US" sz="720" dirty="0"/>
          </a:p>
        </p:txBody>
      </p:sp>
      <p:sp>
        <p:nvSpPr>
          <p:cNvPr id="33" name="Text 30"/>
          <p:cNvSpPr/>
          <p:nvPr/>
        </p:nvSpPr>
        <p:spPr>
          <a:xfrm>
            <a:off x="6146378" y="2987353"/>
            <a:ext cx="1762452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203"/>
              </a:spcBef>
              <a:buNone/>
            </a:pPr>
            <a:r>
              <a:rPr lang="en-US" sz="720" dirty="0">
                <a:solidFill>
                  <a:srgbClr val="7AC9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Best for: Tier 3 regulated clients</a:t>
            </a:r>
            <a:endParaRPr lang="en-US" sz="720" dirty="0"/>
          </a:p>
        </p:txBody>
      </p:sp>
      <p:sp>
        <p:nvSpPr>
          <p:cNvPr id="34" name="Shape 31"/>
          <p:cNvSpPr/>
          <p:nvPr/>
        </p:nvSpPr>
        <p:spPr>
          <a:xfrm>
            <a:off x="320501" y="3226854"/>
            <a:ext cx="4205288" cy="1752600"/>
          </a:xfrm>
          <a:prstGeom prst="roundRect">
            <a:avLst>
              <a:gd name="adj" fmla="val 3130"/>
            </a:avLst>
          </a:prstGeom>
          <a:solidFill>
            <a:srgbClr val="111F38"/>
          </a:solidFill>
          <a:ln w="4763">
            <a:solidFill>
              <a:srgbClr val="24406B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16123" y="3282702"/>
            <a:ext cx="1811209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7AC9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Tier multipliers &amp; add-ons</a:t>
            </a:r>
            <a:endParaRPr lang="en-US" sz="860" dirty="0"/>
          </a:p>
        </p:txBody>
      </p:sp>
      <p:sp>
        <p:nvSpPr>
          <p:cNvPr id="36" name="Text 33"/>
          <p:cNvSpPr/>
          <p:nvPr/>
        </p:nvSpPr>
        <p:spPr>
          <a:xfrm>
            <a:off x="416123" y="3463454"/>
            <a:ext cx="5012085" cy="247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9"/>
              </a:lnSpc>
              <a:buNone/>
            </a:pPr>
            <a:r>
              <a:rPr lang="en-US" sz="730" b="1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Isolation tier uplift</a:t>
            </a:r>
            <a:pPr algn="l" indent="0" marL="0">
              <a:lnSpc>
                <a:spcPts val="1009"/>
              </a:lnSpc>
              <a:buNone/>
            </a:pPr>
            <a:r>
              <a:rPr lang="en-US" sz="73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Pooled 1.0× · Siloed Data ~1.3–1.5× · Dedicated ~2–3× (infra passed</a:t>
            </a:r>
            <a:endParaRPr lang="en-US" sz="730" dirty="0"/>
          </a:p>
          <a:p>
            <a:pPr algn="l" indent="0" marL="0">
              <a:lnSpc>
                <a:spcPts val="1009"/>
              </a:lnSpc>
              <a:buNone/>
            </a:pPr>
            <a:r>
              <a:rPr lang="en-US" sz="73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through + ops premium)</a:t>
            </a:r>
            <a:endParaRPr lang="en-US" sz="730" dirty="0"/>
          </a:p>
        </p:txBody>
      </p:sp>
      <p:sp>
        <p:nvSpPr>
          <p:cNvPr id="37" name="Text 34"/>
          <p:cNvSpPr/>
          <p:nvPr/>
        </p:nvSpPr>
        <p:spPr>
          <a:xfrm>
            <a:off x="416123" y="3740274"/>
            <a:ext cx="4993124" cy="247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9"/>
              </a:lnSpc>
              <a:buNone/>
            </a:pPr>
            <a:r>
              <a:rPr lang="en-US" sz="730" b="1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Add-ons</a:t>
            </a:r>
            <a:pPr algn="l" indent="0" marL="0">
              <a:lnSpc>
                <a:spcPts val="1009"/>
              </a:lnSpc>
              <a:buNone/>
            </a:pPr>
            <a:r>
              <a:rPr lang="en-US" sz="73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extra HCM connectors · premium deep-reasoning quota · additional languages ·</a:t>
            </a:r>
            <a:endParaRPr lang="en-US" sz="730" dirty="0"/>
          </a:p>
          <a:p>
            <a:pPr algn="l" indent="0" marL="0">
              <a:lnSpc>
                <a:spcPts val="1009"/>
              </a:lnSpc>
              <a:buNone/>
            </a:pPr>
            <a:r>
              <a:rPr lang="en-US" sz="73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managed HITL desk · advanced analytics pack</a:t>
            </a:r>
            <a:endParaRPr lang="en-US" sz="730" dirty="0"/>
          </a:p>
        </p:txBody>
      </p:sp>
      <p:sp>
        <p:nvSpPr>
          <p:cNvPr id="38" name="Text 35"/>
          <p:cNvSpPr/>
          <p:nvPr/>
        </p:nvSpPr>
        <p:spPr>
          <a:xfrm>
            <a:off x="416123" y="4017094"/>
            <a:ext cx="4737155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Onboarding</a:t>
            </a:r>
            <a:pPr algn="l" indent="0" marL="0">
              <a:buNone/>
            </a:pPr>
            <a:r>
              <a:rPr lang="en-US" sz="73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one-time implementation fee, credited back on multi-year commitment</a:t>
            </a:r>
            <a:endParaRPr lang="en-US" sz="730" dirty="0"/>
          </a:p>
        </p:txBody>
      </p:sp>
      <p:sp>
        <p:nvSpPr>
          <p:cNvPr id="39" name="Shape 36"/>
          <p:cNvSpPr/>
          <p:nvPr/>
        </p:nvSpPr>
        <p:spPr>
          <a:xfrm>
            <a:off x="4618211" y="3226854"/>
            <a:ext cx="4205288" cy="1752600"/>
          </a:xfrm>
          <a:prstGeom prst="roundRect">
            <a:avLst>
              <a:gd name="adj" fmla="val 3130"/>
            </a:avLst>
          </a:prstGeom>
          <a:solidFill>
            <a:srgbClr val="111F38"/>
          </a:solidFill>
          <a:ln w="4763">
            <a:solidFill>
              <a:srgbClr val="24406B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4713833" y="3282702"/>
            <a:ext cx="1587937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7AC9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Commercial guardrails</a:t>
            </a:r>
            <a:endParaRPr lang="en-US" sz="860" dirty="0"/>
          </a:p>
        </p:txBody>
      </p:sp>
      <p:sp>
        <p:nvSpPr>
          <p:cNvPr id="41" name="Text 38"/>
          <p:cNvSpPr/>
          <p:nvPr/>
        </p:nvSpPr>
        <p:spPr>
          <a:xfrm>
            <a:off x="4713833" y="3463454"/>
            <a:ext cx="5157773" cy="247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9"/>
              </a:lnSpc>
              <a:buNone/>
            </a:pPr>
            <a:r>
              <a:rPr lang="en-US" sz="730" b="1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Token economics</a:t>
            </a:r>
            <a:pPr algn="l" indent="0" marL="0">
              <a:lnSpc>
                <a:spcPts val="1009"/>
              </a:lnSpc>
              <a:buNone/>
            </a:pPr>
            <a:r>
              <a:rPr lang="en-US" sz="73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fair-use bands per employee; model cost pass-through above band keeps</a:t>
            </a:r>
            <a:endParaRPr lang="en-US" sz="730" dirty="0"/>
          </a:p>
          <a:p>
            <a:pPr algn="l" indent="0" marL="0">
              <a:lnSpc>
                <a:spcPts val="1009"/>
              </a:lnSpc>
              <a:buNone/>
            </a:pPr>
            <a:r>
              <a:rPr lang="en-US" sz="73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margin safe as usage grows</a:t>
            </a:r>
            <a:endParaRPr lang="en-US" sz="730" dirty="0"/>
          </a:p>
        </p:txBody>
      </p:sp>
      <p:sp>
        <p:nvSpPr>
          <p:cNvPr id="42" name="Text 39"/>
          <p:cNvSpPr/>
          <p:nvPr/>
        </p:nvSpPr>
        <p:spPr>
          <a:xfrm>
            <a:off x="4713833" y="3740274"/>
            <a:ext cx="4974937" cy="247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9"/>
              </a:lnSpc>
              <a:buNone/>
            </a:pPr>
            <a:r>
              <a:rPr lang="en-US" sz="730" b="1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SLA credits</a:t>
            </a:r>
            <a:pPr algn="l" indent="0" marL="0">
              <a:lnSpc>
                <a:spcPts val="1009"/>
              </a:lnSpc>
              <a:buNone/>
            </a:pPr>
            <a:r>
              <a:rPr lang="en-US" sz="73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uptime &amp; resolution-time commitments per tier, credited automatically from</a:t>
            </a:r>
            <a:endParaRPr lang="en-US" sz="730" dirty="0"/>
          </a:p>
          <a:p>
            <a:pPr algn="l" indent="0" marL="0">
              <a:lnSpc>
                <a:spcPts val="1009"/>
              </a:lnSpc>
              <a:buNone/>
            </a:pPr>
            <a:r>
              <a:rPr lang="en-US" sz="73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metering data</a:t>
            </a:r>
            <a:endParaRPr lang="en-US" sz="730" dirty="0"/>
          </a:p>
        </p:txBody>
      </p:sp>
      <p:sp>
        <p:nvSpPr>
          <p:cNvPr id="43" name="Text 40"/>
          <p:cNvSpPr/>
          <p:nvPr/>
        </p:nvSpPr>
        <p:spPr>
          <a:xfrm>
            <a:off x="4713833" y="4017094"/>
            <a:ext cx="5035012" cy="247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9"/>
              </a:lnSpc>
              <a:buNone/>
            </a:pPr>
            <a:r>
              <a:rPr lang="en-US" sz="730" b="1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Value ratchet</a:t>
            </a:r>
            <a:pPr algn="l" indent="0" marL="0">
              <a:lnSpc>
                <a:spcPts val="1009"/>
              </a:lnSpc>
              <a:buNone/>
            </a:pPr>
            <a:r>
              <a:rPr lang="en-US" sz="73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annual price review indexed to measured deflection &amp; satisfaction, not seat</a:t>
            </a:r>
            <a:endParaRPr lang="en-US" sz="730" dirty="0"/>
          </a:p>
          <a:p>
            <a:pPr algn="l" indent="0" marL="0">
              <a:lnSpc>
                <a:spcPts val="1009"/>
              </a:lnSpc>
              <a:buNone/>
            </a:pPr>
            <a:r>
              <a:rPr lang="en-US" sz="73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count alone</a:t>
            </a:r>
            <a:endParaRPr lang="en-US" sz="73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52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-484"/>
            <a:ext cx="9144000" cy="52388"/>
          </a:xfrm>
          <a:prstGeom prst="rect">
            <a:avLst/>
          </a:prstGeom>
          <a:solidFill>
            <a:srgbClr val="2F81F7"/>
          </a:solidFill>
          <a:ln/>
        </p:spPr>
      </p:sp>
      <p:sp>
        <p:nvSpPr>
          <p:cNvPr id="5" name="Text 2"/>
          <p:cNvSpPr/>
          <p:nvPr/>
        </p:nvSpPr>
        <p:spPr>
          <a:xfrm>
            <a:off x="292596" y="183579"/>
            <a:ext cx="5867541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80" b="1" spc="-40" kern="0" dirty="0">
                <a:solidFill>
                  <a:srgbClr val="E8F1F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Implementation Plan — ~26 Weeks to Full Rollout</a:t>
            </a:r>
            <a:endParaRPr lang="en-US" sz="1580" dirty="0"/>
          </a:p>
        </p:txBody>
      </p:sp>
      <p:sp>
        <p:nvSpPr>
          <p:cNvPr id="6" name="Text 3"/>
          <p:cNvSpPr/>
          <p:nvPr/>
        </p:nvSpPr>
        <p:spPr>
          <a:xfrm>
            <a:off x="6569571" y="278829"/>
            <a:ext cx="3023533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per client onboarding · phases overlap deliberately</a:t>
            </a:r>
            <a:endParaRPr lang="en-US" sz="790" dirty="0"/>
          </a:p>
        </p:txBody>
      </p:sp>
      <p:sp>
        <p:nvSpPr>
          <p:cNvPr id="7" name="Text 4"/>
          <p:cNvSpPr/>
          <p:nvPr/>
        </p:nvSpPr>
        <p:spPr>
          <a:xfrm>
            <a:off x="2487141" y="542925"/>
            <a:ext cx="216575" cy="1095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</a:t>
            </a:r>
            <a:pPr algn="l" indent="0" marL="0">
              <a:buNone/>
            </a:pPr>
            <a:r>
              <a:rPr lang="en-US" sz="65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</a:t>
            </a:r>
            <a:endParaRPr lang="en-US" sz="650" dirty="0"/>
          </a:p>
        </p:txBody>
      </p:sp>
      <p:sp>
        <p:nvSpPr>
          <p:cNvPr id="8" name="Text 5"/>
          <p:cNvSpPr/>
          <p:nvPr/>
        </p:nvSpPr>
        <p:spPr>
          <a:xfrm>
            <a:off x="3396332" y="542925"/>
            <a:ext cx="216575" cy="1095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</a:t>
            </a:r>
            <a:pPr algn="l" indent="0" marL="0">
              <a:buNone/>
            </a:pPr>
            <a:r>
              <a:rPr lang="en-US" sz="65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</a:t>
            </a:r>
            <a:endParaRPr lang="en-US" sz="650" dirty="0"/>
          </a:p>
        </p:txBody>
      </p:sp>
      <p:sp>
        <p:nvSpPr>
          <p:cNvPr id="9" name="Text 6"/>
          <p:cNvSpPr/>
          <p:nvPr/>
        </p:nvSpPr>
        <p:spPr>
          <a:xfrm>
            <a:off x="4305523" y="542925"/>
            <a:ext cx="216575" cy="1095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</a:t>
            </a:r>
            <a:pPr algn="l" indent="0" marL="0">
              <a:buNone/>
            </a:pPr>
            <a:r>
              <a:rPr lang="en-US" sz="65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8</a:t>
            </a:r>
            <a:endParaRPr lang="en-US" sz="650" dirty="0"/>
          </a:p>
        </p:txBody>
      </p:sp>
      <p:sp>
        <p:nvSpPr>
          <p:cNvPr id="10" name="Text 7"/>
          <p:cNvSpPr/>
          <p:nvPr/>
        </p:nvSpPr>
        <p:spPr>
          <a:xfrm>
            <a:off x="5214714" y="542925"/>
            <a:ext cx="280712" cy="1095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</a:t>
            </a:r>
            <a:pPr algn="l" indent="0" marL="0">
              <a:buNone/>
            </a:pPr>
            <a:r>
              <a:rPr lang="en-US" sz="65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12</a:t>
            </a:r>
            <a:endParaRPr lang="en-US" sz="650" dirty="0"/>
          </a:p>
        </p:txBody>
      </p:sp>
      <p:sp>
        <p:nvSpPr>
          <p:cNvPr id="11" name="Text 8"/>
          <p:cNvSpPr/>
          <p:nvPr/>
        </p:nvSpPr>
        <p:spPr>
          <a:xfrm>
            <a:off x="6123905" y="542925"/>
            <a:ext cx="280712" cy="1095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</a:t>
            </a:r>
            <a:pPr algn="l" indent="0" marL="0">
              <a:buNone/>
            </a:pPr>
            <a:r>
              <a:rPr lang="en-US" sz="65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16</a:t>
            </a:r>
            <a:endParaRPr lang="en-US" sz="650" dirty="0"/>
          </a:p>
        </p:txBody>
      </p:sp>
      <p:sp>
        <p:nvSpPr>
          <p:cNvPr id="12" name="Text 9"/>
          <p:cNvSpPr/>
          <p:nvPr/>
        </p:nvSpPr>
        <p:spPr>
          <a:xfrm>
            <a:off x="7033096" y="542925"/>
            <a:ext cx="280712" cy="1095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</a:t>
            </a:r>
            <a:pPr algn="l" indent="0" marL="0">
              <a:buNone/>
            </a:pPr>
            <a:r>
              <a:rPr lang="en-US" sz="65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20</a:t>
            </a:r>
            <a:endParaRPr lang="en-US" sz="650" dirty="0"/>
          </a:p>
        </p:txBody>
      </p:sp>
      <p:sp>
        <p:nvSpPr>
          <p:cNvPr id="13" name="Text 10"/>
          <p:cNvSpPr/>
          <p:nvPr/>
        </p:nvSpPr>
        <p:spPr>
          <a:xfrm>
            <a:off x="7942287" y="542925"/>
            <a:ext cx="280712" cy="1095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</a:t>
            </a:r>
            <a:pPr algn="l" indent="0" marL="0">
              <a:buNone/>
            </a:pPr>
            <a:r>
              <a:rPr lang="en-US" sz="65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24</a:t>
            </a:r>
            <a:endParaRPr lang="en-US" sz="650" dirty="0"/>
          </a:p>
        </p:txBody>
      </p:sp>
      <p:sp>
        <p:nvSpPr>
          <p:cNvPr id="14" name="Shape 11"/>
          <p:cNvSpPr/>
          <p:nvPr/>
        </p:nvSpPr>
        <p:spPr>
          <a:xfrm>
            <a:off x="292894" y="676126"/>
            <a:ext cx="8558213" cy="752475"/>
          </a:xfrm>
          <a:prstGeom prst="rect">
            <a:avLst/>
          </a:prstGeom>
          <a:ln/>
        </p:spPr>
      </p:sp>
      <p:sp>
        <p:nvSpPr>
          <p:cNvPr id="15" name="Text 12"/>
          <p:cNvSpPr/>
          <p:nvPr/>
        </p:nvSpPr>
        <p:spPr>
          <a:xfrm>
            <a:off x="292596" y="916856"/>
            <a:ext cx="604302" cy="1095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80" b="1" spc="17" kern="0" dirty="0">
                <a:solidFill>
                  <a:srgbClr val="8AA3C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DISCOVER</a:t>
            </a:r>
            <a:endParaRPr lang="en-US" sz="680" dirty="0"/>
          </a:p>
        </p:txBody>
      </p:sp>
      <p:sp>
        <p:nvSpPr>
          <p:cNvPr id="16" name="Text 13"/>
          <p:cNvSpPr/>
          <p:nvPr/>
        </p:nvSpPr>
        <p:spPr>
          <a:xfrm>
            <a:off x="749796" y="855741"/>
            <a:ext cx="2020937" cy="2333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0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Discovery: intents, volumes, policies,</a:t>
            </a:r>
            <a:endParaRPr lang="en-US" sz="720" dirty="0"/>
          </a:p>
          <a:p>
            <a:pPr algn="l" indent="0" marL="0">
              <a:lnSpc>
                <a:spcPts val="900"/>
              </a:lnSpc>
              <a:buNone/>
            </a:pPr>
            <a:r>
              <a:rPr lang="en-US" sz="720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systems</a:t>
            </a:r>
            <a:endParaRPr lang="en-US" sz="720" dirty="0"/>
          </a:p>
        </p:txBody>
      </p:sp>
      <p:sp>
        <p:nvSpPr>
          <p:cNvPr id="17" name="Shape 14"/>
          <p:cNvSpPr/>
          <p:nvPr/>
        </p:nvSpPr>
        <p:spPr>
          <a:xfrm>
            <a:off x="3466207" y="889136"/>
            <a:ext cx="4763" cy="166688"/>
          </a:xfrm>
          <a:prstGeom prst="rect">
            <a:avLst/>
          </a:prstGeom>
          <a:solidFill>
            <a:srgbClr val="1C3050"/>
          </a:solidFill>
          <a:ln/>
        </p:spPr>
      </p:sp>
      <p:sp>
        <p:nvSpPr>
          <p:cNvPr id="18" name="Shape 15"/>
          <p:cNvSpPr/>
          <p:nvPr/>
        </p:nvSpPr>
        <p:spPr>
          <a:xfrm>
            <a:off x="4445347" y="889136"/>
            <a:ext cx="4763" cy="166688"/>
          </a:xfrm>
          <a:prstGeom prst="rect">
            <a:avLst/>
          </a:prstGeom>
          <a:solidFill>
            <a:srgbClr val="1C3050"/>
          </a:solidFill>
          <a:ln/>
        </p:spPr>
      </p:sp>
      <p:sp>
        <p:nvSpPr>
          <p:cNvPr id="19" name="Shape 16"/>
          <p:cNvSpPr/>
          <p:nvPr/>
        </p:nvSpPr>
        <p:spPr>
          <a:xfrm>
            <a:off x="5424487" y="889136"/>
            <a:ext cx="4763" cy="166688"/>
          </a:xfrm>
          <a:prstGeom prst="rect">
            <a:avLst/>
          </a:prstGeom>
          <a:solidFill>
            <a:srgbClr val="1C3050"/>
          </a:solidFill>
          <a:ln/>
        </p:spPr>
      </p:sp>
      <p:sp>
        <p:nvSpPr>
          <p:cNvPr id="20" name="Shape 17"/>
          <p:cNvSpPr/>
          <p:nvPr/>
        </p:nvSpPr>
        <p:spPr>
          <a:xfrm>
            <a:off x="6403553" y="889136"/>
            <a:ext cx="4763" cy="166688"/>
          </a:xfrm>
          <a:prstGeom prst="rect">
            <a:avLst/>
          </a:prstGeom>
          <a:solidFill>
            <a:srgbClr val="1C3050"/>
          </a:solidFill>
          <a:ln/>
        </p:spPr>
      </p:sp>
      <p:sp>
        <p:nvSpPr>
          <p:cNvPr id="21" name="Shape 18"/>
          <p:cNvSpPr/>
          <p:nvPr/>
        </p:nvSpPr>
        <p:spPr>
          <a:xfrm>
            <a:off x="7382694" y="889136"/>
            <a:ext cx="4763" cy="166688"/>
          </a:xfrm>
          <a:prstGeom prst="rect">
            <a:avLst/>
          </a:prstGeom>
          <a:solidFill>
            <a:srgbClr val="1C3050"/>
          </a:solidFill>
          <a:ln/>
        </p:spPr>
      </p:sp>
      <p:sp>
        <p:nvSpPr>
          <p:cNvPr id="22" name="Shape 19"/>
          <p:cNvSpPr/>
          <p:nvPr/>
        </p:nvSpPr>
        <p:spPr>
          <a:xfrm>
            <a:off x="8361834" y="889136"/>
            <a:ext cx="4763" cy="166688"/>
          </a:xfrm>
          <a:prstGeom prst="rect">
            <a:avLst/>
          </a:prstGeom>
          <a:solidFill>
            <a:srgbClr val="1C3050"/>
          </a:solidFill>
          <a:ln/>
        </p:spPr>
      </p:sp>
      <p:sp>
        <p:nvSpPr>
          <p:cNvPr id="23" name="Shape 20"/>
          <p:cNvSpPr/>
          <p:nvPr/>
        </p:nvSpPr>
        <p:spPr>
          <a:xfrm>
            <a:off x="2486137" y="915330"/>
            <a:ext cx="981075" cy="114300"/>
          </a:xfrm>
          <a:prstGeom prst="roundRect">
            <a:avLst>
              <a:gd name="adj" fmla="val 50000"/>
            </a:avLst>
          </a:prstGeom>
          <a:solidFill>
            <a:srgbClr val="7AC9F5">
              <a:alpha val="85000"/>
            </a:srgbClr>
          </a:solidFill>
          <a:ln/>
        </p:spPr>
      </p:sp>
      <p:sp>
        <p:nvSpPr>
          <p:cNvPr id="24" name="Text 21"/>
          <p:cNvSpPr/>
          <p:nvPr/>
        </p:nvSpPr>
        <p:spPr>
          <a:xfrm>
            <a:off x="749796" y="1095598"/>
            <a:ext cx="2172333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Solution design &amp; isolation-tier decision</a:t>
            </a:r>
            <a:endParaRPr lang="en-US" sz="720" dirty="0"/>
          </a:p>
        </p:txBody>
      </p:sp>
      <p:sp>
        <p:nvSpPr>
          <p:cNvPr id="25" name="Shape 22"/>
          <p:cNvSpPr/>
          <p:nvPr/>
        </p:nvSpPr>
        <p:spPr>
          <a:xfrm>
            <a:off x="3466207" y="1074204"/>
            <a:ext cx="4763" cy="166688"/>
          </a:xfrm>
          <a:prstGeom prst="rect">
            <a:avLst/>
          </a:prstGeom>
          <a:solidFill>
            <a:srgbClr val="1C3050"/>
          </a:solidFill>
          <a:ln/>
        </p:spPr>
      </p:sp>
      <p:sp>
        <p:nvSpPr>
          <p:cNvPr id="26" name="Shape 23"/>
          <p:cNvSpPr/>
          <p:nvPr/>
        </p:nvSpPr>
        <p:spPr>
          <a:xfrm>
            <a:off x="4445347" y="1074204"/>
            <a:ext cx="4763" cy="166688"/>
          </a:xfrm>
          <a:prstGeom prst="rect">
            <a:avLst/>
          </a:prstGeom>
          <a:solidFill>
            <a:srgbClr val="1C3050"/>
          </a:solidFill>
          <a:ln/>
        </p:spPr>
      </p:sp>
      <p:sp>
        <p:nvSpPr>
          <p:cNvPr id="27" name="Shape 24"/>
          <p:cNvSpPr/>
          <p:nvPr/>
        </p:nvSpPr>
        <p:spPr>
          <a:xfrm>
            <a:off x="5424487" y="1074204"/>
            <a:ext cx="4763" cy="166688"/>
          </a:xfrm>
          <a:prstGeom prst="rect">
            <a:avLst/>
          </a:prstGeom>
          <a:solidFill>
            <a:srgbClr val="1C3050"/>
          </a:solidFill>
          <a:ln/>
        </p:spPr>
      </p:sp>
      <p:sp>
        <p:nvSpPr>
          <p:cNvPr id="28" name="Shape 25"/>
          <p:cNvSpPr/>
          <p:nvPr/>
        </p:nvSpPr>
        <p:spPr>
          <a:xfrm>
            <a:off x="6403553" y="1074204"/>
            <a:ext cx="4763" cy="166688"/>
          </a:xfrm>
          <a:prstGeom prst="rect">
            <a:avLst/>
          </a:prstGeom>
          <a:solidFill>
            <a:srgbClr val="1C3050"/>
          </a:solidFill>
          <a:ln/>
        </p:spPr>
      </p:sp>
      <p:sp>
        <p:nvSpPr>
          <p:cNvPr id="29" name="Shape 26"/>
          <p:cNvSpPr/>
          <p:nvPr/>
        </p:nvSpPr>
        <p:spPr>
          <a:xfrm>
            <a:off x="7382694" y="1074204"/>
            <a:ext cx="4763" cy="166688"/>
          </a:xfrm>
          <a:prstGeom prst="rect">
            <a:avLst/>
          </a:prstGeom>
          <a:solidFill>
            <a:srgbClr val="1C3050"/>
          </a:solidFill>
          <a:ln/>
        </p:spPr>
      </p:sp>
      <p:sp>
        <p:nvSpPr>
          <p:cNvPr id="30" name="Shape 27"/>
          <p:cNvSpPr/>
          <p:nvPr/>
        </p:nvSpPr>
        <p:spPr>
          <a:xfrm>
            <a:off x="8361834" y="1074204"/>
            <a:ext cx="4763" cy="166688"/>
          </a:xfrm>
          <a:prstGeom prst="rect">
            <a:avLst/>
          </a:prstGeom>
          <a:solidFill>
            <a:srgbClr val="1C3050"/>
          </a:solidFill>
          <a:ln/>
        </p:spPr>
      </p:sp>
      <p:sp>
        <p:nvSpPr>
          <p:cNvPr id="31" name="Shape 28"/>
          <p:cNvSpPr/>
          <p:nvPr/>
        </p:nvSpPr>
        <p:spPr>
          <a:xfrm>
            <a:off x="2977083" y="1100398"/>
            <a:ext cx="733425" cy="114300"/>
          </a:xfrm>
          <a:prstGeom prst="roundRect">
            <a:avLst>
              <a:gd name="adj" fmla="val 50000"/>
            </a:avLst>
          </a:prstGeom>
          <a:solidFill>
            <a:srgbClr val="7AC9F5">
              <a:alpha val="85000"/>
            </a:srgbClr>
          </a:solidFill>
          <a:ln/>
        </p:spPr>
      </p:sp>
      <p:sp>
        <p:nvSpPr>
          <p:cNvPr id="32" name="Shape 29"/>
          <p:cNvSpPr/>
          <p:nvPr/>
        </p:nvSpPr>
        <p:spPr>
          <a:xfrm>
            <a:off x="292894" y="1452488"/>
            <a:ext cx="8558213" cy="752475"/>
          </a:xfrm>
          <a:prstGeom prst="rect">
            <a:avLst/>
          </a:prstGeom>
          <a:ln/>
        </p:spPr>
      </p:sp>
      <p:sp>
        <p:nvSpPr>
          <p:cNvPr id="33" name="Text 30"/>
          <p:cNvSpPr/>
          <p:nvPr/>
        </p:nvSpPr>
        <p:spPr>
          <a:xfrm>
            <a:off x="292596" y="1600646"/>
            <a:ext cx="759857" cy="1095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80" b="1" spc="17" kern="0" dirty="0">
                <a:solidFill>
                  <a:srgbClr val="8AA3C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FOUNDATION</a:t>
            </a:r>
            <a:endParaRPr lang="en-US" sz="680" dirty="0"/>
          </a:p>
        </p:txBody>
      </p:sp>
      <p:sp>
        <p:nvSpPr>
          <p:cNvPr id="34" name="Text 31"/>
          <p:cNvSpPr/>
          <p:nvPr/>
        </p:nvSpPr>
        <p:spPr>
          <a:xfrm>
            <a:off x="749796" y="1539532"/>
            <a:ext cx="1827751" cy="2333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0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Landing zone, network, identity &amp;</a:t>
            </a:r>
            <a:endParaRPr lang="en-US" sz="720" dirty="0"/>
          </a:p>
          <a:p>
            <a:pPr algn="l" indent="0" marL="0">
              <a:lnSpc>
                <a:spcPts val="900"/>
              </a:lnSpc>
              <a:buNone/>
            </a:pPr>
            <a:r>
              <a:rPr lang="en-US" sz="720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security</a:t>
            </a:r>
            <a:endParaRPr lang="en-US" sz="720" dirty="0"/>
          </a:p>
        </p:txBody>
      </p:sp>
      <p:sp>
        <p:nvSpPr>
          <p:cNvPr id="35" name="Shape 32"/>
          <p:cNvSpPr/>
          <p:nvPr/>
        </p:nvSpPr>
        <p:spPr>
          <a:xfrm>
            <a:off x="3466207" y="1572927"/>
            <a:ext cx="4763" cy="166688"/>
          </a:xfrm>
          <a:prstGeom prst="rect">
            <a:avLst/>
          </a:prstGeom>
          <a:solidFill>
            <a:srgbClr val="1C3050"/>
          </a:solidFill>
          <a:ln/>
        </p:spPr>
      </p:sp>
      <p:sp>
        <p:nvSpPr>
          <p:cNvPr id="36" name="Shape 33"/>
          <p:cNvSpPr/>
          <p:nvPr/>
        </p:nvSpPr>
        <p:spPr>
          <a:xfrm>
            <a:off x="4445347" y="1572927"/>
            <a:ext cx="4763" cy="166688"/>
          </a:xfrm>
          <a:prstGeom prst="rect">
            <a:avLst/>
          </a:prstGeom>
          <a:solidFill>
            <a:srgbClr val="1C3050"/>
          </a:solidFill>
          <a:ln/>
        </p:spPr>
      </p:sp>
      <p:sp>
        <p:nvSpPr>
          <p:cNvPr id="37" name="Shape 34"/>
          <p:cNvSpPr/>
          <p:nvPr/>
        </p:nvSpPr>
        <p:spPr>
          <a:xfrm>
            <a:off x="5424487" y="1572927"/>
            <a:ext cx="4763" cy="166688"/>
          </a:xfrm>
          <a:prstGeom prst="rect">
            <a:avLst/>
          </a:prstGeom>
          <a:solidFill>
            <a:srgbClr val="1C3050"/>
          </a:solidFill>
          <a:ln/>
        </p:spPr>
      </p:sp>
      <p:sp>
        <p:nvSpPr>
          <p:cNvPr id="38" name="Shape 35"/>
          <p:cNvSpPr/>
          <p:nvPr/>
        </p:nvSpPr>
        <p:spPr>
          <a:xfrm>
            <a:off x="6403553" y="1572927"/>
            <a:ext cx="4763" cy="166688"/>
          </a:xfrm>
          <a:prstGeom prst="rect">
            <a:avLst/>
          </a:prstGeom>
          <a:solidFill>
            <a:srgbClr val="1C3050"/>
          </a:solidFill>
          <a:ln/>
        </p:spPr>
      </p:sp>
      <p:sp>
        <p:nvSpPr>
          <p:cNvPr id="39" name="Shape 36"/>
          <p:cNvSpPr/>
          <p:nvPr/>
        </p:nvSpPr>
        <p:spPr>
          <a:xfrm>
            <a:off x="7382694" y="1572927"/>
            <a:ext cx="4763" cy="166688"/>
          </a:xfrm>
          <a:prstGeom prst="rect">
            <a:avLst/>
          </a:prstGeom>
          <a:solidFill>
            <a:srgbClr val="1C3050"/>
          </a:solidFill>
          <a:ln/>
        </p:spPr>
      </p:sp>
      <p:sp>
        <p:nvSpPr>
          <p:cNvPr id="40" name="Shape 37"/>
          <p:cNvSpPr/>
          <p:nvPr/>
        </p:nvSpPr>
        <p:spPr>
          <a:xfrm>
            <a:off x="8361834" y="1572927"/>
            <a:ext cx="4763" cy="166688"/>
          </a:xfrm>
          <a:prstGeom prst="rect">
            <a:avLst/>
          </a:prstGeom>
          <a:solidFill>
            <a:srgbClr val="1C3050"/>
          </a:solidFill>
          <a:ln/>
        </p:spPr>
      </p:sp>
      <p:sp>
        <p:nvSpPr>
          <p:cNvPr id="41" name="Shape 38"/>
          <p:cNvSpPr/>
          <p:nvPr/>
        </p:nvSpPr>
        <p:spPr>
          <a:xfrm>
            <a:off x="3221422" y="1599121"/>
            <a:ext cx="1223962" cy="114300"/>
          </a:xfrm>
          <a:prstGeom prst="roundRect">
            <a:avLst>
              <a:gd name="adj" fmla="val 50000"/>
            </a:avLst>
          </a:prstGeom>
          <a:solidFill>
            <a:srgbClr val="8FD6A8">
              <a:alpha val="85000"/>
            </a:srgbClr>
          </a:solidFill>
          <a:ln/>
        </p:spPr>
      </p:sp>
      <p:sp>
        <p:nvSpPr>
          <p:cNvPr id="42" name="Text 39"/>
          <p:cNvSpPr/>
          <p:nvPr/>
        </p:nvSpPr>
        <p:spPr>
          <a:xfrm>
            <a:off x="749796" y="1779389"/>
            <a:ext cx="1960379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HCM / payroll / ticketing connectors</a:t>
            </a:r>
            <a:endParaRPr lang="en-US" sz="720" dirty="0"/>
          </a:p>
        </p:txBody>
      </p:sp>
      <p:sp>
        <p:nvSpPr>
          <p:cNvPr id="43" name="Shape 40"/>
          <p:cNvSpPr/>
          <p:nvPr/>
        </p:nvSpPr>
        <p:spPr>
          <a:xfrm>
            <a:off x="3466207" y="1757995"/>
            <a:ext cx="4763" cy="166688"/>
          </a:xfrm>
          <a:prstGeom prst="rect">
            <a:avLst/>
          </a:prstGeom>
          <a:solidFill>
            <a:srgbClr val="1C3050"/>
          </a:solidFill>
          <a:ln/>
        </p:spPr>
      </p:sp>
      <p:sp>
        <p:nvSpPr>
          <p:cNvPr id="44" name="Shape 41"/>
          <p:cNvSpPr/>
          <p:nvPr/>
        </p:nvSpPr>
        <p:spPr>
          <a:xfrm>
            <a:off x="4445347" y="1757995"/>
            <a:ext cx="4763" cy="166688"/>
          </a:xfrm>
          <a:prstGeom prst="rect">
            <a:avLst/>
          </a:prstGeom>
          <a:solidFill>
            <a:srgbClr val="1C3050"/>
          </a:solidFill>
          <a:ln/>
        </p:spPr>
      </p:sp>
      <p:sp>
        <p:nvSpPr>
          <p:cNvPr id="45" name="Shape 42"/>
          <p:cNvSpPr/>
          <p:nvPr/>
        </p:nvSpPr>
        <p:spPr>
          <a:xfrm>
            <a:off x="5424487" y="1757995"/>
            <a:ext cx="4763" cy="166688"/>
          </a:xfrm>
          <a:prstGeom prst="rect">
            <a:avLst/>
          </a:prstGeom>
          <a:solidFill>
            <a:srgbClr val="1C3050"/>
          </a:solidFill>
          <a:ln/>
        </p:spPr>
      </p:sp>
      <p:sp>
        <p:nvSpPr>
          <p:cNvPr id="46" name="Shape 43"/>
          <p:cNvSpPr/>
          <p:nvPr/>
        </p:nvSpPr>
        <p:spPr>
          <a:xfrm>
            <a:off x="6403553" y="1757995"/>
            <a:ext cx="4763" cy="166688"/>
          </a:xfrm>
          <a:prstGeom prst="rect">
            <a:avLst/>
          </a:prstGeom>
          <a:solidFill>
            <a:srgbClr val="1C3050"/>
          </a:solidFill>
          <a:ln/>
        </p:spPr>
      </p:sp>
      <p:sp>
        <p:nvSpPr>
          <p:cNvPr id="47" name="Shape 44"/>
          <p:cNvSpPr/>
          <p:nvPr/>
        </p:nvSpPr>
        <p:spPr>
          <a:xfrm>
            <a:off x="7382694" y="1757995"/>
            <a:ext cx="4763" cy="166688"/>
          </a:xfrm>
          <a:prstGeom prst="rect">
            <a:avLst/>
          </a:prstGeom>
          <a:solidFill>
            <a:srgbClr val="1C3050"/>
          </a:solidFill>
          <a:ln/>
        </p:spPr>
      </p:sp>
      <p:sp>
        <p:nvSpPr>
          <p:cNvPr id="48" name="Shape 45"/>
          <p:cNvSpPr/>
          <p:nvPr/>
        </p:nvSpPr>
        <p:spPr>
          <a:xfrm>
            <a:off x="8361834" y="1757995"/>
            <a:ext cx="4763" cy="166688"/>
          </a:xfrm>
          <a:prstGeom prst="rect">
            <a:avLst/>
          </a:prstGeom>
          <a:solidFill>
            <a:srgbClr val="1C3050"/>
          </a:solidFill>
          <a:ln/>
        </p:spPr>
      </p:sp>
      <p:sp>
        <p:nvSpPr>
          <p:cNvPr id="49" name="Shape 46"/>
          <p:cNvSpPr/>
          <p:nvPr/>
        </p:nvSpPr>
        <p:spPr>
          <a:xfrm>
            <a:off x="3710471" y="1784189"/>
            <a:ext cx="1714500" cy="114300"/>
          </a:xfrm>
          <a:prstGeom prst="roundRect">
            <a:avLst>
              <a:gd name="adj" fmla="val 50000"/>
            </a:avLst>
          </a:prstGeom>
          <a:solidFill>
            <a:srgbClr val="8FD6A8">
              <a:alpha val="85000"/>
            </a:srgbClr>
          </a:solidFill>
          <a:ln/>
        </p:spPr>
      </p:sp>
      <p:sp>
        <p:nvSpPr>
          <p:cNvPr id="50" name="Text 47"/>
          <p:cNvSpPr/>
          <p:nvPr/>
        </p:nvSpPr>
        <p:spPr>
          <a:xfrm>
            <a:off x="749796" y="1909667"/>
            <a:ext cx="1846034" cy="2333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0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Policy library import &amp; knowledge</a:t>
            </a:r>
            <a:endParaRPr lang="en-US" sz="720" dirty="0"/>
          </a:p>
          <a:p>
            <a:pPr algn="l" indent="0" marL="0">
              <a:lnSpc>
                <a:spcPts val="900"/>
              </a:lnSpc>
              <a:buNone/>
            </a:pPr>
            <a:r>
              <a:rPr lang="en-US" sz="720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indexing</a:t>
            </a:r>
            <a:endParaRPr lang="en-US" sz="720" dirty="0"/>
          </a:p>
        </p:txBody>
      </p:sp>
      <p:sp>
        <p:nvSpPr>
          <p:cNvPr id="51" name="Shape 48"/>
          <p:cNvSpPr/>
          <p:nvPr/>
        </p:nvSpPr>
        <p:spPr>
          <a:xfrm>
            <a:off x="3466207" y="1943063"/>
            <a:ext cx="4763" cy="166688"/>
          </a:xfrm>
          <a:prstGeom prst="rect">
            <a:avLst/>
          </a:prstGeom>
          <a:solidFill>
            <a:srgbClr val="1C3050"/>
          </a:solidFill>
          <a:ln/>
        </p:spPr>
      </p:sp>
      <p:sp>
        <p:nvSpPr>
          <p:cNvPr id="52" name="Shape 49"/>
          <p:cNvSpPr/>
          <p:nvPr/>
        </p:nvSpPr>
        <p:spPr>
          <a:xfrm>
            <a:off x="4445347" y="1943063"/>
            <a:ext cx="4763" cy="166688"/>
          </a:xfrm>
          <a:prstGeom prst="rect">
            <a:avLst/>
          </a:prstGeom>
          <a:solidFill>
            <a:srgbClr val="1C3050"/>
          </a:solidFill>
          <a:ln/>
        </p:spPr>
      </p:sp>
      <p:sp>
        <p:nvSpPr>
          <p:cNvPr id="53" name="Shape 50"/>
          <p:cNvSpPr/>
          <p:nvPr/>
        </p:nvSpPr>
        <p:spPr>
          <a:xfrm>
            <a:off x="5424487" y="1943063"/>
            <a:ext cx="4763" cy="166688"/>
          </a:xfrm>
          <a:prstGeom prst="rect">
            <a:avLst/>
          </a:prstGeom>
          <a:solidFill>
            <a:srgbClr val="1C3050"/>
          </a:solidFill>
          <a:ln/>
        </p:spPr>
      </p:sp>
      <p:sp>
        <p:nvSpPr>
          <p:cNvPr id="54" name="Shape 51"/>
          <p:cNvSpPr/>
          <p:nvPr/>
        </p:nvSpPr>
        <p:spPr>
          <a:xfrm>
            <a:off x="6403553" y="1943063"/>
            <a:ext cx="4763" cy="166688"/>
          </a:xfrm>
          <a:prstGeom prst="rect">
            <a:avLst/>
          </a:prstGeom>
          <a:solidFill>
            <a:srgbClr val="1C3050"/>
          </a:solidFill>
          <a:ln/>
        </p:spPr>
      </p:sp>
      <p:sp>
        <p:nvSpPr>
          <p:cNvPr id="55" name="Shape 52"/>
          <p:cNvSpPr/>
          <p:nvPr/>
        </p:nvSpPr>
        <p:spPr>
          <a:xfrm>
            <a:off x="7382694" y="1943063"/>
            <a:ext cx="4763" cy="166688"/>
          </a:xfrm>
          <a:prstGeom prst="rect">
            <a:avLst/>
          </a:prstGeom>
          <a:solidFill>
            <a:srgbClr val="1C3050"/>
          </a:solidFill>
          <a:ln/>
        </p:spPr>
      </p:sp>
      <p:sp>
        <p:nvSpPr>
          <p:cNvPr id="56" name="Shape 53"/>
          <p:cNvSpPr/>
          <p:nvPr/>
        </p:nvSpPr>
        <p:spPr>
          <a:xfrm>
            <a:off x="8361834" y="1943063"/>
            <a:ext cx="4763" cy="166688"/>
          </a:xfrm>
          <a:prstGeom prst="rect">
            <a:avLst/>
          </a:prstGeom>
          <a:solidFill>
            <a:srgbClr val="1C3050"/>
          </a:solidFill>
          <a:ln/>
        </p:spPr>
      </p:sp>
      <p:sp>
        <p:nvSpPr>
          <p:cNvPr id="57" name="Shape 54"/>
          <p:cNvSpPr/>
          <p:nvPr/>
        </p:nvSpPr>
        <p:spPr>
          <a:xfrm>
            <a:off x="3955740" y="1969257"/>
            <a:ext cx="1223962" cy="114300"/>
          </a:xfrm>
          <a:prstGeom prst="roundRect">
            <a:avLst>
              <a:gd name="adj" fmla="val 50000"/>
            </a:avLst>
          </a:prstGeom>
          <a:solidFill>
            <a:srgbClr val="8FD6A8">
              <a:alpha val="85000"/>
            </a:srgbClr>
          </a:solidFill>
          <a:ln/>
        </p:spPr>
      </p:sp>
      <p:sp>
        <p:nvSpPr>
          <p:cNvPr id="58" name="Shape 55"/>
          <p:cNvSpPr/>
          <p:nvPr/>
        </p:nvSpPr>
        <p:spPr>
          <a:xfrm>
            <a:off x="292894" y="2228850"/>
            <a:ext cx="8558213" cy="752475"/>
          </a:xfrm>
          <a:prstGeom prst="rect">
            <a:avLst/>
          </a:prstGeom>
          <a:ln/>
        </p:spPr>
      </p:sp>
      <p:sp>
        <p:nvSpPr>
          <p:cNvPr id="59" name="Text 56"/>
          <p:cNvSpPr/>
          <p:nvPr/>
        </p:nvSpPr>
        <p:spPr>
          <a:xfrm>
            <a:off x="292596" y="2377008"/>
            <a:ext cx="388285" cy="1095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80" b="1" spc="17" kern="0" dirty="0">
                <a:solidFill>
                  <a:srgbClr val="8AA3C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BUILD</a:t>
            </a:r>
            <a:endParaRPr lang="en-US" sz="680" dirty="0"/>
          </a:p>
        </p:txBody>
      </p:sp>
      <p:sp>
        <p:nvSpPr>
          <p:cNvPr id="60" name="Text 57"/>
          <p:cNvSpPr/>
          <p:nvPr/>
        </p:nvSpPr>
        <p:spPr>
          <a:xfrm>
            <a:off x="749796" y="2315894"/>
            <a:ext cx="1902336" cy="2333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0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Deterministic flows (payslip, leave,</a:t>
            </a:r>
            <a:endParaRPr lang="en-US" sz="720" dirty="0"/>
          </a:p>
          <a:p>
            <a:pPr algn="l" indent="0" marL="0">
              <a:lnSpc>
                <a:spcPts val="900"/>
              </a:lnSpc>
              <a:buNone/>
            </a:pPr>
            <a:r>
              <a:rPr lang="en-US" sz="720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letters)</a:t>
            </a:r>
            <a:endParaRPr lang="en-US" sz="720" dirty="0"/>
          </a:p>
        </p:txBody>
      </p:sp>
      <p:sp>
        <p:nvSpPr>
          <p:cNvPr id="61" name="Shape 58"/>
          <p:cNvSpPr/>
          <p:nvPr/>
        </p:nvSpPr>
        <p:spPr>
          <a:xfrm>
            <a:off x="3466207" y="2349289"/>
            <a:ext cx="4763" cy="166688"/>
          </a:xfrm>
          <a:prstGeom prst="rect">
            <a:avLst/>
          </a:prstGeom>
          <a:solidFill>
            <a:srgbClr val="1C3050"/>
          </a:solidFill>
          <a:ln/>
        </p:spPr>
      </p:sp>
      <p:sp>
        <p:nvSpPr>
          <p:cNvPr id="62" name="Shape 59"/>
          <p:cNvSpPr/>
          <p:nvPr/>
        </p:nvSpPr>
        <p:spPr>
          <a:xfrm>
            <a:off x="4445347" y="2349289"/>
            <a:ext cx="4763" cy="166688"/>
          </a:xfrm>
          <a:prstGeom prst="rect">
            <a:avLst/>
          </a:prstGeom>
          <a:solidFill>
            <a:srgbClr val="1C3050"/>
          </a:solidFill>
          <a:ln/>
        </p:spPr>
      </p:sp>
      <p:sp>
        <p:nvSpPr>
          <p:cNvPr id="63" name="Shape 60"/>
          <p:cNvSpPr/>
          <p:nvPr/>
        </p:nvSpPr>
        <p:spPr>
          <a:xfrm>
            <a:off x="5424487" y="2349289"/>
            <a:ext cx="4763" cy="166688"/>
          </a:xfrm>
          <a:prstGeom prst="rect">
            <a:avLst/>
          </a:prstGeom>
          <a:solidFill>
            <a:srgbClr val="1C3050"/>
          </a:solidFill>
          <a:ln/>
        </p:spPr>
      </p:sp>
      <p:sp>
        <p:nvSpPr>
          <p:cNvPr id="64" name="Shape 61"/>
          <p:cNvSpPr/>
          <p:nvPr/>
        </p:nvSpPr>
        <p:spPr>
          <a:xfrm>
            <a:off x="6403553" y="2349289"/>
            <a:ext cx="4763" cy="166688"/>
          </a:xfrm>
          <a:prstGeom prst="rect">
            <a:avLst/>
          </a:prstGeom>
          <a:solidFill>
            <a:srgbClr val="1C3050"/>
          </a:solidFill>
          <a:ln/>
        </p:spPr>
      </p:sp>
      <p:sp>
        <p:nvSpPr>
          <p:cNvPr id="65" name="Shape 62"/>
          <p:cNvSpPr/>
          <p:nvPr/>
        </p:nvSpPr>
        <p:spPr>
          <a:xfrm>
            <a:off x="7382694" y="2349289"/>
            <a:ext cx="4763" cy="166688"/>
          </a:xfrm>
          <a:prstGeom prst="rect">
            <a:avLst/>
          </a:prstGeom>
          <a:solidFill>
            <a:srgbClr val="1C3050"/>
          </a:solidFill>
          <a:ln/>
        </p:spPr>
      </p:sp>
      <p:sp>
        <p:nvSpPr>
          <p:cNvPr id="66" name="Shape 63"/>
          <p:cNvSpPr/>
          <p:nvPr/>
        </p:nvSpPr>
        <p:spPr>
          <a:xfrm>
            <a:off x="8361834" y="2349289"/>
            <a:ext cx="4763" cy="166688"/>
          </a:xfrm>
          <a:prstGeom prst="rect">
            <a:avLst/>
          </a:prstGeom>
          <a:solidFill>
            <a:srgbClr val="1C3050"/>
          </a:solidFill>
          <a:ln/>
        </p:spPr>
      </p:sp>
      <p:sp>
        <p:nvSpPr>
          <p:cNvPr id="67" name="Shape 64"/>
          <p:cNvSpPr/>
          <p:nvPr/>
        </p:nvSpPr>
        <p:spPr>
          <a:xfrm>
            <a:off x="4445310" y="2375483"/>
            <a:ext cx="1223962" cy="114300"/>
          </a:xfrm>
          <a:prstGeom prst="roundRect">
            <a:avLst>
              <a:gd name="adj" fmla="val 50000"/>
            </a:avLst>
          </a:prstGeom>
          <a:solidFill>
            <a:srgbClr val="D9B36A">
              <a:alpha val="85000"/>
            </a:srgbClr>
          </a:solidFill>
          <a:ln/>
        </p:spPr>
      </p:sp>
      <p:sp>
        <p:nvSpPr>
          <p:cNvPr id="68" name="Text 65"/>
          <p:cNvSpPr/>
          <p:nvPr/>
        </p:nvSpPr>
        <p:spPr>
          <a:xfrm>
            <a:off x="749796" y="2555751"/>
            <a:ext cx="1688931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Knowledge &amp; policy Q&amp;A flows</a:t>
            </a:r>
            <a:endParaRPr lang="en-US" sz="720" dirty="0"/>
          </a:p>
        </p:txBody>
      </p:sp>
      <p:sp>
        <p:nvSpPr>
          <p:cNvPr id="69" name="Shape 66"/>
          <p:cNvSpPr/>
          <p:nvPr/>
        </p:nvSpPr>
        <p:spPr>
          <a:xfrm>
            <a:off x="3466207" y="2534357"/>
            <a:ext cx="4763" cy="166688"/>
          </a:xfrm>
          <a:prstGeom prst="rect">
            <a:avLst/>
          </a:prstGeom>
          <a:solidFill>
            <a:srgbClr val="1C3050"/>
          </a:solidFill>
          <a:ln/>
        </p:spPr>
      </p:sp>
      <p:sp>
        <p:nvSpPr>
          <p:cNvPr id="70" name="Shape 67"/>
          <p:cNvSpPr/>
          <p:nvPr/>
        </p:nvSpPr>
        <p:spPr>
          <a:xfrm>
            <a:off x="4445347" y="2534357"/>
            <a:ext cx="4763" cy="166688"/>
          </a:xfrm>
          <a:prstGeom prst="rect">
            <a:avLst/>
          </a:prstGeom>
          <a:solidFill>
            <a:srgbClr val="1C3050"/>
          </a:solidFill>
          <a:ln/>
        </p:spPr>
      </p:sp>
      <p:sp>
        <p:nvSpPr>
          <p:cNvPr id="71" name="Shape 68"/>
          <p:cNvSpPr/>
          <p:nvPr/>
        </p:nvSpPr>
        <p:spPr>
          <a:xfrm>
            <a:off x="5424487" y="2534357"/>
            <a:ext cx="4763" cy="166688"/>
          </a:xfrm>
          <a:prstGeom prst="rect">
            <a:avLst/>
          </a:prstGeom>
          <a:solidFill>
            <a:srgbClr val="1C3050"/>
          </a:solidFill>
          <a:ln/>
        </p:spPr>
      </p:sp>
      <p:sp>
        <p:nvSpPr>
          <p:cNvPr id="72" name="Shape 69"/>
          <p:cNvSpPr/>
          <p:nvPr/>
        </p:nvSpPr>
        <p:spPr>
          <a:xfrm>
            <a:off x="6403553" y="2534357"/>
            <a:ext cx="4763" cy="166688"/>
          </a:xfrm>
          <a:prstGeom prst="rect">
            <a:avLst/>
          </a:prstGeom>
          <a:solidFill>
            <a:srgbClr val="1C3050"/>
          </a:solidFill>
          <a:ln/>
        </p:spPr>
      </p:sp>
      <p:sp>
        <p:nvSpPr>
          <p:cNvPr id="73" name="Shape 70"/>
          <p:cNvSpPr/>
          <p:nvPr/>
        </p:nvSpPr>
        <p:spPr>
          <a:xfrm>
            <a:off x="7382694" y="2534357"/>
            <a:ext cx="4763" cy="166688"/>
          </a:xfrm>
          <a:prstGeom prst="rect">
            <a:avLst/>
          </a:prstGeom>
          <a:solidFill>
            <a:srgbClr val="1C3050"/>
          </a:solidFill>
          <a:ln/>
        </p:spPr>
      </p:sp>
      <p:sp>
        <p:nvSpPr>
          <p:cNvPr id="74" name="Shape 71"/>
          <p:cNvSpPr/>
          <p:nvPr/>
        </p:nvSpPr>
        <p:spPr>
          <a:xfrm>
            <a:off x="8361834" y="2534357"/>
            <a:ext cx="4763" cy="166688"/>
          </a:xfrm>
          <a:prstGeom prst="rect">
            <a:avLst/>
          </a:prstGeom>
          <a:solidFill>
            <a:srgbClr val="1C3050"/>
          </a:solidFill>
          <a:ln/>
        </p:spPr>
      </p:sp>
      <p:sp>
        <p:nvSpPr>
          <p:cNvPr id="75" name="Shape 72"/>
          <p:cNvSpPr/>
          <p:nvPr/>
        </p:nvSpPr>
        <p:spPr>
          <a:xfrm>
            <a:off x="4933913" y="2560551"/>
            <a:ext cx="981075" cy="114300"/>
          </a:xfrm>
          <a:prstGeom prst="roundRect">
            <a:avLst>
              <a:gd name="adj" fmla="val 50000"/>
            </a:avLst>
          </a:prstGeom>
          <a:solidFill>
            <a:srgbClr val="D9B36A">
              <a:alpha val="85000"/>
            </a:srgbClr>
          </a:solidFill>
          <a:ln/>
        </p:spPr>
      </p:sp>
      <p:sp>
        <p:nvSpPr>
          <p:cNvPr id="76" name="Text 73"/>
          <p:cNvSpPr/>
          <p:nvPr/>
        </p:nvSpPr>
        <p:spPr>
          <a:xfrm>
            <a:off x="749796" y="2740819"/>
            <a:ext cx="2009329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Multi-agent cases + HITL workbench</a:t>
            </a:r>
            <a:endParaRPr lang="en-US" sz="720" dirty="0"/>
          </a:p>
        </p:txBody>
      </p:sp>
      <p:sp>
        <p:nvSpPr>
          <p:cNvPr id="77" name="Shape 74"/>
          <p:cNvSpPr/>
          <p:nvPr/>
        </p:nvSpPr>
        <p:spPr>
          <a:xfrm>
            <a:off x="3466207" y="2719425"/>
            <a:ext cx="4763" cy="166688"/>
          </a:xfrm>
          <a:prstGeom prst="rect">
            <a:avLst/>
          </a:prstGeom>
          <a:solidFill>
            <a:srgbClr val="1C3050"/>
          </a:solidFill>
          <a:ln/>
        </p:spPr>
      </p:sp>
      <p:sp>
        <p:nvSpPr>
          <p:cNvPr id="78" name="Shape 75"/>
          <p:cNvSpPr/>
          <p:nvPr/>
        </p:nvSpPr>
        <p:spPr>
          <a:xfrm>
            <a:off x="4445347" y="2719425"/>
            <a:ext cx="4763" cy="166688"/>
          </a:xfrm>
          <a:prstGeom prst="rect">
            <a:avLst/>
          </a:prstGeom>
          <a:solidFill>
            <a:srgbClr val="1C3050"/>
          </a:solidFill>
          <a:ln/>
        </p:spPr>
      </p:sp>
      <p:sp>
        <p:nvSpPr>
          <p:cNvPr id="79" name="Shape 76"/>
          <p:cNvSpPr/>
          <p:nvPr/>
        </p:nvSpPr>
        <p:spPr>
          <a:xfrm>
            <a:off x="5424487" y="2719425"/>
            <a:ext cx="4763" cy="166688"/>
          </a:xfrm>
          <a:prstGeom prst="rect">
            <a:avLst/>
          </a:prstGeom>
          <a:solidFill>
            <a:srgbClr val="1C3050"/>
          </a:solidFill>
          <a:ln/>
        </p:spPr>
      </p:sp>
      <p:sp>
        <p:nvSpPr>
          <p:cNvPr id="80" name="Shape 77"/>
          <p:cNvSpPr/>
          <p:nvPr/>
        </p:nvSpPr>
        <p:spPr>
          <a:xfrm>
            <a:off x="6403553" y="2719425"/>
            <a:ext cx="4763" cy="166688"/>
          </a:xfrm>
          <a:prstGeom prst="rect">
            <a:avLst/>
          </a:prstGeom>
          <a:solidFill>
            <a:srgbClr val="1C3050"/>
          </a:solidFill>
          <a:ln/>
        </p:spPr>
      </p:sp>
      <p:sp>
        <p:nvSpPr>
          <p:cNvPr id="81" name="Shape 78"/>
          <p:cNvSpPr/>
          <p:nvPr/>
        </p:nvSpPr>
        <p:spPr>
          <a:xfrm>
            <a:off x="7382694" y="2719425"/>
            <a:ext cx="4763" cy="166688"/>
          </a:xfrm>
          <a:prstGeom prst="rect">
            <a:avLst/>
          </a:prstGeom>
          <a:solidFill>
            <a:srgbClr val="1C3050"/>
          </a:solidFill>
          <a:ln/>
        </p:spPr>
      </p:sp>
      <p:sp>
        <p:nvSpPr>
          <p:cNvPr id="82" name="Shape 79"/>
          <p:cNvSpPr/>
          <p:nvPr/>
        </p:nvSpPr>
        <p:spPr>
          <a:xfrm>
            <a:off x="8361834" y="2719425"/>
            <a:ext cx="4763" cy="166688"/>
          </a:xfrm>
          <a:prstGeom prst="rect">
            <a:avLst/>
          </a:prstGeom>
          <a:solidFill>
            <a:srgbClr val="1C3050"/>
          </a:solidFill>
          <a:ln/>
        </p:spPr>
      </p:sp>
      <p:sp>
        <p:nvSpPr>
          <p:cNvPr id="83" name="Shape 80"/>
          <p:cNvSpPr/>
          <p:nvPr/>
        </p:nvSpPr>
        <p:spPr>
          <a:xfrm>
            <a:off x="5424450" y="2745618"/>
            <a:ext cx="1223962" cy="114300"/>
          </a:xfrm>
          <a:prstGeom prst="roundRect">
            <a:avLst>
              <a:gd name="adj" fmla="val 50000"/>
            </a:avLst>
          </a:prstGeom>
          <a:solidFill>
            <a:srgbClr val="D9B36A">
              <a:alpha val="85000"/>
            </a:srgbClr>
          </a:solidFill>
          <a:ln/>
        </p:spPr>
      </p:sp>
      <p:sp>
        <p:nvSpPr>
          <p:cNvPr id="84" name="Shape 81"/>
          <p:cNvSpPr/>
          <p:nvPr/>
        </p:nvSpPr>
        <p:spPr>
          <a:xfrm>
            <a:off x="292894" y="3005212"/>
            <a:ext cx="8558213" cy="752475"/>
          </a:xfrm>
          <a:prstGeom prst="rect">
            <a:avLst/>
          </a:prstGeom>
          <a:ln/>
        </p:spPr>
      </p:sp>
      <p:sp>
        <p:nvSpPr>
          <p:cNvPr id="85" name="Text 82"/>
          <p:cNvSpPr/>
          <p:nvPr/>
        </p:nvSpPr>
        <p:spPr>
          <a:xfrm>
            <a:off x="292596" y="3245941"/>
            <a:ext cx="492279" cy="1095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80" b="1" spc="17" kern="0" dirty="0">
                <a:solidFill>
                  <a:srgbClr val="8AA3C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ASSURE</a:t>
            </a:r>
            <a:endParaRPr lang="en-US" sz="680" dirty="0"/>
          </a:p>
        </p:txBody>
      </p:sp>
      <p:sp>
        <p:nvSpPr>
          <p:cNvPr id="86" name="Text 83"/>
          <p:cNvSpPr/>
          <p:nvPr/>
        </p:nvSpPr>
        <p:spPr>
          <a:xfrm>
            <a:off x="749796" y="3239616"/>
            <a:ext cx="2012424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Evals, red teaming &amp; guardrail tuning</a:t>
            </a:r>
            <a:endParaRPr lang="en-US" sz="720" dirty="0"/>
          </a:p>
        </p:txBody>
      </p:sp>
      <p:sp>
        <p:nvSpPr>
          <p:cNvPr id="87" name="Shape 84"/>
          <p:cNvSpPr/>
          <p:nvPr/>
        </p:nvSpPr>
        <p:spPr>
          <a:xfrm>
            <a:off x="3466207" y="3218222"/>
            <a:ext cx="4763" cy="166688"/>
          </a:xfrm>
          <a:prstGeom prst="rect">
            <a:avLst/>
          </a:prstGeom>
          <a:solidFill>
            <a:srgbClr val="1C3050"/>
          </a:solidFill>
          <a:ln/>
        </p:spPr>
      </p:sp>
      <p:sp>
        <p:nvSpPr>
          <p:cNvPr id="88" name="Shape 85"/>
          <p:cNvSpPr/>
          <p:nvPr/>
        </p:nvSpPr>
        <p:spPr>
          <a:xfrm>
            <a:off x="4445347" y="3218222"/>
            <a:ext cx="4763" cy="166688"/>
          </a:xfrm>
          <a:prstGeom prst="rect">
            <a:avLst/>
          </a:prstGeom>
          <a:solidFill>
            <a:srgbClr val="1C3050"/>
          </a:solidFill>
          <a:ln/>
        </p:spPr>
      </p:sp>
      <p:sp>
        <p:nvSpPr>
          <p:cNvPr id="89" name="Shape 86"/>
          <p:cNvSpPr/>
          <p:nvPr/>
        </p:nvSpPr>
        <p:spPr>
          <a:xfrm>
            <a:off x="5424487" y="3218222"/>
            <a:ext cx="4763" cy="166688"/>
          </a:xfrm>
          <a:prstGeom prst="rect">
            <a:avLst/>
          </a:prstGeom>
          <a:solidFill>
            <a:srgbClr val="1C3050"/>
          </a:solidFill>
          <a:ln/>
        </p:spPr>
      </p:sp>
      <p:sp>
        <p:nvSpPr>
          <p:cNvPr id="90" name="Shape 87"/>
          <p:cNvSpPr/>
          <p:nvPr/>
        </p:nvSpPr>
        <p:spPr>
          <a:xfrm>
            <a:off x="6403553" y="3218222"/>
            <a:ext cx="4763" cy="166688"/>
          </a:xfrm>
          <a:prstGeom prst="rect">
            <a:avLst/>
          </a:prstGeom>
          <a:solidFill>
            <a:srgbClr val="1C3050"/>
          </a:solidFill>
          <a:ln/>
        </p:spPr>
      </p:sp>
      <p:sp>
        <p:nvSpPr>
          <p:cNvPr id="91" name="Shape 88"/>
          <p:cNvSpPr/>
          <p:nvPr/>
        </p:nvSpPr>
        <p:spPr>
          <a:xfrm>
            <a:off x="7382694" y="3218222"/>
            <a:ext cx="4763" cy="166688"/>
          </a:xfrm>
          <a:prstGeom prst="rect">
            <a:avLst/>
          </a:prstGeom>
          <a:solidFill>
            <a:srgbClr val="1C3050"/>
          </a:solidFill>
          <a:ln/>
        </p:spPr>
      </p:sp>
      <p:sp>
        <p:nvSpPr>
          <p:cNvPr id="92" name="Shape 89"/>
          <p:cNvSpPr/>
          <p:nvPr/>
        </p:nvSpPr>
        <p:spPr>
          <a:xfrm>
            <a:off x="8361834" y="3218222"/>
            <a:ext cx="4763" cy="166688"/>
          </a:xfrm>
          <a:prstGeom prst="rect">
            <a:avLst/>
          </a:prstGeom>
          <a:solidFill>
            <a:srgbClr val="1C3050"/>
          </a:solidFill>
          <a:ln/>
        </p:spPr>
      </p:sp>
      <p:sp>
        <p:nvSpPr>
          <p:cNvPr id="93" name="Shape 90"/>
          <p:cNvSpPr/>
          <p:nvPr/>
        </p:nvSpPr>
        <p:spPr>
          <a:xfrm>
            <a:off x="5913946" y="3244416"/>
            <a:ext cx="1223962" cy="114300"/>
          </a:xfrm>
          <a:prstGeom prst="roundRect">
            <a:avLst>
              <a:gd name="adj" fmla="val 50000"/>
            </a:avLst>
          </a:prstGeom>
          <a:solidFill>
            <a:srgbClr val="E08A8A">
              <a:alpha val="85000"/>
            </a:srgbClr>
          </a:solidFill>
          <a:ln/>
        </p:spPr>
      </p:sp>
      <p:sp>
        <p:nvSpPr>
          <p:cNvPr id="94" name="Text 91"/>
          <p:cNvSpPr/>
          <p:nvPr/>
        </p:nvSpPr>
        <p:spPr>
          <a:xfrm>
            <a:off x="749796" y="3424684"/>
            <a:ext cx="1590452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Client UAT in tenant sandbox</a:t>
            </a:r>
            <a:endParaRPr lang="en-US" sz="720" dirty="0"/>
          </a:p>
        </p:txBody>
      </p:sp>
      <p:sp>
        <p:nvSpPr>
          <p:cNvPr id="95" name="Shape 92"/>
          <p:cNvSpPr/>
          <p:nvPr/>
        </p:nvSpPr>
        <p:spPr>
          <a:xfrm>
            <a:off x="3466207" y="3403290"/>
            <a:ext cx="4763" cy="166688"/>
          </a:xfrm>
          <a:prstGeom prst="rect">
            <a:avLst/>
          </a:prstGeom>
          <a:solidFill>
            <a:srgbClr val="1C3050"/>
          </a:solidFill>
          <a:ln/>
        </p:spPr>
      </p:sp>
      <p:sp>
        <p:nvSpPr>
          <p:cNvPr id="96" name="Shape 93"/>
          <p:cNvSpPr/>
          <p:nvPr/>
        </p:nvSpPr>
        <p:spPr>
          <a:xfrm>
            <a:off x="4445347" y="3403290"/>
            <a:ext cx="4763" cy="166688"/>
          </a:xfrm>
          <a:prstGeom prst="rect">
            <a:avLst/>
          </a:prstGeom>
          <a:solidFill>
            <a:srgbClr val="1C3050"/>
          </a:solidFill>
          <a:ln/>
        </p:spPr>
      </p:sp>
      <p:sp>
        <p:nvSpPr>
          <p:cNvPr id="97" name="Shape 94"/>
          <p:cNvSpPr/>
          <p:nvPr/>
        </p:nvSpPr>
        <p:spPr>
          <a:xfrm>
            <a:off x="5424487" y="3403290"/>
            <a:ext cx="4763" cy="166688"/>
          </a:xfrm>
          <a:prstGeom prst="rect">
            <a:avLst/>
          </a:prstGeom>
          <a:solidFill>
            <a:srgbClr val="1C3050"/>
          </a:solidFill>
          <a:ln/>
        </p:spPr>
      </p:sp>
      <p:sp>
        <p:nvSpPr>
          <p:cNvPr id="98" name="Shape 95"/>
          <p:cNvSpPr/>
          <p:nvPr/>
        </p:nvSpPr>
        <p:spPr>
          <a:xfrm>
            <a:off x="6403553" y="3403290"/>
            <a:ext cx="4763" cy="166688"/>
          </a:xfrm>
          <a:prstGeom prst="rect">
            <a:avLst/>
          </a:prstGeom>
          <a:solidFill>
            <a:srgbClr val="1C3050"/>
          </a:solidFill>
          <a:ln/>
        </p:spPr>
      </p:sp>
      <p:sp>
        <p:nvSpPr>
          <p:cNvPr id="99" name="Shape 96"/>
          <p:cNvSpPr/>
          <p:nvPr/>
        </p:nvSpPr>
        <p:spPr>
          <a:xfrm>
            <a:off x="7382694" y="3403290"/>
            <a:ext cx="4763" cy="166688"/>
          </a:xfrm>
          <a:prstGeom prst="rect">
            <a:avLst/>
          </a:prstGeom>
          <a:solidFill>
            <a:srgbClr val="1C3050"/>
          </a:solidFill>
          <a:ln/>
        </p:spPr>
      </p:sp>
      <p:sp>
        <p:nvSpPr>
          <p:cNvPr id="100" name="Shape 97"/>
          <p:cNvSpPr/>
          <p:nvPr/>
        </p:nvSpPr>
        <p:spPr>
          <a:xfrm>
            <a:off x="8361834" y="3403290"/>
            <a:ext cx="4763" cy="166688"/>
          </a:xfrm>
          <a:prstGeom prst="rect">
            <a:avLst/>
          </a:prstGeom>
          <a:solidFill>
            <a:srgbClr val="1C3050"/>
          </a:solidFill>
          <a:ln/>
        </p:spPr>
      </p:sp>
      <p:sp>
        <p:nvSpPr>
          <p:cNvPr id="101" name="Shape 98"/>
          <p:cNvSpPr/>
          <p:nvPr/>
        </p:nvSpPr>
        <p:spPr>
          <a:xfrm>
            <a:off x="6648822" y="3429484"/>
            <a:ext cx="733425" cy="114300"/>
          </a:xfrm>
          <a:prstGeom prst="roundRect">
            <a:avLst>
              <a:gd name="adj" fmla="val 50000"/>
            </a:avLst>
          </a:prstGeom>
          <a:solidFill>
            <a:srgbClr val="E08A8A">
              <a:alpha val="85000"/>
            </a:srgbClr>
          </a:solidFill>
          <a:ln/>
        </p:spPr>
      </p:sp>
      <p:sp>
        <p:nvSpPr>
          <p:cNvPr id="102" name="Shape 99"/>
          <p:cNvSpPr/>
          <p:nvPr/>
        </p:nvSpPr>
        <p:spPr>
          <a:xfrm>
            <a:off x="292894" y="3781574"/>
            <a:ext cx="8558213" cy="752475"/>
          </a:xfrm>
          <a:prstGeom prst="rect">
            <a:avLst/>
          </a:prstGeom>
          <a:ln/>
        </p:spPr>
      </p:sp>
      <p:sp>
        <p:nvSpPr>
          <p:cNvPr id="103" name="Text 100"/>
          <p:cNvSpPr/>
          <p:nvPr/>
        </p:nvSpPr>
        <p:spPr>
          <a:xfrm>
            <a:off x="292596" y="4022303"/>
            <a:ext cx="504081" cy="1095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80" b="1" spc="17" kern="0" dirty="0">
                <a:solidFill>
                  <a:srgbClr val="8AA3C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LAUNCH</a:t>
            </a:r>
            <a:endParaRPr lang="en-US" sz="680" dirty="0"/>
          </a:p>
        </p:txBody>
      </p:sp>
      <p:sp>
        <p:nvSpPr>
          <p:cNvPr id="104" name="Text 101"/>
          <p:cNvSpPr/>
          <p:nvPr/>
        </p:nvSpPr>
        <p:spPr>
          <a:xfrm>
            <a:off x="749796" y="4015978"/>
            <a:ext cx="2059632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Pilot wave — one country / population</a:t>
            </a:r>
            <a:endParaRPr lang="en-US" sz="720" dirty="0"/>
          </a:p>
        </p:txBody>
      </p:sp>
      <p:sp>
        <p:nvSpPr>
          <p:cNvPr id="105" name="Shape 102"/>
          <p:cNvSpPr/>
          <p:nvPr/>
        </p:nvSpPr>
        <p:spPr>
          <a:xfrm>
            <a:off x="3466207" y="3994584"/>
            <a:ext cx="4763" cy="166688"/>
          </a:xfrm>
          <a:prstGeom prst="rect">
            <a:avLst/>
          </a:prstGeom>
          <a:solidFill>
            <a:srgbClr val="1C3050"/>
          </a:solidFill>
          <a:ln/>
        </p:spPr>
      </p:sp>
      <p:sp>
        <p:nvSpPr>
          <p:cNvPr id="106" name="Shape 103"/>
          <p:cNvSpPr/>
          <p:nvPr/>
        </p:nvSpPr>
        <p:spPr>
          <a:xfrm>
            <a:off x="4445347" y="3994584"/>
            <a:ext cx="4763" cy="166688"/>
          </a:xfrm>
          <a:prstGeom prst="rect">
            <a:avLst/>
          </a:prstGeom>
          <a:solidFill>
            <a:srgbClr val="1C3050"/>
          </a:solidFill>
          <a:ln/>
        </p:spPr>
      </p:sp>
      <p:sp>
        <p:nvSpPr>
          <p:cNvPr id="107" name="Shape 104"/>
          <p:cNvSpPr/>
          <p:nvPr/>
        </p:nvSpPr>
        <p:spPr>
          <a:xfrm>
            <a:off x="5424487" y="3994584"/>
            <a:ext cx="4763" cy="166688"/>
          </a:xfrm>
          <a:prstGeom prst="rect">
            <a:avLst/>
          </a:prstGeom>
          <a:solidFill>
            <a:srgbClr val="1C3050"/>
          </a:solidFill>
          <a:ln/>
        </p:spPr>
      </p:sp>
      <p:sp>
        <p:nvSpPr>
          <p:cNvPr id="108" name="Shape 105"/>
          <p:cNvSpPr/>
          <p:nvPr/>
        </p:nvSpPr>
        <p:spPr>
          <a:xfrm>
            <a:off x="6403553" y="3994584"/>
            <a:ext cx="4763" cy="166688"/>
          </a:xfrm>
          <a:prstGeom prst="rect">
            <a:avLst/>
          </a:prstGeom>
          <a:solidFill>
            <a:srgbClr val="1C3050"/>
          </a:solidFill>
          <a:ln/>
        </p:spPr>
      </p:sp>
      <p:sp>
        <p:nvSpPr>
          <p:cNvPr id="109" name="Shape 106"/>
          <p:cNvSpPr/>
          <p:nvPr/>
        </p:nvSpPr>
        <p:spPr>
          <a:xfrm>
            <a:off x="7382694" y="3994584"/>
            <a:ext cx="4763" cy="166688"/>
          </a:xfrm>
          <a:prstGeom prst="rect">
            <a:avLst/>
          </a:prstGeom>
          <a:solidFill>
            <a:srgbClr val="1C3050"/>
          </a:solidFill>
          <a:ln/>
        </p:spPr>
      </p:sp>
      <p:sp>
        <p:nvSpPr>
          <p:cNvPr id="110" name="Shape 107"/>
          <p:cNvSpPr/>
          <p:nvPr/>
        </p:nvSpPr>
        <p:spPr>
          <a:xfrm>
            <a:off x="8361834" y="3994584"/>
            <a:ext cx="4763" cy="166688"/>
          </a:xfrm>
          <a:prstGeom prst="rect">
            <a:avLst/>
          </a:prstGeom>
          <a:solidFill>
            <a:srgbClr val="1C3050"/>
          </a:solidFill>
          <a:ln/>
        </p:spPr>
      </p:sp>
      <p:sp>
        <p:nvSpPr>
          <p:cNvPr id="111" name="Shape 108"/>
          <p:cNvSpPr/>
          <p:nvPr/>
        </p:nvSpPr>
        <p:spPr>
          <a:xfrm>
            <a:off x="7138392" y="4020778"/>
            <a:ext cx="733425" cy="114300"/>
          </a:xfrm>
          <a:prstGeom prst="roundRect">
            <a:avLst>
              <a:gd name="adj" fmla="val 50000"/>
            </a:avLst>
          </a:prstGeom>
          <a:solidFill>
            <a:srgbClr val="B28AF5">
              <a:alpha val="85000"/>
            </a:srgbClr>
          </a:solidFill>
          <a:ln/>
        </p:spPr>
      </p:sp>
      <p:sp>
        <p:nvSpPr>
          <p:cNvPr id="112" name="Text 109"/>
          <p:cNvSpPr/>
          <p:nvPr/>
        </p:nvSpPr>
        <p:spPr>
          <a:xfrm>
            <a:off x="749796" y="4201046"/>
            <a:ext cx="1385947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Scale rollout + hypercare</a:t>
            </a:r>
            <a:endParaRPr lang="en-US" sz="720" dirty="0"/>
          </a:p>
        </p:txBody>
      </p:sp>
      <p:sp>
        <p:nvSpPr>
          <p:cNvPr id="113" name="Shape 110"/>
          <p:cNvSpPr/>
          <p:nvPr/>
        </p:nvSpPr>
        <p:spPr>
          <a:xfrm>
            <a:off x="3466207" y="4179652"/>
            <a:ext cx="4763" cy="166688"/>
          </a:xfrm>
          <a:prstGeom prst="rect">
            <a:avLst/>
          </a:prstGeom>
          <a:solidFill>
            <a:srgbClr val="1C3050"/>
          </a:solidFill>
          <a:ln/>
        </p:spPr>
      </p:sp>
      <p:sp>
        <p:nvSpPr>
          <p:cNvPr id="114" name="Shape 111"/>
          <p:cNvSpPr/>
          <p:nvPr/>
        </p:nvSpPr>
        <p:spPr>
          <a:xfrm>
            <a:off x="4445347" y="4179652"/>
            <a:ext cx="4763" cy="166688"/>
          </a:xfrm>
          <a:prstGeom prst="rect">
            <a:avLst/>
          </a:prstGeom>
          <a:solidFill>
            <a:srgbClr val="1C3050"/>
          </a:solidFill>
          <a:ln/>
        </p:spPr>
      </p:sp>
      <p:sp>
        <p:nvSpPr>
          <p:cNvPr id="115" name="Shape 112"/>
          <p:cNvSpPr/>
          <p:nvPr/>
        </p:nvSpPr>
        <p:spPr>
          <a:xfrm>
            <a:off x="5424487" y="4179652"/>
            <a:ext cx="4763" cy="166688"/>
          </a:xfrm>
          <a:prstGeom prst="rect">
            <a:avLst/>
          </a:prstGeom>
          <a:solidFill>
            <a:srgbClr val="1C3050"/>
          </a:solidFill>
          <a:ln/>
        </p:spPr>
      </p:sp>
      <p:sp>
        <p:nvSpPr>
          <p:cNvPr id="116" name="Shape 113"/>
          <p:cNvSpPr/>
          <p:nvPr/>
        </p:nvSpPr>
        <p:spPr>
          <a:xfrm>
            <a:off x="6403553" y="4179652"/>
            <a:ext cx="4763" cy="166688"/>
          </a:xfrm>
          <a:prstGeom prst="rect">
            <a:avLst/>
          </a:prstGeom>
          <a:solidFill>
            <a:srgbClr val="1C3050"/>
          </a:solidFill>
          <a:ln/>
        </p:spPr>
      </p:sp>
      <p:sp>
        <p:nvSpPr>
          <p:cNvPr id="117" name="Shape 114"/>
          <p:cNvSpPr/>
          <p:nvPr/>
        </p:nvSpPr>
        <p:spPr>
          <a:xfrm>
            <a:off x="7382694" y="4179652"/>
            <a:ext cx="4763" cy="166688"/>
          </a:xfrm>
          <a:prstGeom prst="rect">
            <a:avLst/>
          </a:prstGeom>
          <a:solidFill>
            <a:srgbClr val="1C3050"/>
          </a:solidFill>
          <a:ln/>
        </p:spPr>
      </p:sp>
      <p:sp>
        <p:nvSpPr>
          <p:cNvPr id="118" name="Shape 115"/>
          <p:cNvSpPr/>
          <p:nvPr/>
        </p:nvSpPr>
        <p:spPr>
          <a:xfrm>
            <a:off x="8361834" y="4179652"/>
            <a:ext cx="4763" cy="166688"/>
          </a:xfrm>
          <a:prstGeom prst="rect">
            <a:avLst/>
          </a:prstGeom>
          <a:solidFill>
            <a:srgbClr val="1C3050"/>
          </a:solidFill>
          <a:ln/>
        </p:spPr>
      </p:sp>
      <p:sp>
        <p:nvSpPr>
          <p:cNvPr id="119" name="Shape 116"/>
          <p:cNvSpPr/>
          <p:nvPr/>
        </p:nvSpPr>
        <p:spPr>
          <a:xfrm>
            <a:off x="7627404" y="4205846"/>
            <a:ext cx="1223962" cy="114300"/>
          </a:xfrm>
          <a:prstGeom prst="roundRect">
            <a:avLst>
              <a:gd name="adj" fmla="val 50000"/>
            </a:avLst>
          </a:prstGeom>
          <a:solidFill>
            <a:srgbClr val="B28AF5">
              <a:alpha val="85000"/>
            </a:srgbClr>
          </a:solidFill>
          <a:ln/>
        </p:spPr>
      </p:sp>
      <p:sp>
        <p:nvSpPr>
          <p:cNvPr id="120" name="Shape 117"/>
          <p:cNvSpPr/>
          <p:nvPr/>
        </p:nvSpPr>
        <p:spPr>
          <a:xfrm>
            <a:off x="292894" y="4558829"/>
            <a:ext cx="8558213" cy="257175"/>
          </a:xfrm>
          <a:prstGeom prst="rect">
            <a:avLst/>
          </a:prstGeom>
          <a:ln/>
        </p:spPr>
      </p:sp>
      <p:sp>
        <p:nvSpPr>
          <p:cNvPr id="121" name="Text 118"/>
          <p:cNvSpPr/>
          <p:nvPr/>
        </p:nvSpPr>
        <p:spPr>
          <a:xfrm>
            <a:off x="292596" y="4644479"/>
            <a:ext cx="407730" cy="1095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80" b="1" spc="17" kern="0" dirty="0">
                <a:solidFill>
                  <a:srgbClr val="7AC9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GATES</a:t>
            </a:r>
            <a:endParaRPr lang="en-US" sz="680" dirty="0"/>
          </a:p>
        </p:txBody>
      </p:sp>
      <p:sp>
        <p:nvSpPr>
          <p:cNvPr id="122" name="Text 119"/>
          <p:cNvSpPr/>
          <p:nvPr/>
        </p:nvSpPr>
        <p:spPr>
          <a:xfrm>
            <a:off x="749796" y="4636219"/>
            <a:ext cx="1577973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Milestones &amp; go/no-go gates</a:t>
            </a:r>
            <a:endParaRPr lang="en-US" sz="720" dirty="0"/>
          </a:p>
        </p:txBody>
      </p:sp>
      <p:sp>
        <p:nvSpPr>
          <p:cNvPr id="123" name="Shape 120"/>
          <p:cNvSpPr/>
          <p:nvPr/>
        </p:nvSpPr>
        <p:spPr>
          <a:xfrm>
            <a:off x="3425689" y="4584762"/>
            <a:ext cx="80962" cy="80962"/>
          </a:xfrm>
          <a:prstGeom prst="rect">
            <a:avLst/>
          </a:prstGeom>
          <a:solidFill>
            <a:srgbClr val="7AC9F5"/>
          </a:solidFill>
          <a:ln/>
        </p:spPr>
      </p:sp>
      <p:sp>
        <p:nvSpPr>
          <p:cNvPr id="124" name="Text 121"/>
          <p:cNvSpPr/>
          <p:nvPr/>
        </p:nvSpPr>
        <p:spPr>
          <a:xfrm>
            <a:off x="3167509" y="4686523"/>
            <a:ext cx="833765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122"/>
              </a:spcBef>
              <a:buNone/>
            </a:pPr>
            <a:r>
              <a:rPr lang="en-US" sz="610" dirty="0">
                <a:solidFill>
                  <a:srgbClr val="7AC9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Design signed off</a:t>
            </a:r>
            <a:endParaRPr lang="en-US" sz="610" dirty="0"/>
          </a:p>
        </p:txBody>
      </p:sp>
      <p:sp>
        <p:nvSpPr>
          <p:cNvPr id="125" name="Shape 122"/>
          <p:cNvSpPr/>
          <p:nvPr/>
        </p:nvSpPr>
        <p:spPr>
          <a:xfrm>
            <a:off x="5383969" y="4584762"/>
            <a:ext cx="80962" cy="80962"/>
          </a:xfrm>
          <a:prstGeom prst="rect">
            <a:avLst/>
          </a:prstGeom>
          <a:solidFill>
            <a:srgbClr val="7AC9F5"/>
          </a:solidFill>
          <a:ln/>
        </p:spPr>
      </p:sp>
      <p:sp>
        <p:nvSpPr>
          <p:cNvPr id="126" name="Text 123"/>
          <p:cNvSpPr/>
          <p:nvPr/>
        </p:nvSpPr>
        <p:spPr>
          <a:xfrm>
            <a:off x="5155629" y="4686523"/>
            <a:ext cx="756181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122"/>
              </a:spcBef>
              <a:buNone/>
            </a:pPr>
            <a:r>
              <a:rPr lang="en-US" sz="610" dirty="0">
                <a:solidFill>
                  <a:srgbClr val="7AC9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Connectors live</a:t>
            </a:r>
            <a:endParaRPr lang="en-US" sz="610" dirty="0"/>
          </a:p>
        </p:txBody>
      </p:sp>
      <p:sp>
        <p:nvSpPr>
          <p:cNvPr id="127" name="Shape 124"/>
          <p:cNvSpPr/>
          <p:nvPr/>
        </p:nvSpPr>
        <p:spPr>
          <a:xfrm>
            <a:off x="7097464" y="4584762"/>
            <a:ext cx="80962" cy="80962"/>
          </a:xfrm>
          <a:prstGeom prst="rect">
            <a:avLst/>
          </a:prstGeom>
          <a:solidFill>
            <a:srgbClr val="7AC9F5"/>
          </a:solidFill>
          <a:ln/>
        </p:spPr>
      </p:sp>
      <p:sp>
        <p:nvSpPr>
          <p:cNvPr id="128" name="Text 125"/>
          <p:cNvSpPr/>
          <p:nvPr/>
        </p:nvSpPr>
        <p:spPr>
          <a:xfrm>
            <a:off x="6994438" y="4686523"/>
            <a:ext cx="430270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122"/>
              </a:spcBef>
              <a:buNone/>
            </a:pPr>
            <a:r>
              <a:rPr lang="en-US" sz="610" dirty="0">
                <a:solidFill>
                  <a:srgbClr val="7AC9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UAT exit</a:t>
            </a:r>
            <a:endParaRPr lang="en-US" sz="610" dirty="0"/>
          </a:p>
        </p:txBody>
      </p:sp>
      <p:sp>
        <p:nvSpPr>
          <p:cNvPr id="129" name="Shape 126"/>
          <p:cNvSpPr/>
          <p:nvPr/>
        </p:nvSpPr>
        <p:spPr>
          <a:xfrm>
            <a:off x="7831745" y="4584762"/>
            <a:ext cx="80962" cy="80962"/>
          </a:xfrm>
          <a:prstGeom prst="rect">
            <a:avLst/>
          </a:prstGeom>
          <a:solidFill>
            <a:srgbClr val="7AC9F5"/>
          </a:solidFill>
          <a:ln/>
        </p:spPr>
      </p:sp>
      <p:sp>
        <p:nvSpPr>
          <p:cNvPr id="130" name="Text 127"/>
          <p:cNvSpPr/>
          <p:nvPr/>
        </p:nvSpPr>
        <p:spPr>
          <a:xfrm>
            <a:off x="7665541" y="4686523"/>
            <a:ext cx="594628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122"/>
              </a:spcBef>
              <a:buNone/>
            </a:pPr>
            <a:r>
              <a:rPr lang="en-US" sz="610" dirty="0">
                <a:solidFill>
                  <a:srgbClr val="7AC9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Pilot go-live</a:t>
            </a:r>
            <a:endParaRPr lang="en-US" sz="610" dirty="0"/>
          </a:p>
        </p:txBody>
      </p:sp>
      <p:sp>
        <p:nvSpPr>
          <p:cNvPr id="131" name="Shape 128"/>
          <p:cNvSpPr/>
          <p:nvPr/>
        </p:nvSpPr>
        <p:spPr>
          <a:xfrm>
            <a:off x="8810923" y="4584762"/>
            <a:ext cx="80962" cy="80962"/>
          </a:xfrm>
          <a:prstGeom prst="rect">
            <a:avLst/>
          </a:prstGeom>
          <a:solidFill>
            <a:srgbClr val="7AC9F5"/>
          </a:solidFill>
          <a:ln/>
        </p:spPr>
      </p:sp>
      <p:sp>
        <p:nvSpPr>
          <p:cNvPr id="132" name="Text 129"/>
          <p:cNvSpPr/>
          <p:nvPr/>
        </p:nvSpPr>
        <p:spPr>
          <a:xfrm>
            <a:off x="8664290" y="4686523"/>
            <a:ext cx="543647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122"/>
              </a:spcBef>
              <a:buNone/>
            </a:pPr>
            <a:r>
              <a:rPr lang="en-US" sz="610" dirty="0">
                <a:solidFill>
                  <a:srgbClr val="7AC9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Full rollout</a:t>
            </a:r>
            <a:endParaRPr lang="en-US" sz="610" dirty="0"/>
          </a:p>
        </p:txBody>
      </p:sp>
      <p:sp>
        <p:nvSpPr>
          <p:cNvPr id="133" name="Text 130"/>
          <p:cNvSpPr/>
          <p:nvPr/>
        </p:nvSpPr>
        <p:spPr>
          <a:xfrm>
            <a:off x="-2037435" y="4846588"/>
            <a:ext cx="10888839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spcBef>
                <a:spcPts val="203"/>
              </a:spcBef>
              <a:buNone/>
            </a:pPr>
            <a:r>
              <a:rPr lang="en-US" sz="72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Team: solution architect · agent engineers ×3 · integration engineers ×2 · HR process lead · security engineer · client-side SMEs — subsequent clients compress to ~10–14 weeks via the onboarding factory</a:t>
            </a:r>
            <a:endParaRPr lang="en-US" sz="720" dirty="0"/>
          </a:p>
        </p:txBody>
      </p:sp>
      <p:pic>
        <p:nvPicPr>
          <p:cNvPr id="13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2894" y="676126"/>
            <a:ext cx="8558213" cy="752475"/>
          </a:xfrm>
          <a:prstGeom prst="rect">
            <a:avLst/>
          </a:prstGeom>
        </p:spPr>
      </p:pic>
      <p:pic>
        <p:nvPicPr>
          <p:cNvPr id="135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92894" y="1452488"/>
            <a:ext cx="8558213" cy="752475"/>
          </a:xfrm>
          <a:prstGeom prst="rect">
            <a:avLst/>
          </a:prstGeom>
        </p:spPr>
      </p:pic>
      <p:pic>
        <p:nvPicPr>
          <p:cNvPr id="136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92894" y="2228850"/>
            <a:ext cx="8558213" cy="752475"/>
          </a:xfrm>
          <a:prstGeom prst="rect">
            <a:avLst/>
          </a:prstGeom>
        </p:spPr>
      </p:pic>
      <p:pic>
        <p:nvPicPr>
          <p:cNvPr id="137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92894" y="3005212"/>
            <a:ext cx="8558213" cy="752475"/>
          </a:xfrm>
          <a:prstGeom prst="rect">
            <a:avLst/>
          </a:prstGeom>
        </p:spPr>
      </p:pic>
      <p:pic>
        <p:nvPicPr>
          <p:cNvPr id="138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92894" y="3781574"/>
            <a:ext cx="8558213" cy="752475"/>
          </a:xfrm>
          <a:prstGeom prst="rect">
            <a:avLst/>
          </a:prstGeom>
        </p:spPr>
      </p:pic>
      <p:pic>
        <p:nvPicPr>
          <p:cNvPr id="139" name="Image 6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92894" y="4558829"/>
            <a:ext cx="8558213" cy="25717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52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-484" y="-484"/>
            <a:ext cx="9053513" cy="52388"/>
          </a:xfrm>
          <a:prstGeom prst="rect">
            <a:avLst/>
          </a:prstGeom>
          <a:solidFill>
            <a:srgbClr val="2F81F7"/>
          </a:solidFill>
          <a:ln/>
        </p:spPr>
      </p:sp>
      <p:sp>
        <p:nvSpPr>
          <p:cNvPr id="5" name="Text 2"/>
          <p:cNvSpPr/>
          <p:nvPr/>
        </p:nvSpPr>
        <p:spPr>
          <a:xfrm>
            <a:off x="319980" y="183579"/>
            <a:ext cx="5769546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80" b="1" spc="-40" kern="0" dirty="0">
                <a:solidFill>
                  <a:srgbClr val="E8F1F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Legal &amp; Product Documentation — Post-Release</a:t>
            </a:r>
            <a:endParaRPr lang="en-US" sz="1580" dirty="0"/>
          </a:p>
        </p:txBody>
      </p:sp>
      <p:sp>
        <p:nvSpPr>
          <p:cNvPr id="6" name="Text 3"/>
          <p:cNvSpPr/>
          <p:nvPr/>
        </p:nvSpPr>
        <p:spPr>
          <a:xfrm>
            <a:off x="6755681" y="278829"/>
            <a:ext cx="2745991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right document, at the right lifecycle stage</a:t>
            </a:r>
            <a:endParaRPr lang="en-US" sz="790" dirty="0"/>
          </a:p>
        </p:txBody>
      </p:sp>
      <p:sp>
        <p:nvSpPr>
          <p:cNvPr id="7" name="Shape 4"/>
          <p:cNvSpPr/>
          <p:nvPr/>
        </p:nvSpPr>
        <p:spPr>
          <a:xfrm>
            <a:off x="320018" y="549473"/>
            <a:ext cx="2057400" cy="4029075"/>
          </a:xfrm>
          <a:prstGeom prst="roundRect">
            <a:avLst>
              <a:gd name="adj" fmla="val 2667"/>
            </a:avLst>
          </a:prstGeom>
          <a:solidFill>
            <a:srgbClr val="0D1E36"/>
          </a:solidFill>
          <a:ln w="4763">
            <a:solidFill>
              <a:srgbClr val="7AC9F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06971" y="614139"/>
            <a:ext cx="1472818" cy="147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AC9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Contract &amp; Onboard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06971" y="780827"/>
            <a:ext cx="971423" cy="1095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324"/>
              </a:spcAft>
              <a:buNone/>
            </a:pPr>
            <a:r>
              <a:rPr lang="en-US" sz="65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signature → go-live</a:t>
            </a:r>
            <a:endParaRPr lang="en-US" sz="650" dirty="0"/>
          </a:p>
        </p:txBody>
      </p:sp>
      <p:sp>
        <p:nvSpPr>
          <p:cNvPr id="10" name="Text 7"/>
          <p:cNvSpPr/>
          <p:nvPr/>
        </p:nvSpPr>
        <p:spPr>
          <a:xfrm>
            <a:off x="406971" y="940594"/>
            <a:ext cx="1325389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MSA / Terms of Service</a:t>
            </a:r>
            <a:endParaRPr lang="en-US" sz="720" dirty="0"/>
          </a:p>
        </p:txBody>
      </p:sp>
      <p:sp>
        <p:nvSpPr>
          <p:cNvPr id="11" name="Text 8"/>
          <p:cNvSpPr/>
          <p:nvPr/>
        </p:nvSpPr>
        <p:spPr>
          <a:xfrm>
            <a:off x="406971" y="1066279"/>
            <a:ext cx="2267910" cy="2251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0"/>
              </a:lnSpc>
              <a:buNone/>
            </a:pPr>
            <a:r>
              <a:rPr lang="en-US" sz="66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master contract — liability, IP, warranties,</a:t>
            </a:r>
            <a:endParaRPr lang="en-US" sz="660" dirty="0"/>
          </a:p>
          <a:p>
            <a:pPr algn="l" indent="0" marL="0">
              <a:lnSpc>
                <a:spcPts val="910"/>
              </a:lnSpc>
              <a:buNone/>
            </a:pPr>
            <a:r>
              <a:rPr lang="en-US" sz="66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termination</a:t>
            </a:r>
            <a:endParaRPr lang="en-US" sz="660" dirty="0"/>
          </a:p>
        </p:txBody>
      </p:sp>
      <p:sp>
        <p:nvSpPr>
          <p:cNvPr id="12" name="Text 9"/>
          <p:cNvSpPr/>
          <p:nvPr/>
        </p:nvSpPr>
        <p:spPr>
          <a:xfrm>
            <a:off x="406971" y="1338486"/>
            <a:ext cx="1060229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Order Form / SOW</a:t>
            </a:r>
            <a:endParaRPr lang="en-US" sz="720" dirty="0"/>
          </a:p>
        </p:txBody>
      </p:sp>
      <p:sp>
        <p:nvSpPr>
          <p:cNvPr id="13" name="Text 10"/>
          <p:cNvSpPr/>
          <p:nvPr/>
        </p:nvSpPr>
        <p:spPr>
          <a:xfrm>
            <a:off x="406971" y="1464171"/>
            <a:ext cx="2246628" cy="1095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6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scope, tiers, pricing, onboarding deliverables</a:t>
            </a:r>
            <a:endParaRPr lang="en-US" sz="660" dirty="0"/>
          </a:p>
        </p:txBody>
      </p:sp>
      <p:sp>
        <p:nvSpPr>
          <p:cNvPr id="14" name="Text 11"/>
          <p:cNvSpPr/>
          <p:nvPr/>
        </p:nvSpPr>
        <p:spPr>
          <a:xfrm>
            <a:off x="406971" y="1620813"/>
            <a:ext cx="1272763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Acceptable Use Policy</a:t>
            </a:r>
            <a:endParaRPr lang="en-US" sz="720" dirty="0"/>
          </a:p>
        </p:txBody>
      </p:sp>
      <p:sp>
        <p:nvSpPr>
          <p:cNvPr id="15" name="Text 12"/>
          <p:cNvSpPr/>
          <p:nvPr/>
        </p:nvSpPr>
        <p:spPr>
          <a:xfrm>
            <a:off x="406971" y="1746498"/>
            <a:ext cx="2298963" cy="2251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0"/>
              </a:lnSpc>
              <a:buNone/>
            </a:pPr>
            <a:r>
              <a:rPr lang="en-US" sz="66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customers can &amp; can’t do — no scraping,</a:t>
            </a:r>
            <a:endParaRPr lang="en-US" sz="660" dirty="0"/>
          </a:p>
          <a:p>
            <a:pPr algn="l" indent="0" marL="0">
              <a:lnSpc>
                <a:spcPts val="910"/>
              </a:lnSpc>
              <a:buNone/>
            </a:pPr>
            <a:r>
              <a:rPr lang="en-US" sz="66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misuse, unlawful content</a:t>
            </a:r>
            <a:endParaRPr lang="en-US" sz="660" dirty="0"/>
          </a:p>
        </p:txBody>
      </p:sp>
      <p:sp>
        <p:nvSpPr>
          <p:cNvPr id="16" name="Text 13"/>
          <p:cNvSpPr/>
          <p:nvPr/>
        </p:nvSpPr>
        <p:spPr>
          <a:xfrm>
            <a:off x="406971" y="2018705"/>
            <a:ext cx="697557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DPA + SCCs</a:t>
            </a:r>
            <a:endParaRPr lang="en-US" sz="720" dirty="0"/>
          </a:p>
        </p:txBody>
      </p:sp>
      <p:sp>
        <p:nvSpPr>
          <p:cNvPr id="17" name="Text 14"/>
          <p:cNvSpPr/>
          <p:nvPr/>
        </p:nvSpPr>
        <p:spPr>
          <a:xfrm>
            <a:off x="406971" y="2144390"/>
            <a:ext cx="2143601" cy="2251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0"/>
              </a:lnSpc>
              <a:buNone/>
            </a:pPr>
            <a:r>
              <a:rPr lang="en-US" sz="66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GDPR data processing terms, cross-border</a:t>
            </a:r>
            <a:endParaRPr lang="en-US" sz="660" dirty="0"/>
          </a:p>
          <a:p>
            <a:pPr algn="l" indent="0" marL="0">
              <a:lnSpc>
                <a:spcPts val="910"/>
              </a:lnSpc>
              <a:buNone/>
            </a:pPr>
            <a:r>
              <a:rPr lang="en-US" sz="66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transfer clauses</a:t>
            </a:r>
            <a:endParaRPr lang="en-US" sz="660" dirty="0"/>
          </a:p>
        </p:txBody>
      </p:sp>
      <p:sp>
        <p:nvSpPr>
          <p:cNvPr id="18" name="Text 15"/>
          <p:cNvSpPr/>
          <p:nvPr/>
        </p:nvSpPr>
        <p:spPr>
          <a:xfrm>
            <a:off x="406971" y="2416597"/>
            <a:ext cx="813643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SLA Schedule</a:t>
            </a:r>
            <a:endParaRPr lang="en-US" sz="720" dirty="0"/>
          </a:p>
        </p:txBody>
      </p:sp>
      <p:sp>
        <p:nvSpPr>
          <p:cNvPr id="19" name="Text 16"/>
          <p:cNvSpPr/>
          <p:nvPr/>
        </p:nvSpPr>
        <p:spPr>
          <a:xfrm>
            <a:off x="406971" y="2542282"/>
            <a:ext cx="2071241" cy="2251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0"/>
              </a:lnSpc>
              <a:buNone/>
            </a:pPr>
            <a:r>
              <a:rPr lang="en-US" sz="66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uptime &amp; resolution commitments, credit</a:t>
            </a:r>
            <a:endParaRPr lang="en-US" sz="660" dirty="0"/>
          </a:p>
          <a:p>
            <a:pPr algn="l" indent="0" marL="0">
              <a:lnSpc>
                <a:spcPts val="910"/>
              </a:lnSpc>
              <a:buNone/>
            </a:pPr>
            <a:r>
              <a:rPr lang="en-US" sz="66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mechanics</a:t>
            </a:r>
            <a:endParaRPr lang="en-US" sz="660" dirty="0"/>
          </a:p>
        </p:txBody>
      </p:sp>
      <p:sp>
        <p:nvSpPr>
          <p:cNvPr id="20" name="Shape 17"/>
          <p:cNvSpPr/>
          <p:nvPr/>
        </p:nvSpPr>
        <p:spPr>
          <a:xfrm>
            <a:off x="2468873" y="549473"/>
            <a:ext cx="2057400" cy="4029075"/>
          </a:xfrm>
          <a:prstGeom prst="roundRect">
            <a:avLst>
              <a:gd name="adj" fmla="val 2667"/>
            </a:avLst>
          </a:prstGeom>
          <a:solidFill>
            <a:srgbClr val="0D1E36"/>
          </a:solidFill>
          <a:ln w="4763">
            <a:solidFill>
              <a:srgbClr val="8FD6A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555825" y="614139"/>
            <a:ext cx="1166254" cy="147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FD6A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Live Operations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2555825" y="780827"/>
            <a:ext cx="1147681" cy="1095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324"/>
              </a:spcAft>
              <a:buNone/>
            </a:pPr>
            <a:r>
              <a:rPr lang="en-US" sz="65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continuous, in-product</a:t>
            </a:r>
            <a:endParaRPr lang="en-US" sz="650" dirty="0"/>
          </a:p>
        </p:txBody>
      </p:sp>
      <p:sp>
        <p:nvSpPr>
          <p:cNvPr id="23" name="Text 20"/>
          <p:cNvSpPr/>
          <p:nvPr/>
        </p:nvSpPr>
        <p:spPr>
          <a:xfrm>
            <a:off x="2555825" y="940594"/>
            <a:ext cx="845857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Privacy Notice</a:t>
            </a:r>
            <a:endParaRPr lang="en-US" sz="720" dirty="0"/>
          </a:p>
        </p:txBody>
      </p:sp>
      <p:sp>
        <p:nvSpPr>
          <p:cNvPr id="24" name="Text 21"/>
          <p:cNvSpPr/>
          <p:nvPr/>
        </p:nvSpPr>
        <p:spPr>
          <a:xfrm>
            <a:off x="2555825" y="1066279"/>
            <a:ext cx="2344043" cy="2251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0"/>
              </a:lnSpc>
              <a:buNone/>
            </a:pPr>
            <a:r>
              <a:rPr lang="en-US" sz="66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employee data is processed, why, and for</a:t>
            </a:r>
            <a:endParaRPr lang="en-US" sz="660" dirty="0"/>
          </a:p>
          <a:p>
            <a:pPr algn="l" indent="0" marL="0">
              <a:lnSpc>
                <a:spcPts val="910"/>
              </a:lnSpc>
              <a:buNone/>
            </a:pPr>
            <a:r>
              <a:rPr lang="en-US" sz="66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how long</a:t>
            </a:r>
            <a:endParaRPr lang="en-US" sz="660" dirty="0"/>
          </a:p>
        </p:txBody>
      </p:sp>
      <p:sp>
        <p:nvSpPr>
          <p:cNvPr id="25" name="Text 22"/>
          <p:cNvSpPr/>
          <p:nvPr/>
        </p:nvSpPr>
        <p:spPr>
          <a:xfrm>
            <a:off x="2555825" y="1338486"/>
            <a:ext cx="1346381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AI Transparency Notice</a:t>
            </a:r>
            <a:endParaRPr lang="en-US" sz="720" dirty="0"/>
          </a:p>
        </p:txBody>
      </p:sp>
      <p:sp>
        <p:nvSpPr>
          <p:cNvPr id="26" name="Text 23"/>
          <p:cNvSpPr/>
          <p:nvPr/>
        </p:nvSpPr>
        <p:spPr>
          <a:xfrm>
            <a:off x="2555825" y="1464171"/>
            <a:ext cx="2273424" cy="2251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0"/>
              </a:lnSpc>
              <a:buNone/>
            </a:pPr>
            <a:r>
              <a:rPr lang="en-US" sz="66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EU AI Act — users know they interact with AI;</a:t>
            </a:r>
            <a:endParaRPr lang="en-US" sz="660" dirty="0"/>
          </a:p>
          <a:p>
            <a:pPr algn="l" indent="0" marL="0">
              <a:lnSpc>
                <a:spcPts val="910"/>
              </a:lnSpc>
              <a:buNone/>
            </a:pPr>
            <a:r>
              <a:rPr lang="en-US" sz="66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HITL disclosed</a:t>
            </a:r>
            <a:endParaRPr lang="en-US" sz="660" dirty="0"/>
          </a:p>
        </p:txBody>
      </p:sp>
      <p:sp>
        <p:nvSpPr>
          <p:cNvPr id="27" name="Text 24"/>
          <p:cNvSpPr/>
          <p:nvPr/>
        </p:nvSpPr>
        <p:spPr>
          <a:xfrm>
            <a:off x="2555825" y="1736378"/>
            <a:ext cx="1215010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AI Output Disclaimer</a:t>
            </a:r>
            <a:endParaRPr lang="en-US" sz="720" dirty="0"/>
          </a:p>
        </p:txBody>
      </p:sp>
      <p:sp>
        <p:nvSpPr>
          <p:cNvPr id="28" name="Text 25"/>
          <p:cNvSpPr/>
          <p:nvPr/>
        </p:nvSpPr>
        <p:spPr>
          <a:xfrm>
            <a:off x="2555825" y="1862063"/>
            <a:ext cx="2237437" cy="2251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0"/>
              </a:lnSpc>
              <a:buNone/>
            </a:pPr>
            <a:r>
              <a:rPr lang="en-US" sz="66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answers are policy-grounded assistance, not</a:t>
            </a:r>
            <a:endParaRPr lang="en-US" sz="660" dirty="0"/>
          </a:p>
          <a:p>
            <a:pPr algn="l" indent="0" marL="0">
              <a:lnSpc>
                <a:spcPts val="910"/>
              </a:lnSpc>
              <a:buNone/>
            </a:pPr>
            <a:r>
              <a:rPr lang="en-US" sz="66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legal/tax advice</a:t>
            </a:r>
            <a:endParaRPr lang="en-US" sz="660" dirty="0"/>
          </a:p>
        </p:txBody>
      </p:sp>
      <p:sp>
        <p:nvSpPr>
          <p:cNvPr id="29" name="Text 26"/>
          <p:cNvSpPr/>
          <p:nvPr/>
        </p:nvSpPr>
        <p:spPr>
          <a:xfrm>
            <a:off x="2555825" y="2134270"/>
            <a:ext cx="1038463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Subprocessor List</a:t>
            </a:r>
            <a:endParaRPr lang="en-US" sz="720" dirty="0"/>
          </a:p>
        </p:txBody>
      </p:sp>
      <p:sp>
        <p:nvSpPr>
          <p:cNvPr id="30" name="Text 27"/>
          <p:cNvSpPr/>
          <p:nvPr/>
        </p:nvSpPr>
        <p:spPr>
          <a:xfrm>
            <a:off x="2555825" y="2259955"/>
            <a:ext cx="1565300" cy="2251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0"/>
              </a:lnSpc>
              <a:buNone/>
            </a:pPr>
            <a:r>
              <a:rPr lang="en-US" sz="66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Azure, model providers — with</a:t>
            </a:r>
            <a:endParaRPr lang="en-US" sz="660" dirty="0"/>
          </a:p>
          <a:p>
            <a:pPr algn="l" indent="0" marL="0">
              <a:lnSpc>
                <a:spcPts val="910"/>
              </a:lnSpc>
              <a:buNone/>
            </a:pPr>
            <a:r>
              <a:rPr lang="en-US" sz="66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change-notification rights</a:t>
            </a:r>
            <a:endParaRPr lang="en-US" sz="660" dirty="0"/>
          </a:p>
        </p:txBody>
      </p:sp>
      <p:sp>
        <p:nvSpPr>
          <p:cNvPr id="31" name="Text 28"/>
          <p:cNvSpPr/>
          <p:nvPr/>
        </p:nvSpPr>
        <p:spPr>
          <a:xfrm>
            <a:off x="2555825" y="2532162"/>
            <a:ext cx="1034110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Trust Center Pack</a:t>
            </a:r>
            <a:endParaRPr lang="en-US" sz="720" dirty="0"/>
          </a:p>
        </p:txBody>
      </p:sp>
      <p:sp>
        <p:nvSpPr>
          <p:cNvPr id="32" name="Text 29"/>
          <p:cNvSpPr/>
          <p:nvPr/>
        </p:nvSpPr>
        <p:spPr>
          <a:xfrm>
            <a:off x="2555825" y="2657847"/>
            <a:ext cx="2415339" cy="2251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0"/>
              </a:lnSpc>
              <a:buNone/>
            </a:pPr>
            <a:r>
              <a:rPr lang="en-US" sz="66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SOC 2 / ISO 27001 reports, pen-test summaries</a:t>
            </a:r>
            <a:endParaRPr lang="en-US" sz="660" dirty="0"/>
          </a:p>
          <a:p>
            <a:pPr algn="l" indent="0" marL="0">
              <a:lnSpc>
                <a:spcPts val="910"/>
              </a:lnSpc>
              <a:buNone/>
            </a:pPr>
            <a:r>
              <a:rPr lang="en-US" sz="66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under NDA</a:t>
            </a:r>
            <a:endParaRPr lang="en-US" sz="660" dirty="0"/>
          </a:p>
        </p:txBody>
      </p:sp>
      <p:sp>
        <p:nvSpPr>
          <p:cNvPr id="33" name="Shape 30"/>
          <p:cNvSpPr/>
          <p:nvPr/>
        </p:nvSpPr>
        <p:spPr>
          <a:xfrm>
            <a:off x="4617727" y="549473"/>
            <a:ext cx="2057400" cy="4029075"/>
          </a:xfrm>
          <a:prstGeom prst="roundRect">
            <a:avLst>
              <a:gd name="adj" fmla="val 2667"/>
            </a:avLst>
          </a:prstGeom>
          <a:solidFill>
            <a:srgbClr val="0D1E36"/>
          </a:solidFill>
          <a:ln w="4763">
            <a:solidFill>
              <a:srgbClr val="D9B36A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704680" y="614139"/>
            <a:ext cx="1286500" cy="147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9B36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Change &amp; Update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4704680" y="780827"/>
            <a:ext cx="1361666" cy="1095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324"/>
              </a:spcAft>
              <a:buNone/>
            </a:pPr>
            <a:r>
              <a:rPr lang="en-US" sz="65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per release / model change</a:t>
            </a:r>
            <a:endParaRPr lang="en-US" sz="650" dirty="0"/>
          </a:p>
        </p:txBody>
      </p:sp>
      <p:sp>
        <p:nvSpPr>
          <p:cNvPr id="36" name="Text 33"/>
          <p:cNvSpPr/>
          <p:nvPr/>
        </p:nvSpPr>
        <p:spPr>
          <a:xfrm>
            <a:off x="4704680" y="940594"/>
            <a:ext cx="843149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Release Notes</a:t>
            </a:r>
            <a:endParaRPr lang="en-US" sz="720" dirty="0"/>
          </a:p>
        </p:txBody>
      </p:sp>
      <p:sp>
        <p:nvSpPr>
          <p:cNvPr id="37" name="Text 34"/>
          <p:cNvSpPr/>
          <p:nvPr/>
        </p:nvSpPr>
        <p:spPr>
          <a:xfrm>
            <a:off x="4704680" y="1066279"/>
            <a:ext cx="2073756" cy="2251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0"/>
              </a:lnSpc>
              <a:buNone/>
            </a:pPr>
            <a:r>
              <a:rPr lang="en-US" sz="66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features, fixes, deprecations — functional</a:t>
            </a:r>
            <a:endParaRPr lang="en-US" sz="660" dirty="0"/>
          </a:p>
          <a:p>
            <a:pPr algn="l" indent="0" marL="0">
              <a:lnSpc>
                <a:spcPts val="910"/>
              </a:lnSpc>
              <a:buNone/>
            </a:pPr>
            <a:r>
              <a:rPr lang="en-US" sz="66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documentation</a:t>
            </a:r>
            <a:endParaRPr lang="en-US" sz="660" dirty="0"/>
          </a:p>
        </p:txBody>
      </p:sp>
      <p:sp>
        <p:nvSpPr>
          <p:cNvPr id="38" name="Text 35"/>
          <p:cNvSpPr/>
          <p:nvPr/>
        </p:nvSpPr>
        <p:spPr>
          <a:xfrm>
            <a:off x="4704680" y="1338486"/>
            <a:ext cx="1200790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Change Notifications</a:t>
            </a:r>
            <a:endParaRPr lang="en-US" sz="720" dirty="0"/>
          </a:p>
        </p:txBody>
      </p:sp>
      <p:sp>
        <p:nvSpPr>
          <p:cNvPr id="39" name="Text 36"/>
          <p:cNvSpPr/>
          <p:nvPr/>
        </p:nvSpPr>
        <p:spPr>
          <a:xfrm>
            <a:off x="4704680" y="1464171"/>
            <a:ext cx="1909978" cy="2251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0"/>
              </a:lnSpc>
              <a:buNone/>
            </a:pPr>
            <a:r>
              <a:rPr lang="en-US" sz="66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material changes to terms, models, or</a:t>
            </a:r>
            <a:endParaRPr lang="en-US" sz="660" dirty="0"/>
          </a:p>
          <a:p>
            <a:pPr algn="l" indent="0" marL="0">
              <a:lnSpc>
                <a:spcPts val="910"/>
              </a:lnSpc>
              <a:buNone/>
            </a:pPr>
            <a:r>
              <a:rPr lang="en-US" sz="66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subprocessors</a:t>
            </a:r>
            <a:endParaRPr lang="en-US" sz="660" dirty="0"/>
          </a:p>
        </p:txBody>
      </p:sp>
      <p:sp>
        <p:nvSpPr>
          <p:cNvPr id="40" name="Text 37"/>
          <p:cNvSpPr/>
          <p:nvPr/>
        </p:nvSpPr>
        <p:spPr>
          <a:xfrm>
            <a:off x="4704680" y="1736378"/>
            <a:ext cx="1272860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Model / Feature Cards</a:t>
            </a:r>
            <a:endParaRPr lang="en-US" sz="720" dirty="0"/>
          </a:p>
        </p:txBody>
      </p:sp>
      <p:sp>
        <p:nvSpPr>
          <p:cNvPr id="41" name="Text 38"/>
          <p:cNvSpPr/>
          <p:nvPr/>
        </p:nvSpPr>
        <p:spPr>
          <a:xfrm>
            <a:off x="4704680" y="1862063"/>
            <a:ext cx="2384093" cy="2251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0"/>
              </a:lnSpc>
              <a:buNone/>
            </a:pPr>
            <a:r>
              <a:rPr lang="en-US" sz="66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changed in AI behaviour, evals run, known</a:t>
            </a:r>
            <a:endParaRPr lang="en-US" sz="660" dirty="0"/>
          </a:p>
          <a:p>
            <a:pPr algn="l" indent="0" marL="0">
              <a:lnSpc>
                <a:spcPts val="910"/>
              </a:lnSpc>
              <a:buNone/>
            </a:pPr>
            <a:r>
              <a:rPr lang="en-US" sz="66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limits</a:t>
            </a:r>
            <a:endParaRPr lang="en-US" sz="660" dirty="0"/>
          </a:p>
        </p:txBody>
      </p:sp>
      <p:sp>
        <p:nvSpPr>
          <p:cNvPr id="42" name="Text 39"/>
          <p:cNvSpPr/>
          <p:nvPr/>
        </p:nvSpPr>
        <p:spPr>
          <a:xfrm>
            <a:off x="4704680" y="2134270"/>
            <a:ext cx="1223137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Updated User Guides</a:t>
            </a:r>
            <a:endParaRPr lang="en-US" sz="720" dirty="0"/>
          </a:p>
        </p:txBody>
      </p:sp>
      <p:sp>
        <p:nvSpPr>
          <p:cNvPr id="43" name="Text 40"/>
          <p:cNvSpPr/>
          <p:nvPr/>
        </p:nvSpPr>
        <p:spPr>
          <a:xfrm>
            <a:off x="4704680" y="2259955"/>
            <a:ext cx="2304187" cy="1095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6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admin &amp; end-user documentation kept in step</a:t>
            </a:r>
            <a:endParaRPr lang="en-US" sz="660" dirty="0"/>
          </a:p>
        </p:txBody>
      </p:sp>
      <p:sp>
        <p:nvSpPr>
          <p:cNvPr id="44" name="Shape 41"/>
          <p:cNvSpPr/>
          <p:nvPr/>
        </p:nvSpPr>
        <p:spPr>
          <a:xfrm>
            <a:off x="6766582" y="549473"/>
            <a:ext cx="2057400" cy="4029075"/>
          </a:xfrm>
          <a:prstGeom prst="roundRect">
            <a:avLst>
              <a:gd name="adj" fmla="val 2667"/>
            </a:avLst>
          </a:prstGeom>
          <a:solidFill>
            <a:srgbClr val="0D1E36"/>
          </a:solidFill>
          <a:ln w="4763">
            <a:solidFill>
              <a:srgbClr val="E0917F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6853535" y="614139"/>
            <a:ext cx="1093120" cy="147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0917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Incident &amp; Exit</a:t>
            </a:r>
            <a:endParaRPr lang="en-US" sz="900" dirty="0"/>
          </a:p>
        </p:txBody>
      </p:sp>
      <p:sp>
        <p:nvSpPr>
          <p:cNvPr id="46" name="Text 43"/>
          <p:cNvSpPr/>
          <p:nvPr/>
        </p:nvSpPr>
        <p:spPr>
          <a:xfrm>
            <a:off x="6853535" y="780827"/>
            <a:ext cx="1139264" cy="1095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324"/>
              </a:spcAft>
              <a:buNone/>
            </a:pPr>
            <a:r>
              <a:rPr lang="en-US" sz="65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event-driven / renewal</a:t>
            </a:r>
            <a:endParaRPr lang="en-US" sz="650" dirty="0"/>
          </a:p>
        </p:txBody>
      </p:sp>
      <p:sp>
        <p:nvSpPr>
          <p:cNvPr id="47" name="Text 44"/>
          <p:cNvSpPr/>
          <p:nvPr/>
        </p:nvSpPr>
        <p:spPr>
          <a:xfrm>
            <a:off x="6853535" y="940594"/>
            <a:ext cx="1194405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Incident Notification</a:t>
            </a:r>
            <a:endParaRPr lang="en-US" sz="720" dirty="0"/>
          </a:p>
        </p:txBody>
      </p:sp>
      <p:sp>
        <p:nvSpPr>
          <p:cNvPr id="48" name="Text 45"/>
          <p:cNvSpPr/>
          <p:nvPr/>
        </p:nvSpPr>
        <p:spPr>
          <a:xfrm>
            <a:off x="6853535" y="1066279"/>
            <a:ext cx="2372484" cy="2251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0"/>
              </a:lnSpc>
              <a:buNone/>
            </a:pPr>
            <a:r>
              <a:rPr lang="en-US" sz="66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breach notice within contractual/legal windows</a:t>
            </a:r>
            <a:endParaRPr lang="en-US" sz="660" dirty="0"/>
          </a:p>
          <a:p>
            <a:pPr algn="l" indent="0" marL="0">
              <a:lnSpc>
                <a:spcPts val="910"/>
              </a:lnSpc>
              <a:buNone/>
            </a:pPr>
            <a:r>
              <a:rPr lang="en-US" sz="66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(72h GDPR)</a:t>
            </a:r>
            <a:endParaRPr lang="en-US" sz="660" dirty="0"/>
          </a:p>
        </p:txBody>
      </p:sp>
      <p:sp>
        <p:nvSpPr>
          <p:cNvPr id="49" name="Text 46"/>
          <p:cNvSpPr/>
          <p:nvPr/>
        </p:nvSpPr>
        <p:spPr>
          <a:xfrm>
            <a:off x="6853535" y="1338486"/>
            <a:ext cx="1551079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RCA / Post-Incident Report</a:t>
            </a:r>
            <a:endParaRPr lang="en-US" sz="720" dirty="0"/>
          </a:p>
        </p:txBody>
      </p:sp>
      <p:sp>
        <p:nvSpPr>
          <p:cNvPr id="50" name="Text 47"/>
          <p:cNvSpPr/>
          <p:nvPr/>
        </p:nvSpPr>
        <p:spPr>
          <a:xfrm>
            <a:off x="6853535" y="1464171"/>
            <a:ext cx="2205030" cy="2251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0"/>
              </a:lnSpc>
              <a:buNone/>
            </a:pPr>
            <a:r>
              <a:rPr lang="en-US" sz="66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root cause, impact, remediation for affected</a:t>
            </a:r>
            <a:endParaRPr lang="en-US" sz="660" dirty="0"/>
          </a:p>
          <a:p>
            <a:pPr algn="l" indent="0" marL="0">
              <a:lnSpc>
                <a:spcPts val="910"/>
              </a:lnSpc>
              <a:buNone/>
            </a:pPr>
            <a:r>
              <a:rPr lang="en-US" sz="66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tenants</a:t>
            </a:r>
            <a:endParaRPr lang="en-US" sz="660" dirty="0"/>
          </a:p>
        </p:txBody>
      </p:sp>
      <p:sp>
        <p:nvSpPr>
          <p:cNvPr id="51" name="Text 48"/>
          <p:cNvSpPr/>
          <p:nvPr/>
        </p:nvSpPr>
        <p:spPr>
          <a:xfrm>
            <a:off x="6853535" y="1736378"/>
            <a:ext cx="1606801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Audit &amp; Compliance Reports</a:t>
            </a:r>
            <a:endParaRPr lang="en-US" sz="720" dirty="0"/>
          </a:p>
        </p:txBody>
      </p:sp>
      <p:sp>
        <p:nvSpPr>
          <p:cNvPr id="52" name="Text 49"/>
          <p:cNvSpPr/>
          <p:nvPr/>
        </p:nvSpPr>
        <p:spPr>
          <a:xfrm>
            <a:off x="6853535" y="1862063"/>
            <a:ext cx="2305444" cy="1095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6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annual attestations, regulator-facing evidence</a:t>
            </a:r>
            <a:endParaRPr lang="en-US" sz="660" dirty="0"/>
          </a:p>
        </p:txBody>
      </p:sp>
      <p:sp>
        <p:nvSpPr>
          <p:cNvPr id="53" name="Text 50"/>
          <p:cNvSpPr/>
          <p:nvPr/>
        </p:nvSpPr>
        <p:spPr>
          <a:xfrm>
            <a:off x="6853535" y="2018705"/>
            <a:ext cx="1347155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Exit &amp; Data Return Plan</a:t>
            </a:r>
            <a:endParaRPr lang="en-US" sz="720" dirty="0"/>
          </a:p>
        </p:txBody>
      </p:sp>
      <p:sp>
        <p:nvSpPr>
          <p:cNvPr id="54" name="Text 51"/>
          <p:cNvSpPr/>
          <p:nvPr/>
        </p:nvSpPr>
        <p:spPr>
          <a:xfrm>
            <a:off x="6853535" y="2144390"/>
            <a:ext cx="2280679" cy="2251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0"/>
              </a:lnSpc>
              <a:buNone/>
            </a:pPr>
            <a:r>
              <a:rPr lang="en-US" sz="66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export formats, deletion certificate, transition</a:t>
            </a:r>
            <a:endParaRPr lang="en-US" sz="660" dirty="0"/>
          </a:p>
          <a:p>
            <a:pPr algn="l" indent="0" marL="0">
              <a:lnSpc>
                <a:spcPts val="910"/>
              </a:lnSpc>
              <a:buNone/>
            </a:pPr>
            <a:r>
              <a:rPr lang="en-US" sz="66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assistance</a:t>
            </a:r>
            <a:endParaRPr lang="en-US" sz="660" dirty="0"/>
          </a:p>
        </p:txBody>
      </p:sp>
      <p:sp>
        <p:nvSpPr>
          <p:cNvPr id="55" name="Shape 52"/>
          <p:cNvSpPr/>
          <p:nvPr/>
        </p:nvSpPr>
        <p:spPr>
          <a:xfrm>
            <a:off x="319088" y="4631159"/>
            <a:ext cx="8505825" cy="347663"/>
          </a:xfrm>
          <a:prstGeom prst="roundRect">
            <a:avLst>
              <a:gd name="adj" fmla="val 15781"/>
            </a:avLst>
          </a:prstGeom>
          <a:solidFill>
            <a:srgbClr val="111F38"/>
          </a:solidFill>
          <a:ln w="4763">
            <a:solidFill>
              <a:srgbClr val="24406B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416123" y="4676849"/>
            <a:ext cx="10689945" cy="247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9"/>
              </a:lnSpc>
              <a:buNone/>
            </a:pPr>
            <a:r>
              <a:rPr lang="en-US" sz="730" b="1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Operating principle</a:t>
            </a:r>
            <a:pPr algn="l" indent="0" marL="0">
              <a:lnSpc>
                <a:spcPts val="1009"/>
              </a:lnSpc>
              <a:buNone/>
            </a:pPr>
            <a:r>
              <a:rPr lang="en-US" sz="73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contractual documents (MSA, DPA, SLA) are versioned and countersigned; in-product notices (AUP, privacy, AI transparency) are always-current and linked from the assistant</a:t>
            </a:r>
            <a:endParaRPr lang="en-US" sz="730" dirty="0"/>
          </a:p>
          <a:p>
            <a:pPr algn="l" indent="0" marL="0">
              <a:lnSpc>
                <a:spcPts val="1009"/>
              </a:lnSpc>
              <a:buNone/>
            </a:pPr>
            <a:r>
              <a:rPr lang="en-US" sz="73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itself; event-driven documents (incidents, RCAs, exit plans) have contractual clocks. One legal register tracks which version each tenant is on.</a:t>
            </a:r>
            <a:endParaRPr lang="en-US" sz="73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52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-484" y="-484"/>
            <a:ext cx="8596313" cy="52388"/>
          </a:xfrm>
          <a:prstGeom prst="rect">
            <a:avLst/>
          </a:prstGeom>
          <a:solidFill>
            <a:srgbClr val="2F81F7"/>
          </a:solidFill>
          <a:ln/>
        </p:spPr>
      </p:sp>
      <p:sp>
        <p:nvSpPr>
          <p:cNvPr id="5" name="Text 2"/>
          <p:cNvSpPr/>
          <p:nvPr/>
        </p:nvSpPr>
        <p:spPr>
          <a:xfrm>
            <a:off x="640035" y="420960"/>
            <a:ext cx="3529474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spc="238" kern="0" dirty="0">
                <a:solidFill>
                  <a:srgbClr val="7AC9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LAYER 5 · INSIGHT &amp; IMPACT</a:t>
            </a:r>
            <a:endParaRPr lang="en-US" sz="1080" dirty="0"/>
          </a:p>
        </p:txBody>
      </p:sp>
      <p:sp>
        <p:nvSpPr>
          <p:cNvPr id="6" name="Text 3"/>
          <p:cNvSpPr/>
          <p:nvPr/>
        </p:nvSpPr>
        <p:spPr>
          <a:xfrm>
            <a:off x="640035" y="706636"/>
            <a:ext cx="8582018" cy="4429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405"/>
              </a:spcBef>
              <a:buNone/>
            </a:pPr>
            <a:r>
              <a:rPr lang="en-US" sz="2740" b="1" spc="-68" kern="0" dirty="0">
                <a:solidFill>
                  <a:srgbClr val="E8F1F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Reporting, Dashboards &amp; the Road Ahead</a:t>
            </a:r>
            <a:endParaRPr lang="en-US" sz="2740" dirty="0"/>
          </a:p>
        </p:txBody>
      </p:sp>
      <p:sp>
        <p:nvSpPr>
          <p:cNvPr id="7" name="Text 4"/>
          <p:cNvSpPr/>
          <p:nvPr/>
        </p:nvSpPr>
        <p:spPr>
          <a:xfrm>
            <a:off x="640035" y="1342058"/>
            <a:ext cx="3516704" cy="933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760" b="1" spc="-144" kern="0" dirty="0">
                <a:solidFill>
                  <a:srgbClr val="2F81F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70–80%</a:t>
            </a:r>
            <a:endParaRPr lang="en-US" sz="5760" dirty="0"/>
          </a:p>
        </p:txBody>
      </p:sp>
      <p:sp>
        <p:nvSpPr>
          <p:cNvPr id="8" name="Text 5"/>
          <p:cNvSpPr/>
          <p:nvPr/>
        </p:nvSpPr>
        <p:spPr>
          <a:xfrm>
            <a:off x="640035" y="2244030"/>
            <a:ext cx="2725192" cy="624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28"/>
              </a:lnSpc>
              <a:buNone/>
            </a:pPr>
            <a:r>
              <a:rPr lang="en-US" sz="115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of routine HRO intents resolved</a:t>
            </a:r>
            <a:endParaRPr lang="en-US" sz="1150" dirty="0"/>
          </a:p>
          <a:p>
            <a:pPr algn="l" indent="0" marL="0">
              <a:lnSpc>
                <a:spcPts val="1728"/>
              </a:lnSpc>
              <a:buNone/>
            </a:pPr>
            <a:r>
              <a:rPr lang="en-US" sz="115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autonomously — minutes, not</a:t>
            </a:r>
            <a:endParaRPr lang="en-US" sz="1150" dirty="0"/>
          </a:p>
          <a:p>
            <a:pPr algn="l" indent="0" marL="0">
              <a:lnSpc>
                <a:spcPts val="1728"/>
              </a:lnSpc>
              <a:buNone/>
            </a:pPr>
            <a:r>
              <a:rPr lang="en-US" sz="1150" dirty="0">
                <a:solidFill>
                  <a:srgbClr val="8A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days (illustrative targets)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3666976" y="1522065"/>
            <a:ext cx="5287112" cy="2047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60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Microsoft Fabric + Power BI dashboards track resolution</a:t>
            </a:r>
            <a:endParaRPr lang="en-US" sz="1260" dirty="0"/>
          </a:p>
        </p:txBody>
      </p:sp>
      <p:sp>
        <p:nvSpPr>
          <p:cNvPr id="10" name="Text 7"/>
          <p:cNvSpPr/>
          <p:nvPr/>
        </p:nvSpPr>
        <p:spPr>
          <a:xfrm>
            <a:off x="3666976" y="1781994"/>
            <a:ext cx="5482330" cy="2047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60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rates, autonomy share, CSAT, cost per case and human-in-loop</a:t>
            </a:r>
            <a:endParaRPr lang="en-US" sz="1260" dirty="0"/>
          </a:p>
        </p:txBody>
      </p:sp>
      <p:sp>
        <p:nvSpPr>
          <p:cNvPr id="11" name="Text 8"/>
          <p:cNvSpPr/>
          <p:nvPr/>
        </p:nvSpPr>
        <p:spPr>
          <a:xfrm>
            <a:off x="4019996" y="2041922"/>
            <a:ext cx="1341060" cy="2047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60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interventions.</a:t>
            </a:r>
            <a:endParaRPr lang="en-US" sz="1260" dirty="0"/>
          </a:p>
        </p:txBody>
      </p:sp>
      <p:sp>
        <p:nvSpPr>
          <p:cNvPr id="12" name="Text 9"/>
          <p:cNvSpPr/>
          <p:nvPr/>
        </p:nvSpPr>
        <p:spPr>
          <a:xfrm>
            <a:off x="3666976" y="2430438"/>
            <a:ext cx="6269005" cy="464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47"/>
              </a:lnSpc>
              <a:buNone/>
            </a:pPr>
            <a:r>
              <a:rPr lang="en-US" sz="1260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MCP and A2A open standards mean new agents, tools and vendors</a:t>
            </a:r>
            <a:endParaRPr lang="en-US" sz="1260" dirty="0"/>
          </a:p>
          <a:p>
            <a:pPr algn="l" indent="0" marL="0">
              <a:lnSpc>
                <a:spcPts val="2047"/>
              </a:lnSpc>
              <a:buNone/>
            </a:pPr>
            <a:r>
              <a:rPr lang="en-US" sz="1260" dirty="0">
                <a:solidFill>
                  <a:srgbClr val="E8F1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plug in without re-architecture.</a:t>
            </a:r>
            <a:endParaRPr lang="en-US" sz="1260" dirty="0"/>
          </a:p>
        </p:txBody>
      </p:sp>
      <p:sp>
        <p:nvSpPr>
          <p:cNvPr id="13" name="Shape 10"/>
          <p:cNvSpPr/>
          <p:nvPr/>
        </p:nvSpPr>
        <p:spPr>
          <a:xfrm>
            <a:off x="640556" y="3954735"/>
            <a:ext cx="7862887" cy="776287"/>
          </a:xfrm>
          <a:prstGeom prst="roundRect">
            <a:avLst>
              <a:gd name="adj" fmla="val 9423"/>
            </a:avLst>
          </a:prstGeom>
          <a:solidFill>
            <a:srgbClr val="0E2440"/>
          </a:solidFill>
          <a:ln/>
        </p:spPr>
      </p:sp>
      <p:sp>
        <p:nvSpPr>
          <p:cNvPr id="14" name="Text 11"/>
          <p:cNvSpPr/>
          <p:nvPr/>
        </p:nvSpPr>
        <p:spPr>
          <a:xfrm>
            <a:off x="822871" y="4096569"/>
            <a:ext cx="9586838" cy="484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2"/>
              </a:lnSpc>
              <a:buNone/>
            </a:pPr>
            <a:r>
              <a:rPr lang="en-US" sz="1370" dirty="0">
                <a:solidFill>
                  <a:srgbClr val="7AC9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Start with 2–3 high-volume intents. Measure. Then scale the agent mesh across the full</a:t>
            </a:r>
            <a:endParaRPr lang="en-US" sz="1370" dirty="0"/>
          </a:p>
          <a:p>
            <a:pPr algn="l" indent="0" marL="0">
              <a:lnSpc>
                <a:spcPts val="2052"/>
              </a:lnSpc>
              <a:buNone/>
            </a:pPr>
            <a:r>
              <a:rPr lang="en-US" sz="1370" dirty="0">
                <a:solidFill>
                  <a:srgbClr val="7AC9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hire-to-retire cycle.</a:t>
            </a:r>
            <a:endParaRPr lang="en-US" sz="137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2026-08-12T12:28:48Z</dcterms:created>
  <dcterms:modified xsi:type="dcterms:W3CDTF">2026-08-12T12:28:48Z</dcterms:modified>
</cp:coreProperties>
</file>